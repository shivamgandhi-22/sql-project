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8"/>
  </p:notesMasterIdLst>
  <p:handoutMasterIdLst>
    <p:handoutMasterId r:id="rId49"/>
  </p:handoutMasterIdLst>
  <p:sldIdLst>
    <p:sldId id="256" r:id="rId2"/>
    <p:sldId id="300" r:id="rId3"/>
    <p:sldId id="272" r:id="rId4"/>
    <p:sldId id="271" r:id="rId5"/>
    <p:sldId id="273" r:id="rId6"/>
    <p:sldId id="274" r:id="rId7"/>
    <p:sldId id="282" r:id="rId8"/>
    <p:sldId id="283" r:id="rId9"/>
    <p:sldId id="284" r:id="rId10"/>
    <p:sldId id="285" r:id="rId11"/>
    <p:sldId id="286" r:id="rId12"/>
    <p:sldId id="287" r:id="rId13"/>
    <p:sldId id="294" r:id="rId14"/>
    <p:sldId id="288" r:id="rId15"/>
    <p:sldId id="289" r:id="rId16"/>
    <p:sldId id="290" r:id="rId17"/>
    <p:sldId id="291" r:id="rId18"/>
    <p:sldId id="292" r:id="rId19"/>
    <p:sldId id="293" r:id="rId20"/>
    <p:sldId id="295" r:id="rId21"/>
    <p:sldId id="296" r:id="rId22"/>
    <p:sldId id="297" r:id="rId23"/>
    <p:sldId id="298" r:id="rId24"/>
    <p:sldId id="299" r:id="rId25"/>
    <p:sldId id="301" r:id="rId26"/>
    <p:sldId id="302" r:id="rId27"/>
    <p:sldId id="275" r:id="rId28"/>
    <p:sldId id="261" r:id="rId29"/>
    <p:sldId id="262" r:id="rId30"/>
    <p:sldId id="263" r:id="rId31"/>
    <p:sldId id="276" r:id="rId32"/>
    <p:sldId id="277" r:id="rId33"/>
    <p:sldId id="278" r:id="rId34"/>
    <p:sldId id="279" r:id="rId35"/>
    <p:sldId id="280" r:id="rId36"/>
    <p:sldId id="281" r:id="rId37"/>
    <p:sldId id="264" r:id="rId38"/>
    <p:sldId id="265" r:id="rId39"/>
    <p:sldId id="266" r:id="rId40"/>
    <p:sldId id="267" r:id="rId41"/>
    <p:sldId id="268" r:id="rId42"/>
    <p:sldId id="269" r:id="rId43"/>
    <p:sldId id="270" r:id="rId44"/>
    <p:sldId id="259" r:id="rId45"/>
    <p:sldId id="260" r:id="rId46"/>
    <p:sldId id="303" r:id="rId47"/>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021693-4BBE-7DFC-2499-A9F61ED2DE1C}" v="67" dt="2024-07-08T15:30:34.805"/>
    <p1510:client id="{A0B26EBA-5C16-1D22-A9FD-AEE5FD9D0696}" v="38" dt="2024-07-09T10:58:04.821"/>
    <p1510:client id="{AF9D5A40-3C57-7510-D4BD-2097BD7C513E}" v="1586" dt="2024-07-10T14:48:54.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116" d="100"/>
          <a:sy n="116" d="100"/>
        </p:scale>
        <p:origin x="138" y="336"/>
      </p:cViewPr>
      <p:guideLst>
        <p:guide orient="horz" pos="2160"/>
        <p:guide pos="3840"/>
      </p:guideLst>
    </p:cSldViewPr>
  </p:slideViewPr>
  <p:notesTextViewPr>
    <p:cViewPr>
      <p:scale>
        <a:sx n="1" d="1"/>
        <a:sy n="1" d="1"/>
      </p:scale>
      <p:origin x="0" y="0"/>
    </p:cViewPr>
  </p:notesTextViewPr>
  <p:notesViewPr>
    <p:cSldViewPr snapToGrid="0">
      <p:cViewPr varScale="1">
        <p:scale>
          <a:sx n="96" d="100"/>
          <a:sy n="96" d="100"/>
        </p:scale>
        <p:origin x="355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a6040380adacc318/TASK1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a6040380adacc318/TASK1B.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a6040380adacc318/ipl1c.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a6040380adacc318/iplq2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a6040380adacc318/Q2B.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a6040380adacc318/q3all.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r>
              <a:rPr lang="en-US"/>
              <a:t>STRIKE RATE</a:t>
            </a:r>
          </a:p>
        </c:rich>
      </c:tx>
      <c:layout>
        <c:manualLayout>
          <c:xMode val="edge"/>
          <c:yMode val="edge"/>
          <c:x val="0.40678029704118301"/>
          <c:y val="2.7777777777777776E-2"/>
        </c:manualLayout>
      </c:layout>
      <c:overlay val="0"/>
      <c:spPr>
        <a:solidFill>
          <a:srgbClr val="E7E6E6"/>
        </a:solidFill>
        <a:ln>
          <a:noFill/>
        </a:ln>
        <a:effectLst/>
      </c:spPr>
      <c:txPr>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endParaRPr lang="en-US"/>
        </a:p>
      </c:txPr>
    </c:title>
    <c:autoTitleDeleted val="0"/>
    <c:plotArea>
      <c:layout/>
      <c:barChart>
        <c:barDir val="col"/>
        <c:grouping val="clustered"/>
        <c:varyColors val="0"/>
        <c:ser>
          <c:idx val="2"/>
          <c:order val="0"/>
          <c:tx>
            <c:strRef>
              <c:f>[TASK1A.xlsx]in!$D$1</c:f>
              <c:strCache>
                <c:ptCount val="1"/>
                <c:pt idx="0">
                  <c:v>strike_rate</c:v>
                </c:pt>
              </c:strCache>
            </c:strRef>
          </c:tx>
          <c:spPr>
            <a:solidFill>
              <a:srgbClr val="00B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FF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[TASK1A.xlsx]in!$A$2:$A$11</c:f>
              <c:strCache>
                <c:ptCount val="10"/>
                <c:pt idx="0">
                  <c:v>AD Russell</c:v>
                </c:pt>
                <c:pt idx="1">
                  <c:v>SP Narine</c:v>
                </c:pt>
                <c:pt idx="2">
                  <c:v>HH Pandya</c:v>
                </c:pt>
                <c:pt idx="3">
                  <c:v>V Sehwag</c:v>
                </c:pt>
                <c:pt idx="4">
                  <c:v>GJ Maxwell</c:v>
                </c:pt>
                <c:pt idx="5">
                  <c:v>RR Pant</c:v>
                </c:pt>
                <c:pt idx="6">
                  <c:v>AB de Villiers</c:v>
                </c:pt>
                <c:pt idx="7">
                  <c:v>CH Gayle</c:v>
                </c:pt>
                <c:pt idx="8">
                  <c:v>KA Pollard</c:v>
                </c:pt>
                <c:pt idx="9">
                  <c:v>JC Buttler</c:v>
                </c:pt>
              </c:strCache>
            </c:strRef>
          </c:cat>
          <c:val>
            <c:numRef>
              <c:f>[TASK1A.xlsx]in!$D$2:$D$11</c:f>
              <c:numCache>
                <c:formatCode>0.0</c:formatCode>
                <c:ptCount val="10"/>
                <c:pt idx="0">
                  <c:v>182.33173076923001</c:v>
                </c:pt>
                <c:pt idx="1">
                  <c:v>164.27255985267001</c:v>
                </c:pt>
                <c:pt idx="2">
                  <c:v>159.26800472254999</c:v>
                </c:pt>
                <c:pt idx="3">
                  <c:v>155.44159544159501</c:v>
                </c:pt>
                <c:pt idx="4">
                  <c:v>154.676258992805</c:v>
                </c:pt>
                <c:pt idx="5">
                  <c:v>151.97368421052599</c:v>
                </c:pt>
                <c:pt idx="6">
                  <c:v>151.91102756892201</c:v>
                </c:pt>
                <c:pt idx="7">
                  <c:v>150.110097514941</c:v>
                </c:pt>
                <c:pt idx="8">
                  <c:v>149.876053544868</c:v>
                </c:pt>
                <c:pt idx="9">
                  <c:v>149.56369982547901</c:v>
                </c:pt>
              </c:numCache>
            </c:numRef>
          </c:val>
          <c:extLst>
            <c:ext xmlns:c16="http://schemas.microsoft.com/office/drawing/2014/chart" uri="{C3380CC4-5D6E-409C-BE32-E72D297353CC}">
              <c16:uniqueId val="{00000000-CAFE-4049-A4FA-FD3DF7619027}"/>
            </c:ext>
          </c:extLst>
        </c:ser>
        <c:dLbls>
          <c:showLegendKey val="0"/>
          <c:showVal val="0"/>
          <c:showCatName val="0"/>
          <c:showSerName val="0"/>
          <c:showPercent val="0"/>
          <c:showBubbleSize val="0"/>
        </c:dLbls>
        <c:gapWidth val="25"/>
        <c:overlap val="-27"/>
        <c:axId val="830457352"/>
        <c:axId val="265117704"/>
      </c:barChart>
      <c:catAx>
        <c:axId val="830457352"/>
        <c:scaling>
          <c:orientation val="minMax"/>
        </c:scaling>
        <c:delete val="0"/>
        <c:axPos val="b"/>
        <c:title>
          <c:tx>
            <c:rich>
              <a:bodyPr rot="0" spcFirstLastPara="1" vertOverflow="ellipsis" vert="horz" wrap="square" anchor="ctr" anchorCtr="1"/>
              <a:lstStyle/>
              <a:p>
                <a:pPr>
                  <a:defRPr sz="1400" b="1" i="0" u="none" strike="noStrike" kern="1200" baseline="0">
                    <a:solidFill>
                      <a:srgbClr val="000000"/>
                    </a:solidFill>
                    <a:latin typeface="+mn-lt"/>
                    <a:ea typeface="+mn-ea"/>
                    <a:cs typeface="+mn-cs"/>
                  </a:defRPr>
                </a:pPr>
                <a:r>
                  <a:rPr lang="en-US"/>
                  <a:t>PLAYERS</a:t>
                </a:r>
              </a:p>
            </c:rich>
          </c:tx>
          <c:overlay val="0"/>
          <c:spPr>
            <a:solidFill>
              <a:srgbClr val="D0CECE"/>
            </a:solidFill>
            <a:ln>
              <a:noFill/>
            </a:ln>
            <a:effectLst/>
          </c:spPr>
          <c:txPr>
            <a:bodyPr rot="0" spcFirstLastPara="1" vertOverflow="ellipsis" vert="horz" wrap="square" anchor="ctr" anchorCtr="1"/>
            <a:lstStyle/>
            <a:p>
              <a:pPr>
                <a:defRPr sz="1400" b="1" i="0" u="none" strike="noStrike" kern="1200" baseline="0">
                  <a:solidFill>
                    <a:srgbClr val="0000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rgbClr val="000000"/>
                </a:solidFill>
                <a:latin typeface="+mn-lt"/>
                <a:ea typeface="+mn-ea"/>
                <a:cs typeface="+mn-cs"/>
              </a:defRPr>
            </a:pPr>
            <a:endParaRPr lang="en-US"/>
          </a:p>
        </c:txPr>
        <c:crossAx val="265117704"/>
        <c:crosses val="autoZero"/>
        <c:auto val="1"/>
        <c:lblAlgn val="ctr"/>
        <c:lblOffset val="100"/>
        <c:noMultiLvlLbl val="0"/>
      </c:catAx>
      <c:valAx>
        <c:axId val="265117704"/>
        <c:scaling>
          <c:orientation val="minMax"/>
          <c:max val="200"/>
          <c:min val="120"/>
        </c:scaling>
        <c:delete val="0"/>
        <c:axPos val="l"/>
        <c:majorGridlines>
          <c:spPr>
            <a:ln w="9525" cap="flat" cmpd="sng" algn="ctr">
              <a:solidFill>
                <a:srgbClr val="000000"/>
              </a:solidFill>
              <a:prstDash val="solid"/>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rgbClr val="000000"/>
                </a:solidFill>
                <a:latin typeface="+mn-lt"/>
                <a:ea typeface="+mn-ea"/>
                <a:cs typeface="+mn-cs"/>
              </a:defRPr>
            </a:pPr>
            <a:endParaRPr lang="en-US"/>
          </a:p>
        </c:txPr>
        <c:crossAx val="830457352"/>
        <c:crosses val="autoZero"/>
        <c:crossBetween val="between"/>
        <c:majorUnit val="10"/>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r>
              <a:rPr lang="en-US"/>
              <a:t>AVERAGE</a:t>
            </a:r>
          </a:p>
        </c:rich>
      </c:tx>
      <c:overlay val="0"/>
      <c:spPr>
        <a:solidFill>
          <a:srgbClr val="D0CECE"/>
        </a:solidFill>
        <a:ln>
          <a:noFill/>
        </a:ln>
        <a:effectLst/>
      </c:spPr>
      <c:txPr>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endParaRPr lang="en-US"/>
        </a:p>
      </c:txPr>
    </c:title>
    <c:autoTitleDeleted val="0"/>
    <c:plotArea>
      <c:layout/>
      <c:barChart>
        <c:barDir val="bar"/>
        <c:grouping val="clustered"/>
        <c:varyColors val="0"/>
        <c:ser>
          <c:idx val="1"/>
          <c:order val="0"/>
          <c:tx>
            <c:strRef>
              <c:f>[TASK1B.xlsx]in!$C$1</c:f>
              <c:strCache>
                <c:ptCount val="1"/>
                <c:pt idx="0">
                  <c:v>average</c:v>
                </c:pt>
              </c:strCache>
            </c:strRef>
          </c:tx>
          <c:spPr>
            <a:solidFill>
              <a:srgbClr val="7030A0"/>
            </a:solidFill>
            <a:ln>
              <a:noFill/>
            </a:ln>
            <a:effectLst/>
          </c:spPr>
          <c:invertIfNegative val="0"/>
          <c:dLbls>
            <c:spPr>
              <a:solidFill>
                <a:srgbClr val="FFC000"/>
              </a:solid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0D0D0D"/>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[TASK1B.xlsx]in!$A$2:$A$11</c:f>
              <c:strCache>
                <c:ptCount val="10"/>
                <c:pt idx="0">
                  <c:v>Iqbal Abdulla</c:v>
                </c:pt>
                <c:pt idx="1">
                  <c:v>KL Rahul</c:v>
                </c:pt>
                <c:pt idx="2">
                  <c:v>AB de Villiers</c:v>
                </c:pt>
                <c:pt idx="3">
                  <c:v>DA Warner</c:v>
                </c:pt>
                <c:pt idx="4">
                  <c:v>JP Duminy</c:v>
                </c:pt>
                <c:pt idx="5">
                  <c:v>CH Gayle</c:v>
                </c:pt>
                <c:pt idx="6">
                  <c:v>ML Hayden</c:v>
                </c:pt>
                <c:pt idx="7">
                  <c:v>LMP Simmons</c:v>
                </c:pt>
                <c:pt idx="8">
                  <c:v>KS Williamson</c:v>
                </c:pt>
                <c:pt idx="9">
                  <c:v>OA Shah</c:v>
                </c:pt>
              </c:strCache>
            </c:strRef>
          </c:cat>
          <c:val>
            <c:numRef>
              <c:f>[TASK1B.xlsx]in!$C$2:$C$11</c:f>
              <c:numCache>
                <c:formatCode>General</c:formatCode>
                <c:ptCount val="10"/>
                <c:pt idx="0">
                  <c:v>88</c:v>
                </c:pt>
                <c:pt idx="1">
                  <c:v>42.69</c:v>
                </c:pt>
                <c:pt idx="2">
                  <c:v>42.54</c:v>
                </c:pt>
                <c:pt idx="3">
                  <c:v>41.7</c:v>
                </c:pt>
                <c:pt idx="4">
                  <c:v>41.41</c:v>
                </c:pt>
                <c:pt idx="5">
                  <c:v>41.14</c:v>
                </c:pt>
                <c:pt idx="6">
                  <c:v>41</c:v>
                </c:pt>
                <c:pt idx="7">
                  <c:v>39.96</c:v>
                </c:pt>
                <c:pt idx="8">
                  <c:v>39.49</c:v>
                </c:pt>
                <c:pt idx="9">
                  <c:v>38.92</c:v>
                </c:pt>
              </c:numCache>
            </c:numRef>
          </c:val>
          <c:extLst>
            <c:ext xmlns:c16="http://schemas.microsoft.com/office/drawing/2014/chart" uri="{C3380CC4-5D6E-409C-BE32-E72D297353CC}">
              <c16:uniqueId val="{00000000-4DF3-44D6-974A-E82A911D99A1}"/>
            </c:ext>
          </c:extLst>
        </c:ser>
        <c:dLbls>
          <c:showLegendKey val="0"/>
          <c:showVal val="0"/>
          <c:showCatName val="0"/>
          <c:showSerName val="0"/>
          <c:showPercent val="0"/>
          <c:showBubbleSize val="0"/>
        </c:dLbls>
        <c:gapWidth val="30"/>
        <c:axId val="254785032"/>
        <c:axId val="254787080"/>
      </c:barChart>
      <c:catAx>
        <c:axId val="254785032"/>
        <c:scaling>
          <c:orientation val="minMax"/>
        </c:scaling>
        <c:delete val="0"/>
        <c:axPos val="l"/>
        <c:numFmt formatCode="General" sourceLinked="1"/>
        <c:majorTickMark val="none"/>
        <c:minorTickMark val="none"/>
        <c:tickLblPos val="nextTo"/>
        <c:spPr>
          <a:noFill/>
          <a:ln w="25400" cap="flat" cmpd="sng" algn="ctr">
            <a:noFill/>
            <a:round/>
          </a:ln>
          <a:effectLst/>
        </c:spPr>
        <c:txPr>
          <a:bodyPr rot="-60000000" spcFirstLastPara="1" vertOverflow="ellipsis" vert="horz" wrap="square" anchor="ctr" anchorCtr="1"/>
          <a:lstStyle/>
          <a:p>
            <a:pPr>
              <a:defRPr sz="1200" b="1" i="0" u="none" strike="noStrike" kern="1200" baseline="0">
                <a:solidFill>
                  <a:srgbClr val="000000"/>
                </a:solidFill>
                <a:latin typeface="+mn-lt"/>
                <a:ea typeface="+mn-ea"/>
                <a:cs typeface="+mn-cs"/>
              </a:defRPr>
            </a:pPr>
            <a:endParaRPr lang="en-US"/>
          </a:p>
        </c:txPr>
        <c:crossAx val="254787080"/>
        <c:crosses val="autoZero"/>
        <c:auto val="1"/>
        <c:lblAlgn val="ctr"/>
        <c:lblOffset val="100"/>
        <c:noMultiLvlLbl val="0"/>
      </c:catAx>
      <c:valAx>
        <c:axId val="254787080"/>
        <c:scaling>
          <c:orientation val="minMax"/>
          <c:max val="90"/>
          <c:min val="35"/>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rgbClr val="000000"/>
                </a:solidFill>
                <a:latin typeface="+mn-lt"/>
                <a:ea typeface="+mn-ea"/>
                <a:cs typeface="+mn-cs"/>
              </a:defRPr>
            </a:pPr>
            <a:endParaRPr lang="en-US"/>
          </a:p>
        </c:txPr>
        <c:crossAx val="254785032"/>
        <c:crosses val="autoZero"/>
        <c:crossBetween val="between"/>
        <c:majorUnit val="5"/>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r>
              <a:rPr lang="en-US"/>
              <a:t>HARD HITTERS</a:t>
            </a:r>
          </a:p>
        </c:rich>
      </c:tx>
      <c:overlay val="0"/>
      <c:spPr>
        <a:solidFill>
          <a:srgbClr val="D0CECE"/>
        </a:solidFill>
        <a:ln>
          <a:noFill/>
        </a:ln>
        <a:effectLst/>
      </c:spPr>
      <c:txPr>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endParaRPr lang="en-US"/>
        </a:p>
      </c:txPr>
    </c:title>
    <c:autoTitleDeleted val="0"/>
    <c:plotArea>
      <c:layout/>
      <c:barChart>
        <c:barDir val="col"/>
        <c:grouping val="clustered"/>
        <c:varyColors val="0"/>
        <c:ser>
          <c:idx val="0"/>
          <c:order val="0"/>
          <c:tx>
            <c:strRef>
              <c:f>[ipl1c.xlsx]in!$B$1</c:f>
              <c:strCache>
                <c:ptCount val="1"/>
                <c:pt idx="0">
                  <c:v>boundary_percentage</c:v>
                </c:pt>
              </c:strCache>
            </c:strRef>
          </c:tx>
          <c:spPr>
            <a:solidFill>
              <a:srgbClr val="70AD47"/>
            </a:solidFill>
            <a:ln>
              <a:noFill/>
            </a:ln>
            <a:effectLst/>
          </c:spPr>
          <c:invertIfNegative val="0"/>
          <c:dLbls>
            <c:spPr>
              <a:solidFill>
                <a:srgbClr val="FFFF00"/>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[ipl1c.xlsx]in!$A$2:$A$11</c:f>
              <c:strCache>
                <c:ptCount val="10"/>
                <c:pt idx="0">
                  <c:v>SP Narine</c:v>
                </c:pt>
                <c:pt idx="1">
                  <c:v>AD Russell</c:v>
                </c:pt>
                <c:pt idx="2">
                  <c:v>CH Gayle</c:v>
                </c:pt>
                <c:pt idx="3">
                  <c:v>CR Brathwaite</c:v>
                </c:pt>
                <c:pt idx="4">
                  <c:v>ST Jayasuriya</c:v>
                </c:pt>
                <c:pt idx="5">
                  <c:v>BCJ Cutting</c:v>
                </c:pt>
                <c:pt idx="6">
                  <c:v>MS Gony</c:v>
                </c:pt>
                <c:pt idx="7">
                  <c:v>AC Gilchrist</c:v>
                </c:pt>
                <c:pt idx="8">
                  <c:v>KK Cooper</c:v>
                </c:pt>
                <c:pt idx="9">
                  <c:v>MJ McClenaghan</c:v>
                </c:pt>
              </c:strCache>
            </c:strRef>
          </c:cat>
          <c:val>
            <c:numRef>
              <c:f>[ipl1c.xlsx]in!$B$2:$B$11</c:f>
              <c:numCache>
                <c:formatCode>General</c:formatCode>
                <c:ptCount val="10"/>
                <c:pt idx="0">
                  <c:v>81</c:v>
                </c:pt>
                <c:pt idx="1">
                  <c:v>78</c:v>
                </c:pt>
                <c:pt idx="2">
                  <c:v>76</c:v>
                </c:pt>
                <c:pt idx="3">
                  <c:v>75</c:v>
                </c:pt>
                <c:pt idx="4">
                  <c:v>74</c:v>
                </c:pt>
                <c:pt idx="5">
                  <c:v>73</c:v>
                </c:pt>
                <c:pt idx="6">
                  <c:v>72</c:v>
                </c:pt>
                <c:pt idx="7">
                  <c:v>72</c:v>
                </c:pt>
                <c:pt idx="8">
                  <c:v>72</c:v>
                </c:pt>
                <c:pt idx="9">
                  <c:v>72</c:v>
                </c:pt>
              </c:numCache>
            </c:numRef>
          </c:val>
          <c:extLst>
            <c:ext xmlns:c16="http://schemas.microsoft.com/office/drawing/2014/chart" uri="{C3380CC4-5D6E-409C-BE32-E72D297353CC}">
              <c16:uniqueId val="{00000000-8A67-4E9F-AC62-903041F5EFFE}"/>
            </c:ext>
          </c:extLst>
        </c:ser>
        <c:dLbls>
          <c:showLegendKey val="0"/>
          <c:showVal val="0"/>
          <c:showCatName val="0"/>
          <c:showSerName val="0"/>
          <c:showPercent val="0"/>
          <c:showBubbleSize val="0"/>
        </c:dLbls>
        <c:gapWidth val="83"/>
        <c:overlap val="-27"/>
        <c:axId val="335597064"/>
        <c:axId val="342481416"/>
      </c:barChart>
      <c:catAx>
        <c:axId val="3355970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rgbClr val="000000"/>
                </a:solidFill>
                <a:latin typeface="+mn-lt"/>
                <a:ea typeface="+mn-ea"/>
                <a:cs typeface="+mn-cs"/>
              </a:defRPr>
            </a:pPr>
            <a:endParaRPr lang="en-US"/>
          </a:p>
        </c:txPr>
        <c:crossAx val="342481416"/>
        <c:crosses val="autoZero"/>
        <c:auto val="1"/>
        <c:lblAlgn val="ctr"/>
        <c:lblOffset val="100"/>
        <c:noMultiLvlLbl val="0"/>
      </c:catAx>
      <c:valAx>
        <c:axId val="342481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rgbClr val="000000"/>
                </a:solidFill>
                <a:latin typeface="+mn-lt"/>
                <a:ea typeface="+mn-ea"/>
                <a:cs typeface="+mn-cs"/>
              </a:defRPr>
            </a:pPr>
            <a:endParaRPr lang="en-US"/>
          </a:p>
        </c:txPr>
        <c:crossAx val="3355970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r>
              <a:rPr lang="en-US"/>
              <a:t>ECONOMY</a:t>
            </a:r>
          </a:p>
        </c:rich>
      </c:tx>
      <c:overlay val="0"/>
      <c:spPr>
        <a:solidFill>
          <a:srgbClr val="D0CECE"/>
        </a:solidFill>
        <a:ln>
          <a:noFill/>
        </a:ln>
        <a:effectLst/>
      </c:spPr>
      <c:txPr>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endParaRPr lang="en-US"/>
        </a:p>
      </c:txPr>
    </c:title>
    <c:autoTitleDeleted val="0"/>
    <c:plotArea>
      <c:layout/>
      <c:barChart>
        <c:barDir val="col"/>
        <c:grouping val="clustered"/>
        <c:varyColors val="0"/>
        <c:ser>
          <c:idx val="0"/>
          <c:order val="0"/>
          <c:tx>
            <c:strRef>
              <c:f>[iplq2a.xlsx]in!$B$1</c:f>
              <c:strCache>
                <c:ptCount val="1"/>
                <c:pt idx="0">
                  <c:v>economy_rate</c:v>
                </c:pt>
              </c:strCache>
            </c:strRef>
          </c:tx>
          <c:spPr>
            <a:solidFill>
              <a:srgbClr val="BF8F00"/>
            </a:solidFill>
            <a:ln>
              <a:noFill/>
            </a:ln>
            <a:effectLst/>
          </c:spPr>
          <c:invertIfNegative val="0"/>
          <c:dLbls>
            <c:spPr>
              <a:solidFill>
                <a:srgbClr val="4472C4"/>
              </a:solid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[iplq2a.xlsx]in!$A$2:$A$11</c:f>
              <c:strCache>
                <c:ptCount val="10"/>
                <c:pt idx="0">
                  <c:v>Rashid Khan</c:v>
                </c:pt>
                <c:pt idx="1">
                  <c:v>A Kumble</c:v>
                </c:pt>
                <c:pt idx="2">
                  <c:v>M Muralitharan</c:v>
                </c:pt>
                <c:pt idx="3">
                  <c:v>DW Steyn</c:v>
                </c:pt>
                <c:pt idx="4">
                  <c:v>R Ashwin</c:v>
                </c:pt>
                <c:pt idx="5">
                  <c:v>SP Narine</c:v>
                </c:pt>
                <c:pt idx="6">
                  <c:v>DL Vettori</c:v>
                </c:pt>
                <c:pt idx="7">
                  <c:v>Washington Sundar</c:v>
                </c:pt>
                <c:pt idx="8">
                  <c:v>J Botha</c:v>
                </c:pt>
                <c:pt idx="9">
                  <c:v>R Tewatia</c:v>
                </c:pt>
              </c:strCache>
            </c:strRef>
          </c:cat>
          <c:val>
            <c:numRef>
              <c:f>[iplq2a.xlsx]in!$B$2:$B$11</c:f>
              <c:numCache>
                <c:formatCode>General</c:formatCode>
                <c:ptCount val="10"/>
                <c:pt idx="0">
                  <c:v>6.33</c:v>
                </c:pt>
                <c:pt idx="1">
                  <c:v>6.65</c:v>
                </c:pt>
                <c:pt idx="2">
                  <c:v>6.68</c:v>
                </c:pt>
                <c:pt idx="3">
                  <c:v>6.77</c:v>
                </c:pt>
                <c:pt idx="4">
                  <c:v>6.77</c:v>
                </c:pt>
                <c:pt idx="5">
                  <c:v>6.82</c:v>
                </c:pt>
                <c:pt idx="6">
                  <c:v>6.83</c:v>
                </c:pt>
                <c:pt idx="7">
                  <c:v>6.89</c:v>
                </c:pt>
                <c:pt idx="8">
                  <c:v>6.92</c:v>
                </c:pt>
                <c:pt idx="9">
                  <c:v>6.99</c:v>
                </c:pt>
              </c:numCache>
            </c:numRef>
          </c:val>
          <c:extLst>
            <c:ext xmlns:c16="http://schemas.microsoft.com/office/drawing/2014/chart" uri="{C3380CC4-5D6E-409C-BE32-E72D297353CC}">
              <c16:uniqueId val="{00000000-28D8-4594-A778-7A3E93CC2216}"/>
            </c:ext>
          </c:extLst>
        </c:ser>
        <c:dLbls>
          <c:showLegendKey val="0"/>
          <c:showVal val="0"/>
          <c:showCatName val="0"/>
          <c:showSerName val="0"/>
          <c:showPercent val="0"/>
          <c:showBubbleSize val="0"/>
        </c:dLbls>
        <c:gapWidth val="47"/>
        <c:overlap val="-27"/>
        <c:axId val="441503239"/>
        <c:axId val="1420872200"/>
      </c:barChart>
      <c:catAx>
        <c:axId val="4415032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rgbClr val="000000"/>
                </a:solidFill>
                <a:latin typeface="+mn-lt"/>
                <a:ea typeface="+mn-ea"/>
                <a:cs typeface="+mn-cs"/>
              </a:defRPr>
            </a:pPr>
            <a:endParaRPr lang="en-US"/>
          </a:p>
        </c:txPr>
        <c:crossAx val="1420872200"/>
        <c:crosses val="autoZero"/>
        <c:auto val="1"/>
        <c:lblAlgn val="ctr"/>
        <c:lblOffset val="100"/>
        <c:noMultiLvlLbl val="0"/>
      </c:catAx>
      <c:valAx>
        <c:axId val="1420872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rgbClr val="000000"/>
                </a:solidFill>
                <a:latin typeface="+mn-lt"/>
                <a:ea typeface="+mn-ea"/>
                <a:cs typeface="+mn-cs"/>
              </a:defRPr>
            </a:pPr>
            <a:endParaRPr lang="en-US"/>
          </a:p>
        </c:txPr>
        <c:crossAx val="44150323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r>
              <a:rPr lang="en-US"/>
              <a:t>STRIKE RATE</a:t>
            </a:r>
          </a:p>
        </c:rich>
      </c:tx>
      <c:overlay val="0"/>
      <c:spPr>
        <a:solidFill>
          <a:srgbClr val="E7E6E6"/>
        </a:solidFill>
        <a:ln>
          <a:noFill/>
        </a:ln>
        <a:effectLst/>
      </c:spPr>
      <c:txPr>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endParaRPr lang="en-US"/>
        </a:p>
      </c:txPr>
    </c:title>
    <c:autoTitleDeleted val="0"/>
    <c:plotArea>
      <c:layout/>
      <c:barChart>
        <c:barDir val="col"/>
        <c:grouping val="clustered"/>
        <c:varyColors val="0"/>
        <c:ser>
          <c:idx val="0"/>
          <c:order val="0"/>
          <c:tx>
            <c:strRef>
              <c:f>[Q2B.xlsx]in!$B$1</c:f>
              <c:strCache>
                <c:ptCount val="1"/>
                <c:pt idx="0">
                  <c:v>strike_rate</c:v>
                </c:pt>
              </c:strCache>
            </c:strRef>
          </c:tx>
          <c:spPr>
            <a:solidFill>
              <a:schemeClr val="accent1"/>
            </a:solidFill>
            <a:ln>
              <a:noFill/>
            </a:ln>
            <a:effectLst/>
          </c:spPr>
          <c:invertIfNegative val="0"/>
          <c:dLbls>
            <c:spPr>
              <a:solidFill>
                <a:srgbClr val="92D050"/>
              </a:solid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[Q2B.xlsx]in!$A$2:$A$11</c:f>
              <c:strCache>
                <c:ptCount val="10"/>
                <c:pt idx="0">
                  <c:v>Z Khan</c:v>
                </c:pt>
                <c:pt idx="1">
                  <c:v>Yuvraj Singh</c:v>
                </c:pt>
                <c:pt idx="2">
                  <c:v>YS Chahal</c:v>
                </c:pt>
                <c:pt idx="3">
                  <c:v>YK Pathan</c:v>
                </c:pt>
                <c:pt idx="4">
                  <c:v>WD Parnell</c:v>
                </c:pt>
                <c:pt idx="5">
                  <c:v>Washington Sundar</c:v>
                </c:pt>
                <c:pt idx="6">
                  <c:v>VR Aaron</c:v>
                </c:pt>
                <c:pt idx="7">
                  <c:v>UT Yadav</c:v>
                </c:pt>
                <c:pt idx="8">
                  <c:v>TG Southee</c:v>
                </c:pt>
                <c:pt idx="9">
                  <c:v>TA Boult</c:v>
                </c:pt>
              </c:strCache>
            </c:strRef>
          </c:cat>
          <c:val>
            <c:numRef>
              <c:f>[Q2B.xlsx]in!$B$2:$B$11</c:f>
              <c:numCache>
                <c:formatCode>General</c:formatCode>
                <c:ptCount val="10"/>
                <c:pt idx="0">
                  <c:v>22.31</c:v>
                </c:pt>
                <c:pt idx="1">
                  <c:v>24.5</c:v>
                </c:pt>
                <c:pt idx="2">
                  <c:v>18.079999999999998</c:v>
                </c:pt>
                <c:pt idx="3">
                  <c:v>28.19</c:v>
                </c:pt>
                <c:pt idx="4">
                  <c:v>22.26</c:v>
                </c:pt>
                <c:pt idx="5">
                  <c:v>27.5</c:v>
                </c:pt>
                <c:pt idx="6">
                  <c:v>24.57</c:v>
                </c:pt>
                <c:pt idx="7">
                  <c:v>22.2</c:v>
                </c:pt>
                <c:pt idx="8">
                  <c:v>33.29</c:v>
                </c:pt>
                <c:pt idx="9">
                  <c:v>18.29</c:v>
                </c:pt>
              </c:numCache>
            </c:numRef>
          </c:val>
          <c:extLst>
            <c:ext xmlns:c16="http://schemas.microsoft.com/office/drawing/2014/chart" uri="{C3380CC4-5D6E-409C-BE32-E72D297353CC}">
              <c16:uniqueId val="{00000000-7279-47F6-B7A3-0B2B338B3862}"/>
            </c:ext>
          </c:extLst>
        </c:ser>
        <c:dLbls>
          <c:showLegendKey val="0"/>
          <c:showVal val="0"/>
          <c:showCatName val="0"/>
          <c:showSerName val="0"/>
          <c:showPercent val="0"/>
          <c:showBubbleSize val="0"/>
        </c:dLbls>
        <c:gapWidth val="28"/>
        <c:overlap val="-27"/>
        <c:axId val="768407048"/>
        <c:axId val="768409096"/>
      </c:barChart>
      <c:catAx>
        <c:axId val="768407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rgbClr val="000000"/>
                </a:solidFill>
                <a:latin typeface="+mn-lt"/>
                <a:ea typeface="+mn-ea"/>
                <a:cs typeface="+mn-cs"/>
              </a:defRPr>
            </a:pPr>
            <a:endParaRPr lang="en-US"/>
          </a:p>
        </c:txPr>
        <c:crossAx val="768409096"/>
        <c:crosses val="autoZero"/>
        <c:auto val="1"/>
        <c:lblAlgn val="ctr"/>
        <c:lblOffset val="100"/>
        <c:noMultiLvlLbl val="0"/>
      </c:catAx>
      <c:valAx>
        <c:axId val="7684090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rgbClr val="000000"/>
                </a:solidFill>
                <a:latin typeface="+mn-lt"/>
                <a:ea typeface="+mn-ea"/>
                <a:cs typeface="+mn-cs"/>
              </a:defRPr>
            </a:pPr>
            <a:endParaRPr lang="en-US"/>
          </a:p>
        </c:txPr>
        <c:crossAx val="7684070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r>
              <a:rPr lang="en-US"/>
              <a:t>ALL ROUNDER STATS</a:t>
            </a:r>
          </a:p>
        </c:rich>
      </c:tx>
      <c:layout>
        <c:manualLayout>
          <c:xMode val="edge"/>
          <c:yMode val="edge"/>
          <c:x val="0.42698974046929256"/>
          <c:y val="3.0458860202796371E-2"/>
        </c:manualLayout>
      </c:layout>
      <c:overlay val="0"/>
      <c:spPr>
        <a:solidFill>
          <a:srgbClr val="E7E6E6"/>
        </a:solidFill>
        <a:ln>
          <a:noFill/>
        </a:ln>
        <a:effectLst/>
      </c:spPr>
      <c:txPr>
        <a:bodyPr rot="0" spcFirstLastPara="1" vertOverflow="ellipsis" vert="horz" wrap="square" anchor="ctr" anchorCtr="1"/>
        <a:lstStyle/>
        <a:p>
          <a:pPr>
            <a:defRPr sz="1400" b="1" i="0" u="none" strike="noStrike" kern="1200" spc="0" baseline="0">
              <a:solidFill>
                <a:srgbClr val="000000"/>
              </a:solidFill>
              <a:latin typeface="+mn-lt"/>
              <a:ea typeface="+mn-ea"/>
              <a:cs typeface="+mn-cs"/>
            </a:defRPr>
          </a:pPr>
          <a:endParaRPr lang="en-US"/>
        </a:p>
      </c:txPr>
    </c:title>
    <c:autoTitleDeleted val="0"/>
    <c:plotArea>
      <c:layout/>
      <c:barChart>
        <c:barDir val="col"/>
        <c:grouping val="clustered"/>
        <c:varyColors val="0"/>
        <c:ser>
          <c:idx val="0"/>
          <c:order val="0"/>
          <c:tx>
            <c:strRef>
              <c:f>[q3all.xlsx]in!$B$1</c:f>
              <c:strCache>
                <c:ptCount val="1"/>
                <c:pt idx="0">
                  <c:v>batting_strike_rate</c:v>
                </c:pt>
              </c:strCache>
            </c:strRef>
          </c:tx>
          <c:spPr>
            <a:solidFill>
              <a:srgbClr val="161616"/>
            </a:solidFill>
            <a:ln>
              <a:noFill/>
            </a:ln>
            <a:effectLst/>
          </c:spPr>
          <c:invertIfNegative val="0"/>
          <c:dLbls>
            <c:spPr>
              <a:solidFill>
                <a:srgbClr val="9BC2E6"/>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[q3all.xlsx]in!$A$2:$A$11</c:f>
              <c:strCache>
                <c:ptCount val="10"/>
                <c:pt idx="0">
                  <c:v>AD Russell</c:v>
                </c:pt>
                <c:pt idx="1">
                  <c:v>SP Narine</c:v>
                </c:pt>
                <c:pt idx="2">
                  <c:v>HH Pandya</c:v>
                </c:pt>
                <c:pt idx="3">
                  <c:v>GJ Maxwell</c:v>
                </c:pt>
                <c:pt idx="4">
                  <c:v>CH Gayle</c:v>
                </c:pt>
                <c:pt idx="5">
                  <c:v>KA Pollard</c:v>
                </c:pt>
                <c:pt idx="6">
                  <c:v>ST Jayasuriya</c:v>
                </c:pt>
                <c:pt idx="7">
                  <c:v>YK Pathan</c:v>
                </c:pt>
                <c:pt idx="8">
                  <c:v>KH Pandya</c:v>
                </c:pt>
                <c:pt idx="9">
                  <c:v>JA Morkel</c:v>
                </c:pt>
              </c:strCache>
            </c:strRef>
          </c:cat>
          <c:val>
            <c:numRef>
              <c:f>[q3all.xlsx]in!$B$2:$B$11</c:f>
              <c:numCache>
                <c:formatCode>General</c:formatCode>
                <c:ptCount val="10"/>
                <c:pt idx="0">
                  <c:v>182.33</c:v>
                </c:pt>
                <c:pt idx="1">
                  <c:v>164.27</c:v>
                </c:pt>
                <c:pt idx="2">
                  <c:v>159.27000000000001</c:v>
                </c:pt>
                <c:pt idx="3">
                  <c:v>154.68</c:v>
                </c:pt>
                <c:pt idx="4">
                  <c:v>150.11000000000001</c:v>
                </c:pt>
                <c:pt idx="5">
                  <c:v>149.88</c:v>
                </c:pt>
                <c:pt idx="6">
                  <c:v>144.36000000000001</c:v>
                </c:pt>
                <c:pt idx="7">
                  <c:v>142.97</c:v>
                </c:pt>
                <c:pt idx="8">
                  <c:v>142.44999999999999</c:v>
                </c:pt>
                <c:pt idx="9">
                  <c:v>141.97999999999999</c:v>
                </c:pt>
              </c:numCache>
            </c:numRef>
          </c:val>
          <c:extLst>
            <c:ext xmlns:c16="http://schemas.microsoft.com/office/drawing/2014/chart" uri="{C3380CC4-5D6E-409C-BE32-E72D297353CC}">
              <c16:uniqueId val="{00000000-681A-4147-A042-5D6D18E6BF86}"/>
            </c:ext>
          </c:extLst>
        </c:ser>
        <c:ser>
          <c:idx val="1"/>
          <c:order val="1"/>
          <c:tx>
            <c:strRef>
              <c:f>[q3all.xlsx]in!$C$1</c:f>
              <c:strCache>
                <c:ptCount val="1"/>
                <c:pt idx="0">
                  <c:v>bowling_strike_rate</c:v>
                </c:pt>
              </c:strCache>
            </c:strRef>
          </c:tx>
          <c:spPr>
            <a:solidFill>
              <a:srgbClr val="FFC000"/>
            </a:solidFill>
            <a:ln>
              <a:noFill/>
            </a:ln>
            <a:effectLst/>
          </c:spPr>
          <c:invertIfNegative val="0"/>
          <c:dLbls>
            <c:spPr>
              <a:solidFill>
                <a:srgbClr val="92D050"/>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[q3all.xlsx]in!$A$2:$A$11</c:f>
              <c:strCache>
                <c:ptCount val="10"/>
                <c:pt idx="0">
                  <c:v>AD Russell</c:v>
                </c:pt>
                <c:pt idx="1">
                  <c:v>SP Narine</c:v>
                </c:pt>
                <c:pt idx="2">
                  <c:v>HH Pandya</c:v>
                </c:pt>
                <c:pt idx="3">
                  <c:v>GJ Maxwell</c:v>
                </c:pt>
                <c:pt idx="4">
                  <c:v>CH Gayle</c:v>
                </c:pt>
                <c:pt idx="5">
                  <c:v>KA Pollard</c:v>
                </c:pt>
                <c:pt idx="6">
                  <c:v>ST Jayasuriya</c:v>
                </c:pt>
                <c:pt idx="7">
                  <c:v>YK Pathan</c:v>
                </c:pt>
                <c:pt idx="8">
                  <c:v>KH Pandya</c:v>
                </c:pt>
                <c:pt idx="9">
                  <c:v>JA Morkel</c:v>
                </c:pt>
              </c:strCache>
            </c:strRef>
          </c:cat>
          <c:val>
            <c:numRef>
              <c:f>[q3all.xlsx]in!$C$2:$C$11</c:f>
              <c:numCache>
                <c:formatCode>General</c:formatCode>
                <c:ptCount val="10"/>
                <c:pt idx="0">
                  <c:v>19.440000000000001</c:v>
                </c:pt>
                <c:pt idx="1">
                  <c:v>22.24</c:v>
                </c:pt>
                <c:pt idx="2">
                  <c:v>21.76</c:v>
                </c:pt>
                <c:pt idx="3">
                  <c:v>29.37</c:v>
                </c:pt>
                <c:pt idx="4">
                  <c:v>32.44</c:v>
                </c:pt>
                <c:pt idx="5">
                  <c:v>23.57</c:v>
                </c:pt>
                <c:pt idx="6">
                  <c:v>23.15</c:v>
                </c:pt>
                <c:pt idx="7">
                  <c:v>28.19</c:v>
                </c:pt>
                <c:pt idx="8">
                  <c:v>27.89</c:v>
                </c:pt>
                <c:pt idx="9">
                  <c:v>21.26</c:v>
                </c:pt>
              </c:numCache>
            </c:numRef>
          </c:val>
          <c:extLst>
            <c:ext xmlns:c16="http://schemas.microsoft.com/office/drawing/2014/chart" uri="{C3380CC4-5D6E-409C-BE32-E72D297353CC}">
              <c16:uniqueId val="{00000001-681A-4147-A042-5D6D18E6BF86}"/>
            </c:ext>
          </c:extLst>
        </c:ser>
        <c:dLbls>
          <c:showLegendKey val="0"/>
          <c:showVal val="0"/>
          <c:showCatName val="0"/>
          <c:showSerName val="0"/>
          <c:showPercent val="0"/>
          <c:showBubbleSize val="0"/>
        </c:dLbls>
        <c:gapWidth val="33"/>
        <c:overlap val="-27"/>
        <c:axId val="1011994120"/>
        <c:axId val="1338493448"/>
      </c:barChart>
      <c:catAx>
        <c:axId val="1011994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rgbClr val="000000"/>
                </a:solidFill>
                <a:latin typeface="+mn-lt"/>
                <a:ea typeface="+mn-ea"/>
                <a:cs typeface="+mn-cs"/>
              </a:defRPr>
            </a:pPr>
            <a:endParaRPr lang="en-US"/>
          </a:p>
        </c:txPr>
        <c:crossAx val="1338493448"/>
        <c:crosses val="autoZero"/>
        <c:auto val="1"/>
        <c:lblAlgn val="ctr"/>
        <c:lblOffset val="100"/>
        <c:noMultiLvlLbl val="0"/>
      </c:catAx>
      <c:valAx>
        <c:axId val="1338493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rgbClr val="000000"/>
                </a:solidFill>
                <a:latin typeface="+mn-lt"/>
                <a:ea typeface="+mn-ea"/>
                <a:cs typeface="+mn-cs"/>
              </a:defRPr>
            </a:pPr>
            <a:endParaRPr lang="en-US"/>
          </a:p>
        </c:txPr>
        <c:crossAx val="1011994120"/>
        <c:crosses val="autoZero"/>
        <c:crossBetween val="between"/>
      </c:valAx>
      <c:spPr>
        <a:noFill/>
        <a:ln>
          <a:noFill/>
        </a:ln>
        <a:effectLst/>
      </c:spPr>
    </c:plotArea>
    <c:legend>
      <c:legendPos val="b"/>
      <c:overlay val="0"/>
      <c:spPr>
        <a:solidFill>
          <a:srgbClr val="E7E6E6"/>
        </a:solidFill>
        <a:ln>
          <a:noFill/>
        </a:ln>
        <a:effectLst/>
      </c:spPr>
      <c:txPr>
        <a:bodyPr rot="0" spcFirstLastPara="1" vertOverflow="ellipsis" vert="horz" wrap="square" anchor="ctr" anchorCtr="1"/>
        <a:lstStyle/>
        <a:p>
          <a:pPr>
            <a:defRPr sz="1100" b="1" i="0" u="none" strike="noStrike" kern="1200" baseline="0">
              <a:solidFill>
                <a:srgbClr val="000000"/>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C06296-350F-41A3-B635-86930044B5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525D47FE-EAAB-4252-B888-893E08A95D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864392-7AE3-4B42-B385-CB31D23C310F}" type="datetime1">
              <a:rPr lang="en-GB" smtClean="0"/>
              <a:t>10/07/2024</a:t>
            </a:fld>
            <a:endParaRPr lang="en-GB" dirty="0"/>
          </a:p>
        </p:txBody>
      </p:sp>
      <p:sp>
        <p:nvSpPr>
          <p:cNvPr id="4" name="Footer Placeholder 3">
            <a:extLst>
              <a:ext uri="{FF2B5EF4-FFF2-40B4-BE49-F238E27FC236}">
                <a16:creationId xmlns:a16="http://schemas.microsoft.com/office/drawing/2014/main" id="{8D3FE9A3-70A3-47BC-A785-61BC82F5B5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29CF08E1-ADDE-4D52-8B64-0B8271C44FC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2F181D9-CE39-4F33-A733-A2CFDEE4CA7C}" type="slidenum">
              <a:rPr lang="en-GB" smtClean="0"/>
              <a:t>‹#›</a:t>
            </a:fld>
            <a:endParaRPr lang="en-GB"/>
          </a:p>
        </p:txBody>
      </p:sp>
    </p:spTree>
    <p:extLst>
      <p:ext uri="{BB962C8B-B14F-4D97-AF65-F5344CB8AC3E}">
        <p14:creationId xmlns:p14="http://schemas.microsoft.com/office/powerpoint/2010/main" val="9081345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1612B8-74A5-4CD7-B01D-1A870619231F}" type="datetime1">
              <a:rPr lang="en-GB" smtClean="0"/>
              <a:pPr/>
              <a:t>10/07/2024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24C352-C60C-421E-857A-17D2004F1C62}" type="slidenum">
              <a:rPr lang="en-GB" noProof="0" smtClean="0"/>
              <a:t>‹#›</a:t>
            </a:fld>
            <a:endParaRPr lang="en-GB" noProof="0"/>
          </a:p>
        </p:txBody>
      </p:sp>
    </p:spTree>
    <p:extLst>
      <p:ext uri="{BB962C8B-B14F-4D97-AF65-F5344CB8AC3E}">
        <p14:creationId xmlns:p14="http://schemas.microsoft.com/office/powerpoint/2010/main" val="235398725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724C352-C60C-421E-857A-17D2004F1C62}" type="slidenum">
              <a:rPr lang="en-GB" smtClean="0"/>
              <a:t>1</a:t>
            </a:fld>
            <a:endParaRPr lang="en-GB"/>
          </a:p>
        </p:txBody>
      </p:sp>
    </p:spTree>
    <p:extLst>
      <p:ext uri="{BB962C8B-B14F-4D97-AF65-F5344CB8AC3E}">
        <p14:creationId xmlns:p14="http://schemas.microsoft.com/office/powerpoint/2010/main" val="17389434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rtlCol="0" anchor="b">
            <a:noAutofit/>
          </a:bodyPr>
          <a:lstStyle>
            <a:lvl1pPr algn="r">
              <a:defRPr sz="5400"/>
            </a:lvl1pPr>
          </a:lstStyle>
          <a:p>
            <a:pPr rtl="0"/>
            <a:r>
              <a:rPr lang="en-GB" noProof="0"/>
              <a:t>Click to edit Master title style</a:t>
            </a:r>
          </a:p>
        </p:txBody>
      </p:sp>
      <p:sp>
        <p:nvSpPr>
          <p:cNvPr id="3" name="Subtitle 2"/>
          <p:cNvSpPr>
            <a:spLocks noGrp="1"/>
          </p:cNvSpPr>
          <p:nvPr>
            <p:ph type="subTitle" idx="1"/>
          </p:nvPr>
        </p:nvSpPr>
        <p:spPr>
          <a:xfrm>
            <a:off x="680322" y="4394039"/>
            <a:ext cx="8144134" cy="1117687"/>
          </a:xfrm>
        </p:spPr>
        <p:txBody>
          <a:bodyPr rtlCol="0">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
        <p:nvSpPr>
          <p:cNvPr id="4" name="Date Placeholder 3"/>
          <p:cNvSpPr>
            <a:spLocks noGrp="1"/>
          </p:cNvSpPr>
          <p:nvPr>
            <p:ph type="dt" sz="half" idx="10"/>
          </p:nvPr>
        </p:nvSpPr>
        <p:spPr/>
        <p:txBody>
          <a:bodyPr rtlCol="0"/>
          <a:lstStyle/>
          <a:p>
            <a:pPr rtl="0"/>
            <a:fld id="{0BC49D1B-5AAC-4DC3-8B4E-267FA90C717D}" type="datetime1">
              <a:rPr lang="en-GB" noProof="0" smtClean="0"/>
              <a:t>10/07/2024</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a:xfrm>
            <a:off x="9255346" y="2750337"/>
            <a:ext cx="1171888" cy="1356442"/>
          </a:xfrm>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rtlCol="0"/>
          <a:lstStyle/>
          <a:p>
            <a:pPr rtl="0"/>
            <a:r>
              <a:rPr lang="en-GB" noProof="0"/>
              <a:t>Click to edit Master title style</a:t>
            </a:r>
          </a:p>
        </p:txBody>
      </p:sp>
      <p:sp>
        <p:nvSpPr>
          <p:cNvPr id="3" name="Content Placeholder 2"/>
          <p:cNvSpPr>
            <a:spLocks noGrp="1"/>
          </p:cNvSpPr>
          <p:nvPr>
            <p:ph idx="1" hasCustomPrompt="1"/>
          </p:nvPr>
        </p:nvSpPr>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86167F19-5076-49BD-AB3D-6B128DFAF7B2}" type="datetime1">
              <a:rPr lang="en-GB" noProof="0" smtClean="0"/>
              <a:t>10/07/2024</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rtlCol="0" anchor="ctr">
            <a:normAutofit/>
          </a:bodyPr>
          <a:lstStyle>
            <a:lvl1pPr algn="r">
              <a:defRPr sz="3600"/>
            </a:lvl1pPr>
          </a:lstStyle>
          <a:p>
            <a:pPr rtl="0"/>
            <a:r>
              <a:rPr lang="en-GB" noProof="0"/>
              <a:t>Click to edit Master title style</a:t>
            </a:r>
          </a:p>
        </p:txBody>
      </p:sp>
      <p:sp>
        <p:nvSpPr>
          <p:cNvPr id="3" name="Text Placeholder 2"/>
          <p:cNvSpPr>
            <a:spLocks noGrp="1"/>
          </p:cNvSpPr>
          <p:nvPr>
            <p:ph type="body" idx="1" hasCustomPrompt="1"/>
          </p:nvPr>
        </p:nvSpPr>
        <p:spPr>
          <a:xfrm>
            <a:off x="680322" y="4232171"/>
            <a:ext cx="9613860" cy="1704017"/>
          </a:xfrm>
        </p:spPr>
        <p:txBody>
          <a:bodyPr rtlCol="0">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Edit Master text styles</a:t>
            </a:r>
          </a:p>
        </p:txBody>
      </p:sp>
      <p:sp>
        <p:nvSpPr>
          <p:cNvPr id="4" name="Date Placeholder 3"/>
          <p:cNvSpPr>
            <a:spLocks noGrp="1"/>
          </p:cNvSpPr>
          <p:nvPr>
            <p:ph type="dt" sz="half" idx="10"/>
          </p:nvPr>
        </p:nvSpPr>
        <p:spPr/>
        <p:txBody>
          <a:bodyPr rtlCol="0"/>
          <a:lstStyle/>
          <a:p>
            <a:pPr rtl="0"/>
            <a:fld id="{A6C3FA1F-FD87-4255-BCA6-545FAC9A9300}" type="datetime1">
              <a:rPr lang="en-GB" noProof="0" smtClean="0"/>
              <a:t>10/07/2024</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a:xfrm>
            <a:off x="10729455" y="2869895"/>
            <a:ext cx="1154151" cy="1090789"/>
          </a:xfrm>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rtlCol="0"/>
          <a:lstStyle/>
          <a:p>
            <a:pPr rtl="0"/>
            <a:r>
              <a:rPr lang="en-GB" noProof="0"/>
              <a:t>Click to edit Master title style</a:t>
            </a:r>
          </a:p>
        </p:txBody>
      </p:sp>
      <p:sp>
        <p:nvSpPr>
          <p:cNvPr id="3" name="Content Placeholder 2"/>
          <p:cNvSpPr>
            <a:spLocks noGrp="1"/>
          </p:cNvSpPr>
          <p:nvPr>
            <p:ph sz="half" idx="1" hasCustomPrompt="1"/>
          </p:nvPr>
        </p:nvSpPr>
        <p:spPr>
          <a:xfrm>
            <a:off x="680320" y="2336873"/>
            <a:ext cx="4698358" cy="3599316"/>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hasCustomPrompt="1"/>
          </p:nvPr>
        </p:nvSpPr>
        <p:spPr>
          <a:xfrm>
            <a:off x="5594123" y="2336873"/>
            <a:ext cx="4700058" cy="3599316"/>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p>
            <a:pPr rtl="0"/>
            <a:fld id="{3A9EFA0A-133E-486A-9A8B-A9EA11CE30FA}" type="datetime1">
              <a:rPr lang="en-GB" noProof="0" smtClean="0"/>
              <a:t>10/07/2024</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rtlCol="0"/>
          <a:lstStyle/>
          <a:p>
            <a:pPr rtl="0"/>
            <a:r>
              <a:rPr lang="en-GB" noProof="0"/>
              <a:t>Click to edit Master title style</a:t>
            </a:r>
          </a:p>
        </p:txBody>
      </p:sp>
      <p:sp>
        <p:nvSpPr>
          <p:cNvPr id="3" name="Text Placeholder 2"/>
          <p:cNvSpPr>
            <a:spLocks noGrp="1"/>
          </p:cNvSpPr>
          <p:nvPr>
            <p:ph type="body" idx="1" hasCustomPrompt="1"/>
          </p:nvPr>
        </p:nvSpPr>
        <p:spPr>
          <a:xfrm>
            <a:off x="906350" y="2336873"/>
            <a:ext cx="4472327" cy="693135"/>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680322" y="3030008"/>
            <a:ext cx="4698355" cy="2906179"/>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hasCustomPrompt="1"/>
          </p:nvPr>
        </p:nvSpPr>
        <p:spPr>
          <a:xfrm>
            <a:off x="5820154" y="2336873"/>
            <a:ext cx="4474028" cy="692076"/>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6" name="Content Placeholder 5"/>
          <p:cNvSpPr>
            <a:spLocks noGrp="1"/>
          </p:cNvSpPr>
          <p:nvPr>
            <p:ph sz="quarter" idx="4" hasCustomPrompt="1"/>
          </p:nvPr>
        </p:nvSpPr>
        <p:spPr>
          <a:xfrm>
            <a:off x="5594123" y="3030008"/>
            <a:ext cx="4700059" cy="2906179"/>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p>
            <a:pPr rtl="0"/>
            <a:fld id="{CA8E3D01-C823-43BE-989D-D92F36BAA385}" type="datetime1">
              <a:rPr lang="en-GB" noProof="0" smtClean="0"/>
              <a:t>10/07/2024</a:t>
            </a:fld>
            <a:endParaRPr lang="en-GB" noProof="0"/>
          </a:p>
        </p:txBody>
      </p:sp>
      <p:sp>
        <p:nvSpPr>
          <p:cNvPr id="8" name="Footer Placeholder 7"/>
          <p:cNvSpPr>
            <a:spLocks noGrp="1"/>
          </p:cNvSpPr>
          <p:nvPr>
            <p:ph type="ftr" sz="quarter" idx="11"/>
          </p:nvPr>
        </p:nvSpPr>
        <p:spPr/>
        <p:txBody>
          <a:bodyPr rtlCol="0"/>
          <a:lstStyle/>
          <a:p>
            <a:pPr rtl="0"/>
            <a:endParaRPr lang="en-GB" noProof="0"/>
          </a:p>
        </p:txBody>
      </p:sp>
      <p:sp>
        <p:nvSpPr>
          <p:cNvPr id="9" name="Slide Number Placeholder 8"/>
          <p:cNvSpPr>
            <a:spLocks noGrp="1"/>
          </p:cNvSpPr>
          <p:nvPr>
            <p:ph type="sldNum" sz="quarter" idx="12"/>
          </p:nvPr>
        </p:nvSpPr>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rtlCol="0"/>
          <a:lstStyle/>
          <a:p>
            <a:pPr rtl="0"/>
            <a:r>
              <a:rPr lang="en-GB" noProof="0"/>
              <a:t>Click to edit Master title style</a:t>
            </a:r>
          </a:p>
        </p:txBody>
      </p:sp>
      <p:sp>
        <p:nvSpPr>
          <p:cNvPr id="3" name="Date Placeholder 2"/>
          <p:cNvSpPr>
            <a:spLocks noGrp="1"/>
          </p:cNvSpPr>
          <p:nvPr>
            <p:ph type="dt" sz="half" idx="10"/>
          </p:nvPr>
        </p:nvSpPr>
        <p:spPr/>
        <p:txBody>
          <a:bodyPr rtlCol="0"/>
          <a:lstStyle/>
          <a:p>
            <a:pPr rtl="0"/>
            <a:fld id="{D5ABFD7C-AFAA-4962-8D66-AFB6356F4F3D}" type="datetime1">
              <a:rPr lang="en-GB" noProof="0" smtClean="0"/>
              <a:t>10/07/2024</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rtlCol="0"/>
          <a:lstStyle/>
          <a:p>
            <a:pPr rtl="0"/>
            <a:fld id="{7B7F8CA2-B077-45F9-89A3-F0CDC27436F1}" type="datetime1">
              <a:rPr lang="en-GB" noProof="0" smtClean="0"/>
              <a:t>10/07/2024</a:t>
            </a:fld>
            <a:endParaRPr lang="en-GB" noProof="0"/>
          </a:p>
        </p:txBody>
      </p:sp>
      <p:sp>
        <p:nvSpPr>
          <p:cNvPr id="3" name="Footer Placeholder 2"/>
          <p:cNvSpPr>
            <a:spLocks noGrp="1"/>
          </p:cNvSpPr>
          <p:nvPr>
            <p:ph type="ftr" sz="quarter" idx="11"/>
          </p:nvPr>
        </p:nvSpPr>
        <p:spPr/>
        <p:txBody>
          <a:bodyPr rtlCol="0"/>
          <a:lstStyle/>
          <a:p>
            <a:pPr rtl="0"/>
            <a:endParaRPr lang="en-GB" noProof="0"/>
          </a:p>
        </p:txBody>
      </p:sp>
      <p:sp>
        <p:nvSpPr>
          <p:cNvPr id="4" name="Slide Number Placeholder 3"/>
          <p:cNvSpPr>
            <a:spLocks noGrp="1"/>
          </p:cNvSpPr>
          <p:nvPr>
            <p:ph type="sldNum" sz="quarter" idx="12"/>
          </p:nvPr>
        </p:nvSpPr>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rtlCol="0" anchor="ctr">
            <a:normAutofit/>
          </a:bodyPr>
          <a:lstStyle>
            <a:lvl1pPr>
              <a:defRPr sz="3600"/>
            </a:lvl1pPr>
          </a:lstStyle>
          <a:p>
            <a:pPr rtl="0"/>
            <a:r>
              <a:rPr lang="en-GB" noProof="0"/>
              <a:t>Click to edit Master title style</a:t>
            </a:r>
          </a:p>
        </p:txBody>
      </p:sp>
      <p:sp>
        <p:nvSpPr>
          <p:cNvPr id="3" name="Content Placeholder 2"/>
          <p:cNvSpPr>
            <a:spLocks noGrp="1"/>
          </p:cNvSpPr>
          <p:nvPr>
            <p:ph idx="1" hasCustomPrompt="1"/>
          </p:nvPr>
        </p:nvSpPr>
        <p:spPr>
          <a:xfrm>
            <a:off x="4685846" y="2336873"/>
            <a:ext cx="5608336" cy="3599313"/>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Text Placeholder 3"/>
          <p:cNvSpPr>
            <a:spLocks noGrp="1"/>
          </p:cNvSpPr>
          <p:nvPr>
            <p:ph type="body" sz="half" idx="2" hasCustomPrompt="1"/>
          </p:nvPr>
        </p:nvSpPr>
        <p:spPr>
          <a:xfrm>
            <a:off x="680322" y="2336872"/>
            <a:ext cx="3790078" cy="3599317"/>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Edit Master text styles</a:t>
            </a:r>
          </a:p>
        </p:txBody>
      </p:sp>
      <p:sp>
        <p:nvSpPr>
          <p:cNvPr id="5" name="Date Placeholder 4"/>
          <p:cNvSpPr>
            <a:spLocks noGrp="1"/>
          </p:cNvSpPr>
          <p:nvPr>
            <p:ph type="dt" sz="half" idx="10"/>
          </p:nvPr>
        </p:nvSpPr>
        <p:spPr/>
        <p:txBody>
          <a:bodyPr rtlCol="0"/>
          <a:lstStyle/>
          <a:p>
            <a:pPr rtl="0"/>
            <a:fld id="{1726A474-256E-4F89-934C-FE7B2ED5F992}" type="datetime1">
              <a:rPr lang="en-GB" noProof="0" smtClean="0"/>
              <a:t>10/07/2024</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rtlCol="0" anchor="ctr">
            <a:normAutofit/>
          </a:bodyPr>
          <a:lstStyle>
            <a:lvl1pPr>
              <a:defRPr sz="3600"/>
            </a:lvl1pPr>
          </a:lstStyle>
          <a:p>
            <a:pPr rtl="0"/>
            <a:r>
              <a:rPr lang="en-GB" noProof="0"/>
              <a:t>Click to edit Master title style</a:t>
            </a:r>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Click icon to add picture</a:t>
            </a:r>
          </a:p>
        </p:txBody>
      </p:sp>
      <p:sp>
        <p:nvSpPr>
          <p:cNvPr id="4" name="Text Placeholder 3"/>
          <p:cNvSpPr>
            <a:spLocks noGrp="1"/>
          </p:cNvSpPr>
          <p:nvPr>
            <p:ph type="body" sz="half" idx="2" hasCustomPrompt="1"/>
          </p:nvPr>
        </p:nvSpPr>
        <p:spPr>
          <a:xfrm>
            <a:off x="680323" y="2336873"/>
            <a:ext cx="3876256" cy="3599315"/>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Edit Master text styles</a:t>
            </a:r>
          </a:p>
        </p:txBody>
      </p:sp>
      <p:sp>
        <p:nvSpPr>
          <p:cNvPr id="5" name="Date Placeholder 4"/>
          <p:cNvSpPr>
            <a:spLocks noGrp="1"/>
          </p:cNvSpPr>
          <p:nvPr>
            <p:ph type="dt" sz="half" idx="10"/>
          </p:nvPr>
        </p:nvSpPr>
        <p:spPr/>
        <p:txBody>
          <a:bodyPr rtlCol="0"/>
          <a:lstStyle/>
          <a:p>
            <a:pPr rtl="0"/>
            <a:fld id="{52F3DEA2-A3DB-4E9B-9795-3D9A14C807DC}" type="datetime1">
              <a:rPr lang="en-GB" noProof="0" smtClean="0"/>
              <a:t>10/07/2024</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rtlCol="0" anchor="b">
            <a:normAutofit/>
          </a:bodyPr>
          <a:lstStyle>
            <a:lvl1pPr>
              <a:defRPr sz="2400"/>
            </a:lvl1pPr>
          </a:lstStyle>
          <a:p>
            <a:pPr rtl="0"/>
            <a:r>
              <a:rPr lang="en-GB" noProof="0"/>
              <a:t>Click to edit Master title style</a:t>
            </a:r>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Click icon to add picture</a:t>
            </a:r>
          </a:p>
        </p:txBody>
      </p:sp>
      <p:sp>
        <p:nvSpPr>
          <p:cNvPr id="4" name="Text Placeholder 3"/>
          <p:cNvSpPr>
            <a:spLocks noGrp="1"/>
          </p:cNvSpPr>
          <p:nvPr>
            <p:ph type="body" sz="half" idx="2" hasCustomPrompt="1"/>
          </p:nvPr>
        </p:nvSpPr>
        <p:spPr>
          <a:xfrm>
            <a:off x="680319" y="5169583"/>
            <a:ext cx="9613862" cy="622971"/>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Edit Master text styles</a:t>
            </a:r>
          </a:p>
        </p:txBody>
      </p:sp>
      <p:sp>
        <p:nvSpPr>
          <p:cNvPr id="5" name="Date Placeholder 4"/>
          <p:cNvSpPr>
            <a:spLocks noGrp="1"/>
          </p:cNvSpPr>
          <p:nvPr>
            <p:ph type="dt" sz="half" idx="10"/>
          </p:nvPr>
        </p:nvSpPr>
        <p:spPr/>
        <p:txBody>
          <a:bodyPr rtlCol="0"/>
          <a:lstStyle/>
          <a:p>
            <a:pPr rtl="0"/>
            <a:fld id="{52F3AFED-6C5B-4190-AD6D-79BBDB7451E7}" type="datetime1">
              <a:rPr lang="en-GB" noProof="0" smtClean="0"/>
              <a:t>10/07/2024</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a:xfrm>
            <a:off x="10729455" y="4711309"/>
            <a:ext cx="1154151" cy="1090789"/>
          </a:xfrm>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rtlCol="0" anchor="ctr"/>
          <a:lstStyle>
            <a:lvl1pPr>
              <a:defRPr sz="3200"/>
            </a:lvl1pPr>
          </a:lstStyle>
          <a:p>
            <a:pPr rtl="0"/>
            <a:r>
              <a:rPr lang="en-GB" noProof="0"/>
              <a:t>Click to edit Master title style</a:t>
            </a:r>
          </a:p>
        </p:txBody>
      </p:sp>
      <p:sp>
        <p:nvSpPr>
          <p:cNvPr id="4" name="Text Placeholder 3"/>
          <p:cNvSpPr>
            <a:spLocks noGrp="1"/>
          </p:cNvSpPr>
          <p:nvPr>
            <p:ph type="body" sz="half" idx="2" hasCustomPrompt="1"/>
          </p:nvPr>
        </p:nvSpPr>
        <p:spPr>
          <a:xfrm>
            <a:off x="680322" y="4711615"/>
            <a:ext cx="9613859" cy="1090789"/>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Edit Master text styles</a:t>
            </a:r>
          </a:p>
        </p:txBody>
      </p:sp>
      <p:sp>
        <p:nvSpPr>
          <p:cNvPr id="5" name="Date Placeholder 4"/>
          <p:cNvSpPr>
            <a:spLocks noGrp="1"/>
          </p:cNvSpPr>
          <p:nvPr>
            <p:ph type="dt" sz="half" idx="10"/>
          </p:nvPr>
        </p:nvSpPr>
        <p:spPr/>
        <p:txBody>
          <a:bodyPr rtlCol="0"/>
          <a:lstStyle/>
          <a:p>
            <a:pPr rtl="0"/>
            <a:fld id="{8ECD5951-A553-44A3-BDDA-45C2174D900E}" type="datetime1">
              <a:rPr lang="en-GB" noProof="0" smtClean="0"/>
              <a:t>10/07/2024</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a:xfrm>
            <a:off x="10729455" y="4711615"/>
            <a:ext cx="1154151" cy="1090789"/>
          </a:xfrm>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rtlCol="0" anchor="ctr"/>
          <a:lstStyle>
            <a:lvl1pPr>
              <a:defRPr sz="3200"/>
            </a:lvl1pPr>
          </a:lstStyle>
          <a:p>
            <a:pPr rtl="0"/>
            <a:r>
              <a:rPr lang="en-GB" noProof="0"/>
              <a:t>Click to edit Master title style</a:t>
            </a:r>
          </a:p>
        </p:txBody>
      </p:sp>
      <p:sp>
        <p:nvSpPr>
          <p:cNvPr id="12" name="Text Placeholder 3"/>
          <p:cNvSpPr>
            <a:spLocks noGrp="1"/>
          </p:cNvSpPr>
          <p:nvPr>
            <p:ph type="body" sz="half" idx="13" hasCustomPrompt="1"/>
          </p:nvPr>
        </p:nvSpPr>
        <p:spPr>
          <a:xfrm>
            <a:off x="1402288" y="3653379"/>
            <a:ext cx="8156579" cy="548968"/>
          </a:xfrm>
        </p:spPr>
        <p:txBody>
          <a:bodyPr rtlCol="0"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Edit Master text styles</a:t>
            </a:r>
          </a:p>
        </p:txBody>
      </p:sp>
      <p:sp>
        <p:nvSpPr>
          <p:cNvPr id="4" name="Text Placeholder 3"/>
          <p:cNvSpPr>
            <a:spLocks noGrp="1"/>
          </p:cNvSpPr>
          <p:nvPr>
            <p:ph type="body" sz="half" idx="2" hasCustomPrompt="1"/>
          </p:nvPr>
        </p:nvSpPr>
        <p:spPr>
          <a:xfrm>
            <a:off x="680322" y="4711615"/>
            <a:ext cx="9613859" cy="1090789"/>
          </a:xfrm>
        </p:spPr>
        <p:txBody>
          <a:bodyPr rtlCol="0"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Edit Master text styles</a:t>
            </a:r>
          </a:p>
        </p:txBody>
      </p:sp>
      <p:sp>
        <p:nvSpPr>
          <p:cNvPr id="5" name="Date Placeholder 4"/>
          <p:cNvSpPr>
            <a:spLocks noGrp="1"/>
          </p:cNvSpPr>
          <p:nvPr>
            <p:ph type="dt" sz="half" idx="10"/>
          </p:nvPr>
        </p:nvSpPr>
        <p:spPr/>
        <p:txBody>
          <a:bodyPr rtlCol="0"/>
          <a:lstStyle/>
          <a:p>
            <a:pPr rtl="0"/>
            <a:fld id="{4EE13C22-AD56-4ED9-A1BD-54884F7BC294}" type="datetime1">
              <a:rPr lang="en-GB" noProof="0" smtClean="0"/>
              <a:t>10/07/2024</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a:xfrm>
            <a:off x="10729455" y="4709925"/>
            <a:ext cx="1154151" cy="1090789"/>
          </a:xfrm>
        </p:spPr>
        <p:txBody>
          <a:bodyPr rtlCol="0"/>
          <a:lstStyle/>
          <a:p>
            <a:pPr rtl="0"/>
            <a:fld id="{6D22F896-40B5-4ADD-8801-0D06FADFA095}" type="slidenum">
              <a:rPr lang="en-GB" noProof="0" smtClean="0"/>
              <a:t>‹#›</a:t>
            </a:fld>
            <a:endParaRPr lang="en-GB" noProof="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rtl="0"/>
            <a:r>
              <a:rPr lang="en-GB" sz="7200" noProof="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n-GB" sz="7200" noProof="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rtlCol="0" anchor="b"/>
          <a:lstStyle>
            <a:lvl1pPr>
              <a:defRPr sz="3200"/>
            </a:lvl1pPr>
          </a:lstStyle>
          <a:p>
            <a:pPr rtl="0"/>
            <a:r>
              <a:rPr lang="en-GB" noProof="0"/>
              <a:t>Click to edit Master title style</a:t>
            </a:r>
          </a:p>
        </p:txBody>
      </p:sp>
      <p:sp>
        <p:nvSpPr>
          <p:cNvPr id="4" name="Text Placeholder 3"/>
          <p:cNvSpPr>
            <a:spLocks noGrp="1"/>
          </p:cNvSpPr>
          <p:nvPr>
            <p:ph type="body" sz="half" idx="2" hasCustomPrompt="1"/>
          </p:nvPr>
        </p:nvSpPr>
        <p:spPr>
          <a:xfrm>
            <a:off x="680320" y="5300149"/>
            <a:ext cx="9613862" cy="502255"/>
          </a:xfrm>
        </p:spPr>
        <p:txBody>
          <a:bodyPr rtlCol="0"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Edit Master text styles</a:t>
            </a:r>
          </a:p>
        </p:txBody>
      </p:sp>
      <p:sp>
        <p:nvSpPr>
          <p:cNvPr id="5" name="Date Placeholder 4"/>
          <p:cNvSpPr>
            <a:spLocks noGrp="1"/>
          </p:cNvSpPr>
          <p:nvPr>
            <p:ph type="dt" sz="half" idx="10"/>
          </p:nvPr>
        </p:nvSpPr>
        <p:spPr/>
        <p:txBody>
          <a:bodyPr rtlCol="0"/>
          <a:lstStyle/>
          <a:p>
            <a:pPr rtl="0"/>
            <a:fld id="{CB35ABEE-10BE-43C3-8DAC-0E6058B9CB2D}" type="datetime1">
              <a:rPr lang="en-GB" noProof="0" smtClean="0"/>
              <a:t>10/07/2024</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a:xfrm>
            <a:off x="10729455" y="4709925"/>
            <a:ext cx="1154151" cy="1090789"/>
          </a:xfrm>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rtlCol="0"/>
          <a:lstStyle/>
          <a:p>
            <a:pPr rtl="0"/>
            <a:r>
              <a:rPr lang="en-GB" noProof="0"/>
              <a:t>Click to edit Master title style</a:t>
            </a:r>
          </a:p>
        </p:txBody>
      </p:sp>
      <p:sp>
        <p:nvSpPr>
          <p:cNvPr id="7" name="Text Placeholder 2"/>
          <p:cNvSpPr>
            <a:spLocks noGrp="1"/>
          </p:cNvSpPr>
          <p:nvPr>
            <p:ph type="body" idx="1" hasCustomPrompt="1"/>
          </p:nvPr>
        </p:nvSpPr>
        <p:spPr>
          <a:xfrm>
            <a:off x="660946" y="2336873"/>
            <a:ext cx="3070034"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8" name="Text Placeholder 3"/>
          <p:cNvSpPr>
            <a:spLocks noGrp="1"/>
          </p:cNvSpPr>
          <p:nvPr>
            <p:ph type="body" sz="half" idx="15" hasCustomPrompt="1"/>
          </p:nvPr>
        </p:nvSpPr>
        <p:spPr>
          <a:xfrm>
            <a:off x="680322" y="3022673"/>
            <a:ext cx="3049702"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Edit Master text styles</a:t>
            </a:r>
          </a:p>
        </p:txBody>
      </p:sp>
      <p:sp>
        <p:nvSpPr>
          <p:cNvPr id="9" name="Text Placeholder 4"/>
          <p:cNvSpPr>
            <a:spLocks noGrp="1"/>
          </p:cNvSpPr>
          <p:nvPr>
            <p:ph type="body" sz="quarter" idx="3" hasCustomPrompt="1"/>
          </p:nvPr>
        </p:nvSpPr>
        <p:spPr>
          <a:xfrm>
            <a:off x="3956025" y="2336873"/>
            <a:ext cx="3063240"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10" name="Text Placeholder 3"/>
          <p:cNvSpPr>
            <a:spLocks noGrp="1"/>
          </p:cNvSpPr>
          <p:nvPr>
            <p:ph type="body" sz="half" idx="16" hasCustomPrompt="1"/>
          </p:nvPr>
        </p:nvSpPr>
        <p:spPr>
          <a:xfrm>
            <a:off x="3945470" y="3022673"/>
            <a:ext cx="3063240"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Edit Master text styles</a:t>
            </a:r>
          </a:p>
        </p:txBody>
      </p:sp>
      <p:sp>
        <p:nvSpPr>
          <p:cNvPr id="11" name="Text Placeholder 4"/>
          <p:cNvSpPr>
            <a:spLocks noGrp="1"/>
          </p:cNvSpPr>
          <p:nvPr>
            <p:ph type="body" sz="quarter" idx="13" hasCustomPrompt="1"/>
          </p:nvPr>
        </p:nvSpPr>
        <p:spPr>
          <a:xfrm>
            <a:off x="7224156" y="2336873"/>
            <a:ext cx="307002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12" name="Text Placeholder 3"/>
          <p:cNvSpPr>
            <a:spLocks noGrp="1"/>
          </p:cNvSpPr>
          <p:nvPr>
            <p:ph type="body" sz="half" idx="17" hasCustomPrompt="1"/>
          </p:nvPr>
        </p:nvSpPr>
        <p:spPr>
          <a:xfrm>
            <a:off x="7224156" y="3022673"/>
            <a:ext cx="3070025"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Edit Master text styles</a:t>
            </a:r>
          </a:p>
        </p:txBody>
      </p:sp>
      <p:sp>
        <p:nvSpPr>
          <p:cNvPr id="3" name="Date Placeholder 2"/>
          <p:cNvSpPr>
            <a:spLocks noGrp="1"/>
          </p:cNvSpPr>
          <p:nvPr>
            <p:ph type="dt" sz="half" idx="10"/>
          </p:nvPr>
        </p:nvSpPr>
        <p:spPr/>
        <p:txBody>
          <a:bodyPr rtlCol="0"/>
          <a:lstStyle/>
          <a:p>
            <a:pPr rtl="0"/>
            <a:fld id="{32148A7B-F02E-49AD-9ABE-1B7CA9E15D0E}" type="datetime1">
              <a:rPr lang="en-GB" noProof="0" smtClean="0"/>
              <a:t>10/07/2024</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rtlCol="0"/>
          <a:lstStyle/>
          <a:p>
            <a:pPr rtl="0"/>
            <a:r>
              <a:rPr lang="en-GB" noProof="0"/>
              <a:t>Click to edit Master title style</a:t>
            </a:r>
          </a:p>
        </p:txBody>
      </p:sp>
      <p:sp>
        <p:nvSpPr>
          <p:cNvPr id="19" name="Text Placeholder 2"/>
          <p:cNvSpPr>
            <a:spLocks noGrp="1"/>
          </p:cNvSpPr>
          <p:nvPr>
            <p:ph type="body" idx="1" hasCustomPrompt="1"/>
          </p:nvPr>
        </p:nvSpPr>
        <p:spPr>
          <a:xfrm>
            <a:off x="680318" y="4297503"/>
            <a:ext cx="304970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GB" noProof="0"/>
              <a:t>Click icon to add picture</a:t>
            </a:r>
          </a:p>
        </p:txBody>
      </p:sp>
      <p:sp>
        <p:nvSpPr>
          <p:cNvPr id="21" name="Text Placeholder 3"/>
          <p:cNvSpPr>
            <a:spLocks noGrp="1"/>
          </p:cNvSpPr>
          <p:nvPr>
            <p:ph type="body" sz="half" idx="18" hasCustomPrompt="1"/>
          </p:nvPr>
        </p:nvSpPr>
        <p:spPr>
          <a:xfrm>
            <a:off x="680318" y="4873765"/>
            <a:ext cx="3049705"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Edit Master text styles</a:t>
            </a:r>
          </a:p>
        </p:txBody>
      </p:sp>
      <p:sp>
        <p:nvSpPr>
          <p:cNvPr id="22" name="Text Placeholder 4"/>
          <p:cNvSpPr>
            <a:spLocks noGrp="1"/>
          </p:cNvSpPr>
          <p:nvPr>
            <p:ph type="body" sz="quarter" idx="3" hasCustomPrompt="1"/>
          </p:nvPr>
        </p:nvSpPr>
        <p:spPr>
          <a:xfrm>
            <a:off x="3945471" y="4297503"/>
            <a:ext cx="3063240"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GB" noProof="0"/>
              <a:t>Click icon to add picture</a:t>
            </a:r>
          </a:p>
        </p:txBody>
      </p:sp>
      <p:sp>
        <p:nvSpPr>
          <p:cNvPr id="24" name="Text Placeholder 3"/>
          <p:cNvSpPr>
            <a:spLocks noGrp="1"/>
          </p:cNvSpPr>
          <p:nvPr>
            <p:ph type="body" sz="half" idx="19" hasCustomPrompt="1"/>
          </p:nvPr>
        </p:nvSpPr>
        <p:spPr>
          <a:xfrm>
            <a:off x="3944117" y="4873764"/>
            <a:ext cx="3067297"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Edit Master text styles</a:t>
            </a:r>
          </a:p>
        </p:txBody>
      </p:sp>
      <p:sp>
        <p:nvSpPr>
          <p:cNvPr id="25" name="Text Placeholder 4"/>
          <p:cNvSpPr>
            <a:spLocks noGrp="1"/>
          </p:cNvSpPr>
          <p:nvPr>
            <p:ph type="body" sz="quarter" idx="13" hasCustomPrompt="1"/>
          </p:nvPr>
        </p:nvSpPr>
        <p:spPr>
          <a:xfrm>
            <a:off x="7230678" y="4297503"/>
            <a:ext cx="306350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GB" noProof="0"/>
              <a:t>Click icon to add picture</a:t>
            </a:r>
          </a:p>
        </p:txBody>
      </p:sp>
      <p:sp>
        <p:nvSpPr>
          <p:cNvPr id="27" name="Text Placeholder 3"/>
          <p:cNvSpPr>
            <a:spLocks noGrp="1"/>
          </p:cNvSpPr>
          <p:nvPr>
            <p:ph type="body" sz="half" idx="20" hasCustomPrompt="1"/>
          </p:nvPr>
        </p:nvSpPr>
        <p:spPr>
          <a:xfrm>
            <a:off x="7230553" y="4873762"/>
            <a:ext cx="3067563"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Edit Master text styles</a:t>
            </a:r>
          </a:p>
        </p:txBody>
      </p:sp>
      <p:sp>
        <p:nvSpPr>
          <p:cNvPr id="3" name="Date Placeholder 2"/>
          <p:cNvSpPr>
            <a:spLocks noGrp="1"/>
          </p:cNvSpPr>
          <p:nvPr>
            <p:ph type="dt" sz="half" idx="10"/>
          </p:nvPr>
        </p:nvSpPr>
        <p:spPr/>
        <p:txBody>
          <a:bodyPr rtlCol="0"/>
          <a:lstStyle/>
          <a:p>
            <a:pPr rtl="0"/>
            <a:fld id="{3A58F047-B9F1-418B-96EE-088BDF9E1117}" type="datetime1">
              <a:rPr lang="en-GB" noProof="0" smtClean="0"/>
              <a:t>10/07/2024</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rtlCol="0"/>
          <a:lstStyle>
            <a:lvl1pPr algn="r">
              <a:defRPr/>
            </a:lvl1pPr>
          </a:lstStyle>
          <a:p>
            <a:pPr rtl="0"/>
            <a:r>
              <a:rPr lang="en-GB" noProof="0"/>
              <a:t>Click to edit Master title style</a:t>
            </a:r>
          </a:p>
        </p:txBody>
      </p:sp>
      <p:sp>
        <p:nvSpPr>
          <p:cNvPr id="3" name="Vertical Text Placeholder 2"/>
          <p:cNvSpPr>
            <a:spLocks noGrp="1"/>
          </p:cNvSpPr>
          <p:nvPr>
            <p:ph type="body" orient="vert" idx="1" hasCustomPrompt="1"/>
          </p:nvPr>
        </p:nvSpPr>
        <p:spPr/>
        <p:txBody>
          <a:bodyPr vert="eaVert"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E3931655-8C82-450C-AF5A-F8CAB9E610F4}" type="datetime1">
              <a:rPr lang="en-GB" noProof="0" smtClean="0"/>
              <a:t>10/07/2024</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6D22F896-40B5-4ADD-8801-0D06FADFA095}" type="slidenum">
              <a:rPr lang="en-GB" noProof="0" smtClean="0"/>
              <a:t>‹#›</a:t>
            </a:fld>
            <a:endParaRPr lang="en-GB"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rtlCol="0"/>
          <a:lstStyle/>
          <a:p>
            <a:pPr rtl="0"/>
            <a:r>
              <a:rPr lang="en-GB" noProof="0"/>
              <a:t>Click to edit Master title style</a:t>
            </a:r>
          </a:p>
        </p:txBody>
      </p:sp>
      <p:sp>
        <p:nvSpPr>
          <p:cNvPr id="3" name="Vertical Text Placeholder 2"/>
          <p:cNvSpPr>
            <a:spLocks noGrp="1"/>
          </p:cNvSpPr>
          <p:nvPr>
            <p:ph type="body" orient="vert" idx="1" hasCustomPrompt="1"/>
          </p:nvPr>
        </p:nvSpPr>
        <p:spPr>
          <a:xfrm>
            <a:off x="680322" y="609597"/>
            <a:ext cx="8870004" cy="5326589"/>
          </a:xfrm>
        </p:spPr>
        <p:txBody>
          <a:bodyPr vert="eaVert"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a:xfrm>
            <a:off x="6807126" y="5936187"/>
            <a:ext cx="2743200" cy="365125"/>
          </a:xfrm>
        </p:spPr>
        <p:txBody>
          <a:bodyPr rtlCol="0"/>
          <a:lstStyle/>
          <a:p>
            <a:pPr rtl="0"/>
            <a:fld id="{65C21DCF-FF7F-431D-A249-D0DAFDAF8236}" type="datetime1">
              <a:rPr lang="en-GB" noProof="0" smtClean="0"/>
              <a:t>10/07/2024</a:t>
            </a:fld>
            <a:endParaRPr lang="en-GB" noProof="0"/>
          </a:p>
        </p:txBody>
      </p:sp>
      <p:sp>
        <p:nvSpPr>
          <p:cNvPr id="5" name="Footer Placeholder 4"/>
          <p:cNvSpPr>
            <a:spLocks noGrp="1"/>
          </p:cNvSpPr>
          <p:nvPr>
            <p:ph type="ftr" sz="quarter" idx="11"/>
          </p:nvPr>
        </p:nvSpPr>
        <p:spPr>
          <a:xfrm>
            <a:off x="680321" y="5936188"/>
            <a:ext cx="6126805" cy="365125"/>
          </a:xfrm>
        </p:spPr>
        <p:txBody>
          <a:bodyPr rtlCol="0"/>
          <a:lstStyle/>
          <a:p>
            <a:pPr rtl="0"/>
            <a:endParaRPr lang="en-GB" noProof="0"/>
          </a:p>
        </p:txBody>
      </p:sp>
      <p:sp>
        <p:nvSpPr>
          <p:cNvPr id="6" name="Slide Number Placeholder 5"/>
          <p:cNvSpPr>
            <a:spLocks noGrp="1"/>
          </p:cNvSpPr>
          <p:nvPr>
            <p:ph type="sldNum" sz="quarter" idx="12"/>
          </p:nvPr>
        </p:nvSpPr>
        <p:spPr>
          <a:xfrm>
            <a:off x="10097550" y="5398633"/>
            <a:ext cx="1154151" cy="1090789"/>
          </a:xfrm>
        </p:spPr>
        <p:txBody>
          <a:bodyPr rtlCol="0" anchor="t"/>
          <a:lstStyle>
            <a:lvl1pPr algn="ctr">
              <a:defRPr/>
            </a:lvl1pPr>
          </a:lstStyle>
          <a:p>
            <a:pPr rtl="0"/>
            <a:fld id="{6D22F896-40B5-4ADD-8801-0D06FADFA095}" type="slidenum">
              <a:rPr lang="en-GB" noProof="0" smtClean="0"/>
              <a:pPr/>
              <a:t>‹#›</a:t>
            </a:fld>
            <a:endParaRPr lang="en-GB"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pPr rtl="0"/>
            <a:r>
              <a:rPr lang="en-GB" noProof="0"/>
              <a:t>Click to edit Master title style</a:t>
            </a:r>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BE9670BE-ACA1-4916-9E70-1442474B0D33}" type="datetime1">
              <a:rPr lang="en-GB" noProof="0" smtClean="0"/>
              <a:t>10/07/2024</a:t>
            </a:fld>
            <a:endParaRPr lang="en-GB" noProof="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rtl="0"/>
            <a:endParaRPr lang="en-GB" noProof="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pPr rtl="0"/>
            <a:fld id="{6D22F896-40B5-4ADD-8801-0D06FADFA095}" type="slidenum">
              <a:rPr lang="en-GB" noProof="0" smtClean="0"/>
              <a:pPr/>
              <a:t>‹#›</a:t>
            </a:fld>
            <a:endParaRPr lang="en-GB" noProof="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2.png"/><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36.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7.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70B1E0C-349A-41D6-9866-6E33CB94ED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11" name="Rectangle 10">
              <a:extLst>
                <a:ext uri="{FF2B5EF4-FFF2-40B4-BE49-F238E27FC236}">
                  <a16:creationId xmlns:a16="http://schemas.microsoft.com/office/drawing/2014/main" id="{4D697E53-BD0A-4C6E-9C9A-A631DFDD44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234F360-067A-4751-8C81-499A3264364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sp>
        <p:nvSpPr>
          <p:cNvPr id="14" name="Rectangle 13">
            <a:extLst>
              <a:ext uri="{FF2B5EF4-FFF2-40B4-BE49-F238E27FC236}">
                <a16:creationId xmlns:a16="http://schemas.microsoft.com/office/drawing/2014/main" id="{B2C95EC1-2E07-422F-9742-754D86E59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4340981"/>
            <a:ext cx="8968085" cy="1660332"/>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4494107"/>
            <a:ext cx="8133478" cy="940240"/>
          </a:xfrm>
        </p:spPr>
        <p:txBody>
          <a:bodyPr rtlCol="0">
            <a:normAutofit/>
          </a:bodyPr>
          <a:lstStyle/>
          <a:p>
            <a:r>
              <a:rPr lang="en-GB" sz="4800"/>
              <a:t>SQL FINAL PROJECT</a:t>
            </a:r>
          </a:p>
        </p:txBody>
      </p:sp>
      <p:pic>
        <p:nvPicPr>
          <p:cNvPr id="5" name="Picture 4" descr="A trophy with ribbons on top of a stadium&#10;&#10;Description automatically generated">
            <a:extLst>
              <a:ext uri="{FF2B5EF4-FFF2-40B4-BE49-F238E27FC236}">
                <a16:creationId xmlns:a16="http://schemas.microsoft.com/office/drawing/2014/main" id="{DDDCC0D6-806C-F8B2-C73D-1199D8672E18}"/>
              </a:ext>
            </a:extLst>
          </p:cNvPr>
          <p:cNvPicPr>
            <a:picLocks noChangeAspect="1"/>
          </p:cNvPicPr>
          <p:nvPr/>
        </p:nvPicPr>
        <p:blipFill rotWithShape="1">
          <a:blip r:embed="rId4"/>
          <a:srcRect t="18199" r="2" b="2"/>
          <a:stretch/>
        </p:blipFill>
        <p:spPr>
          <a:xfrm>
            <a:off x="-2" y="10"/>
            <a:ext cx="8966200" cy="4198928"/>
          </a:xfrm>
          <a:prstGeom prst="rect">
            <a:avLst/>
          </a:prstGeom>
          <a:ln>
            <a:noFill/>
          </a:ln>
          <a:effectLst>
            <a:outerShdw blurRad="76200" dist="63500" dir="5040000" algn="tl" rotWithShape="0">
              <a:srgbClr val="000000">
                <a:alpha val="41000"/>
              </a:srgbClr>
            </a:outerShdw>
          </a:effectLst>
        </p:spPr>
      </p:pic>
      <p:pic>
        <p:nvPicPr>
          <p:cNvPr id="4" name="Picture 3" descr="A logo of a cricket player&#10;&#10;Description automatically generated">
            <a:extLst>
              <a:ext uri="{FF2B5EF4-FFF2-40B4-BE49-F238E27FC236}">
                <a16:creationId xmlns:a16="http://schemas.microsoft.com/office/drawing/2014/main" id="{8CB08C23-8B76-7450-FD8D-73D928B98BE5}"/>
              </a:ext>
            </a:extLst>
          </p:cNvPr>
          <p:cNvPicPr>
            <a:picLocks noChangeAspect="1"/>
          </p:cNvPicPr>
          <p:nvPr/>
        </p:nvPicPr>
        <p:blipFill rotWithShape="1">
          <a:blip r:embed="rId5"/>
          <a:srcRect l="12935" r="13956" b="2"/>
          <a:stretch/>
        </p:blipFill>
        <p:spPr>
          <a:xfrm>
            <a:off x="9111717" y="15514"/>
            <a:ext cx="3080285" cy="4172020"/>
          </a:xfrm>
          <a:prstGeom prst="rect">
            <a:avLst/>
          </a:prstGeom>
          <a:ln>
            <a:noFill/>
          </a:ln>
          <a:effectLst>
            <a:outerShdw blurRad="76200" dist="63500" dir="5040000" algn="tl" rotWithShape="0">
              <a:srgbClr val="000000">
                <a:alpha val="41000"/>
              </a:srgbClr>
            </a:outerShdw>
          </a:effectLst>
        </p:spPr>
      </p:pic>
      <p:sp>
        <p:nvSpPr>
          <p:cNvPr id="16" name="Rectangle 15">
            <a:extLst>
              <a:ext uri="{FF2B5EF4-FFF2-40B4-BE49-F238E27FC236}">
                <a16:creationId xmlns:a16="http://schemas.microsoft.com/office/drawing/2014/main" id="{80F8B852-E4A2-486B-9DCC-BD35FA99A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4340981"/>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a:extLst>
              <a:ext uri="{FF2B5EF4-FFF2-40B4-BE49-F238E27FC236}">
                <a16:creationId xmlns:a16="http://schemas.microsoft.com/office/drawing/2014/main" id="{B5028983-B5E5-4471-96B5-E7688CB7F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93754"/>
            <a:ext cx="8968085" cy="275942"/>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A8781A8-BE70-43AF-B34F-7FE082A949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5993754"/>
            <a:ext cx="3080285" cy="275942"/>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052586" y="4758006"/>
            <a:ext cx="8133478" cy="406566"/>
          </a:xfrm>
        </p:spPr>
        <p:txBody>
          <a:bodyPr vert="horz" lIns="91440" tIns="45720" rIns="91440" bIns="45720" rtlCol="0" anchor="t">
            <a:noAutofit/>
          </a:bodyPr>
          <a:lstStyle/>
          <a:p>
            <a:pPr rtl="0"/>
            <a:r>
              <a:rPr lang="en-GB" sz="5400" dirty="0">
                <a:solidFill>
                  <a:schemeClr val="bg1"/>
                </a:solidFill>
              </a:rPr>
              <a:t>IPL</a:t>
            </a:r>
          </a:p>
        </p:txBody>
      </p:sp>
    </p:spTree>
    <p:extLst>
      <p:ext uri="{BB962C8B-B14F-4D97-AF65-F5344CB8AC3E}">
        <p14:creationId xmlns:p14="http://schemas.microsoft.com/office/powerpoint/2010/main" val="4144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34BFCB-373A-440C-A076-F874F5F22C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705D511C-3CFA-4D05-A290-5674D6D1DFF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669D87E5-1B49-46CB-A366-E4BCB4B19B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280609" cy="6214533"/>
          </a:xfrm>
          <a:prstGeom prst="rect">
            <a:avLst/>
          </a:prstGeom>
          <a:solidFill>
            <a:srgbClr val="FFFFFF"/>
          </a:solidFill>
          <a:ln>
            <a:noFill/>
          </a:ln>
          <a:effectLst>
            <a:outerShdw blurRad="76200" dist="63500" dir="5040000" algn="ctr" rotWithShape="0">
              <a:srgbClr val="000000">
                <a:alpha val="4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6CED3C9-6B93-4623-B2C9-EDECE2B423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4846335"/>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9" name="Picture 18">
            <a:extLst>
              <a:ext uri="{FF2B5EF4-FFF2-40B4-BE49-F238E27FC236}">
                <a16:creationId xmlns:a16="http://schemas.microsoft.com/office/drawing/2014/main" id="{0C8DA627-0DBB-4595-982F-5BE763E2036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0585825" y="6224378"/>
            <a:ext cx="1602997" cy="144270"/>
          </a:xfrm>
          <a:prstGeom prst="rect">
            <a:avLst/>
          </a:prstGeom>
        </p:spPr>
      </p:pic>
      <p:pic>
        <p:nvPicPr>
          <p:cNvPr id="4" name="Picture 3" descr="A logo of a warrior with a bat&#10;&#10;Description automatically generated">
            <a:extLst>
              <a:ext uri="{FF2B5EF4-FFF2-40B4-BE49-F238E27FC236}">
                <a16:creationId xmlns:a16="http://schemas.microsoft.com/office/drawing/2014/main" id="{841099FA-13D1-C5DA-C2AF-978163C92C98}"/>
              </a:ext>
            </a:extLst>
          </p:cNvPr>
          <p:cNvPicPr>
            <a:picLocks noChangeAspect="1"/>
          </p:cNvPicPr>
          <p:nvPr/>
        </p:nvPicPr>
        <p:blipFill>
          <a:blip r:embed="rId4"/>
          <a:stretch>
            <a:fillRect/>
          </a:stretch>
        </p:blipFill>
        <p:spPr>
          <a:xfrm>
            <a:off x="3780273" y="2884040"/>
            <a:ext cx="2695721" cy="2687025"/>
          </a:xfrm>
          <a:prstGeom prst="rect">
            <a:avLst/>
          </a:prstGeom>
        </p:spPr>
      </p:pic>
      <p:pic>
        <p:nvPicPr>
          <p:cNvPr id="5" name="Picture 4" descr="A white letters on a blue background&#10;&#10;Description automatically generated">
            <a:extLst>
              <a:ext uri="{FF2B5EF4-FFF2-40B4-BE49-F238E27FC236}">
                <a16:creationId xmlns:a16="http://schemas.microsoft.com/office/drawing/2014/main" id="{B0269D68-7534-6119-0D40-4ECE7EF0820E}"/>
              </a:ext>
            </a:extLst>
          </p:cNvPr>
          <p:cNvPicPr>
            <a:picLocks noChangeAspect="1"/>
          </p:cNvPicPr>
          <p:nvPr/>
        </p:nvPicPr>
        <p:blipFill>
          <a:blip r:embed="rId5"/>
          <a:stretch>
            <a:fillRect/>
          </a:stretch>
        </p:blipFill>
        <p:spPr>
          <a:xfrm>
            <a:off x="4267243" y="1870889"/>
            <a:ext cx="1721783" cy="513056"/>
          </a:xfrm>
          <a:prstGeom prst="rect">
            <a:avLst/>
          </a:prstGeom>
        </p:spPr>
      </p:pic>
      <p:sp>
        <p:nvSpPr>
          <p:cNvPr id="6" name="TextBox 5">
            <a:extLst>
              <a:ext uri="{FF2B5EF4-FFF2-40B4-BE49-F238E27FC236}">
                <a16:creationId xmlns:a16="http://schemas.microsoft.com/office/drawing/2014/main" id="{6D0AECC7-8B68-F156-0AC1-166786432B4A}"/>
              </a:ext>
            </a:extLst>
          </p:cNvPr>
          <p:cNvSpPr txBox="1"/>
          <p:nvPr/>
        </p:nvSpPr>
        <p:spPr>
          <a:xfrm>
            <a:off x="2887698" y="643467"/>
            <a:ext cx="4503624" cy="596445"/>
          </a:xfrm>
          <a:prstGeom prst="rect">
            <a:avLst/>
          </a:prstGeom>
          <a:solidFill>
            <a:schemeClr val="bg2">
              <a:lumMod val="20000"/>
              <a:lumOff val="80000"/>
            </a:schemeClr>
          </a:solidFill>
          <a:ln>
            <a:solidFill>
              <a:schemeClr val="accent4">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416052">
              <a:spcAft>
                <a:spcPts val="600"/>
              </a:spcAft>
            </a:pPr>
            <a:r>
              <a:rPr lang="en-GB" sz="3276" kern="1200">
                <a:solidFill>
                  <a:schemeClr val="bg1"/>
                </a:solidFill>
                <a:latin typeface="+mn-lt"/>
                <a:ea typeface="+mn-ea"/>
                <a:cs typeface="+mn-cs"/>
              </a:rPr>
              <a:t>HARYANA  WARRIORS</a:t>
            </a:r>
            <a:endParaRPr lang="en-US">
              <a:solidFill>
                <a:schemeClr val="bg1"/>
              </a:solidFill>
            </a:endParaRPr>
          </a:p>
        </p:txBody>
      </p:sp>
    </p:spTree>
    <p:extLst>
      <p:ext uri="{BB962C8B-B14F-4D97-AF65-F5344CB8AC3E}">
        <p14:creationId xmlns:p14="http://schemas.microsoft.com/office/powerpoint/2010/main" val="1930612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321D838-2C7E-4177-9DD3-DAC78324A2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a:extLst>
              <a:ext uri="{FF2B5EF4-FFF2-40B4-BE49-F238E27FC236}">
                <a16:creationId xmlns:a16="http://schemas.microsoft.com/office/drawing/2014/main" id="{0146E45C-1450-4186-B501-74F221F897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12" name="Picture 11">
            <a:extLst>
              <a:ext uri="{FF2B5EF4-FFF2-40B4-BE49-F238E27FC236}">
                <a16:creationId xmlns:a16="http://schemas.microsoft.com/office/drawing/2014/main" id="{EEDDA48B-BC04-4915-ADA3-A1A9522EB0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14" name="Rectangle 13">
            <a:extLst>
              <a:ext uri="{FF2B5EF4-FFF2-40B4-BE49-F238E27FC236}">
                <a16:creationId xmlns:a16="http://schemas.microsoft.com/office/drawing/2014/main" id="{78C9D07A-5A22-4E55-B18A-47CF07E50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3D71E629-0739-4A59-972B-A9E9A4500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8" name="Rectangle 17">
            <a:extLst>
              <a:ext uri="{FF2B5EF4-FFF2-40B4-BE49-F238E27FC236}">
                <a16:creationId xmlns:a16="http://schemas.microsoft.com/office/drawing/2014/main" id="{2F84762E-7FCC-4EAF-B9E7-CE7214491E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927A1389-2A5D-4886-AD82-F213767E67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8207"/>
            <a:ext cx="12192000" cy="6858000"/>
          </a:xfrm>
          <a:prstGeom prst="rect">
            <a:avLst/>
          </a:prstGeom>
        </p:spPr>
      </p:pic>
      <p:sp>
        <p:nvSpPr>
          <p:cNvPr id="22" name="Rectangle 21">
            <a:extLst>
              <a:ext uri="{FF2B5EF4-FFF2-40B4-BE49-F238E27FC236}">
                <a16:creationId xmlns:a16="http://schemas.microsoft.com/office/drawing/2014/main" id="{A1038667-0C3F-4764-A24D-DA9D9B4748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6AC2195B-895A-4535-8ECD-9F5B669C5CA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 y="5006045"/>
            <a:ext cx="4965192" cy="144049"/>
          </a:xfrm>
          <a:prstGeom prst="rect">
            <a:avLst/>
          </a:prstGeom>
        </p:spPr>
      </p:pic>
      <p:sp>
        <p:nvSpPr>
          <p:cNvPr id="26" name="Rectangle 25">
            <a:extLst>
              <a:ext uri="{FF2B5EF4-FFF2-40B4-BE49-F238E27FC236}">
                <a16:creationId xmlns:a16="http://schemas.microsoft.com/office/drawing/2014/main" id="{571EEFCA-9235-4BC2-85C3-A4EC6EE57A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2F650DE-A10C-8731-72B6-DB8E10656821}"/>
              </a:ext>
            </a:extLst>
          </p:cNvPr>
          <p:cNvSpPr>
            <a:spLocks noGrp="1"/>
          </p:cNvSpPr>
          <p:nvPr>
            <p:ph type="title"/>
          </p:nvPr>
        </p:nvSpPr>
        <p:spPr>
          <a:xfrm>
            <a:off x="680322" y="2063262"/>
            <a:ext cx="3739278" cy="2661138"/>
          </a:xfrm>
        </p:spPr>
        <p:txBody>
          <a:bodyPr vert="horz" lIns="91440" tIns="45720" rIns="91440" bIns="45720" rtlCol="0" anchor="ctr">
            <a:normAutofit/>
          </a:bodyPr>
          <a:lstStyle/>
          <a:p>
            <a:r>
              <a:rPr lang="en-US" sz="5400"/>
              <a:t>Bidding on batters </a:t>
            </a:r>
          </a:p>
        </p:txBody>
      </p:sp>
      <p:pic>
        <p:nvPicPr>
          <p:cNvPr id="3" name="Picture 2" descr="A cricket player holding a bat&#10;&#10;Description automatically generated">
            <a:extLst>
              <a:ext uri="{FF2B5EF4-FFF2-40B4-BE49-F238E27FC236}">
                <a16:creationId xmlns:a16="http://schemas.microsoft.com/office/drawing/2014/main" id="{57306A0B-6988-4999-8DAD-160541E5F52C}"/>
              </a:ext>
            </a:extLst>
          </p:cNvPr>
          <p:cNvPicPr>
            <a:picLocks noChangeAspect="1"/>
          </p:cNvPicPr>
          <p:nvPr/>
        </p:nvPicPr>
        <p:blipFill>
          <a:blip r:embed="rId6"/>
          <a:stretch>
            <a:fillRect/>
          </a:stretch>
        </p:blipFill>
        <p:spPr>
          <a:xfrm>
            <a:off x="5284606" y="644328"/>
            <a:ext cx="6260963" cy="5569344"/>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347023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7F2C4-14EF-B082-DA7D-707ED1C59193}"/>
              </a:ext>
            </a:extLst>
          </p:cNvPr>
          <p:cNvSpPr>
            <a:spLocks noGrp="1"/>
          </p:cNvSpPr>
          <p:nvPr>
            <p:ph type="title"/>
          </p:nvPr>
        </p:nvSpPr>
        <p:spPr/>
        <p:txBody>
          <a:bodyPr>
            <a:normAutofit/>
          </a:bodyPr>
          <a:lstStyle/>
          <a:p>
            <a:r>
              <a:rPr lang="en-GB" sz="1800" dirty="0">
                <a:ea typeface="+mj-lt"/>
                <a:cs typeface="+mj-lt"/>
              </a:rPr>
              <a:t>Your first priority is to get 2-3 players with high S.R who have faced at least 500 </a:t>
            </a:r>
            <a:r>
              <a:rPr lang="en-GB" sz="1800" err="1">
                <a:ea typeface="+mj-lt"/>
                <a:cs typeface="+mj-lt"/>
              </a:rPr>
              <a:t>balls.And</a:t>
            </a:r>
            <a:r>
              <a:rPr lang="en-GB" sz="1800" dirty="0">
                <a:ea typeface="+mj-lt"/>
                <a:cs typeface="+mj-lt"/>
              </a:rPr>
              <a:t> to do that you have to make a list of 10 players you want to bid in the auction so that when you try to grab them in auction you should not pay the amount greater than you have in the purse for a particular player</a:t>
            </a:r>
            <a:endParaRPr lang="en-US" sz="1800" dirty="0"/>
          </a:p>
        </p:txBody>
      </p:sp>
      <p:pic>
        <p:nvPicPr>
          <p:cNvPr id="3" name="Picture 2" descr="A screenshot of a computer screen&#10;&#10;Description automatically generated">
            <a:extLst>
              <a:ext uri="{FF2B5EF4-FFF2-40B4-BE49-F238E27FC236}">
                <a16:creationId xmlns:a16="http://schemas.microsoft.com/office/drawing/2014/main" id="{A6ACB2EE-1BD3-AD4A-9A0E-2313099D1970}"/>
              </a:ext>
            </a:extLst>
          </p:cNvPr>
          <p:cNvPicPr>
            <a:picLocks noChangeAspect="1"/>
          </p:cNvPicPr>
          <p:nvPr/>
        </p:nvPicPr>
        <p:blipFill>
          <a:blip r:embed="rId2"/>
          <a:stretch>
            <a:fillRect/>
          </a:stretch>
        </p:blipFill>
        <p:spPr>
          <a:xfrm>
            <a:off x="-2426" y="2119313"/>
            <a:ext cx="5195079" cy="4732846"/>
          </a:xfrm>
          <a:prstGeom prst="rect">
            <a:avLst/>
          </a:prstGeom>
        </p:spPr>
      </p:pic>
      <p:pic>
        <p:nvPicPr>
          <p:cNvPr id="4" name="Picture 3" descr="A person with arms crossed&#10;&#10;Description automatically generated">
            <a:extLst>
              <a:ext uri="{FF2B5EF4-FFF2-40B4-BE49-F238E27FC236}">
                <a16:creationId xmlns:a16="http://schemas.microsoft.com/office/drawing/2014/main" id="{52392109-82E0-366F-A992-C5FECC716313}"/>
              </a:ext>
            </a:extLst>
          </p:cNvPr>
          <p:cNvPicPr>
            <a:picLocks noChangeAspect="1"/>
          </p:cNvPicPr>
          <p:nvPr/>
        </p:nvPicPr>
        <p:blipFill>
          <a:blip r:embed="rId3"/>
          <a:stretch>
            <a:fillRect/>
          </a:stretch>
        </p:blipFill>
        <p:spPr>
          <a:xfrm>
            <a:off x="6097887" y="2329762"/>
            <a:ext cx="2871697" cy="3176138"/>
          </a:xfrm>
          <a:prstGeom prst="rect">
            <a:avLst/>
          </a:prstGeom>
        </p:spPr>
      </p:pic>
      <p:pic>
        <p:nvPicPr>
          <p:cNvPr id="5" name="Picture 4" descr="A person with mohawk hair wearing a blue and yellow shirt&#10;&#10;Description automatically generated">
            <a:extLst>
              <a:ext uri="{FF2B5EF4-FFF2-40B4-BE49-F238E27FC236}">
                <a16:creationId xmlns:a16="http://schemas.microsoft.com/office/drawing/2014/main" id="{C53BEFAD-948B-B91B-4841-6BCE084727F3}"/>
              </a:ext>
            </a:extLst>
          </p:cNvPr>
          <p:cNvPicPr>
            <a:picLocks noChangeAspect="1"/>
          </p:cNvPicPr>
          <p:nvPr/>
        </p:nvPicPr>
        <p:blipFill>
          <a:blip r:embed="rId4"/>
          <a:stretch>
            <a:fillRect/>
          </a:stretch>
        </p:blipFill>
        <p:spPr>
          <a:xfrm>
            <a:off x="9343665" y="2181225"/>
            <a:ext cx="1901047" cy="1906078"/>
          </a:xfrm>
          <a:prstGeom prst="rect">
            <a:avLst/>
          </a:prstGeom>
        </p:spPr>
      </p:pic>
      <p:pic>
        <p:nvPicPr>
          <p:cNvPr id="6" name="Picture 5" descr="A person with a beard wearing a blue shirt&#10;&#10;Description automatically generated">
            <a:extLst>
              <a:ext uri="{FF2B5EF4-FFF2-40B4-BE49-F238E27FC236}">
                <a16:creationId xmlns:a16="http://schemas.microsoft.com/office/drawing/2014/main" id="{E21E03BD-BEA0-E7C2-DFA9-9827883B68D7}"/>
              </a:ext>
            </a:extLst>
          </p:cNvPr>
          <p:cNvPicPr>
            <a:picLocks noChangeAspect="1"/>
          </p:cNvPicPr>
          <p:nvPr/>
        </p:nvPicPr>
        <p:blipFill>
          <a:blip r:embed="rId5"/>
          <a:stretch>
            <a:fillRect/>
          </a:stretch>
        </p:blipFill>
        <p:spPr>
          <a:xfrm>
            <a:off x="9719543" y="4494901"/>
            <a:ext cx="1911290" cy="2052009"/>
          </a:xfrm>
          <a:prstGeom prst="rect">
            <a:avLst/>
          </a:prstGeom>
        </p:spPr>
      </p:pic>
    </p:spTree>
    <p:extLst>
      <p:ext uri="{BB962C8B-B14F-4D97-AF65-F5344CB8AC3E}">
        <p14:creationId xmlns:p14="http://schemas.microsoft.com/office/powerpoint/2010/main" val="2784732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243806F6-68CD-6695-4C01-A8C58F73C49B}"/>
              </a:ext>
            </a:extLst>
          </p:cNvPr>
          <p:cNvGraphicFramePr>
            <a:graphicFrameLocks/>
          </p:cNvGraphicFramePr>
          <p:nvPr>
            <p:extLst>
              <p:ext uri="{D42A27DB-BD31-4B8C-83A1-F6EECF244321}">
                <p14:modId xmlns:p14="http://schemas.microsoft.com/office/powerpoint/2010/main" val="2294661775"/>
              </p:ext>
            </p:extLst>
          </p:nvPr>
        </p:nvGraphicFramePr>
        <p:xfrm>
          <a:off x="1155581" y="193197"/>
          <a:ext cx="7920844" cy="607874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2316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099574-47D4-ED9A-B414-2DEB3CAECB38}"/>
              </a:ext>
            </a:extLst>
          </p:cNvPr>
          <p:cNvSpPr txBox="1"/>
          <p:nvPr/>
        </p:nvSpPr>
        <p:spPr>
          <a:xfrm>
            <a:off x="7312323" y="1719533"/>
            <a:ext cx="4885428" cy="4524315"/>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mn-lt"/>
                <a:cs typeface="+mn-lt"/>
              </a:rPr>
              <a:t>SELECT</a:t>
            </a:r>
          </a:p>
          <a:p>
            <a:r>
              <a:rPr lang="en-US" dirty="0">
                <a:solidFill>
                  <a:schemeClr val="bg1"/>
                </a:solidFill>
                <a:ea typeface="+mn-lt"/>
                <a:cs typeface="+mn-lt"/>
              </a:rPr>
              <a:t>  BATSMAN,</a:t>
            </a:r>
          </a:p>
          <a:p>
            <a:r>
              <a:rPr lang="en-US" dirty="0">
                <a:solidFill>
                  <a:schemeClr val="bg1"/>
                </a:solidFill>
                <a:ea typeface="+mn-lt"/>
                <a:cs typeface="+mn-lt"/>
              </a:rPr>
              <a:t>ROUND ((SUM(CASE WHEN EXTRAS_TYPE != '</a:t>
            </a:r>
            <a:r>
              <a:rPr lang="en-US" dirty="0" err="1">
                <a:solidFill>
                  <a:schemeClr val="bg1"/>
                </a:solidFill>
                <a:ea typeface="+mn-lt"/>
                <a:cs typeface="+mn-lt"/>
              </a:rPr>
              <a:t>wides</a:t>
            </a:r>
            <a:r>
              <a:rPr lang="en-US" dirty="0">
                <a:solidFill>
                  <a:schemeClr val="bg1"/>
                </a:solidFill>
                <a:ea typeface="+mn-lt"/>
                <a:cs typeface="+mn-lt"/>
              </a:rPr>
              <a:t>' THEN BATSMAN_RUNS ELSE 0 END)*1.0/</a:t>
            </a:r>
          </a:p>
          <a:p>
            <a:r>
              <a:rPr lang="en-US" dirty="0">
                <a:solidFill>
                  <a:schemeClr val="bg1"/>
                </a:solidFill>
                <a:ea typeface="+mn-lt"/>
                <a:cs typeface="+mn-lt"/>
              </a:rPr>
              <a:t>   SUM(CASE WHEN EXTRAS_TYPE != '</a:t>
            </a:r>
            <a:r>
              <a:rPr lang="en-US" dirty="0" err="1">
                <a:solidFill>
                  <a:schemeClr val="bg1"/>
                </a:solidFill>
                <a:ea typeface="+mn-lt"/>
                <a:cs typeface="+mn-lt"/>
              </a:rPr>
              <a:t>wides</a:t>
            </a:r>
            <a:r>
              <a:rPr lang="en-US" dirty="0">
                <a:solidFill>
                  <a:schemeClr val="bg1"/>
                </a:solidFill>
                <a:ea typeface="+mn-lt"/>
                <a:cs typeface="+mn-lt"/>
              </a:rPr>
              <a:t>' THEN 1 ELSE 0 END)) * 100,2) AS </a:t>
            </a:r>
            <a:r>
              <a:rPr lang="en-US" dirty="0" err="1">
                <a:solidFill>
                  <a:schemeClr val="bg1"/>
                </a:solidFill>
                <a:ea typeface="+mn-lt"/>
                <a:cs typeface="+mn-lt"/>
              </a:rPr>
              <a:t>strike_rate</a:t>
            </a:r>
            <a:endParaRPr lang="en-US" dirty="0">
              <a:solidFill>
                <a:schemeClr val="bg1"/>
              </a:solidFill>
              <a:ea typeface="+mn-lt"/>
              <a:cs typeface="+mn-lt"/>
            </a:endParaRPr>
          </a:p>
          <a:p>
            <a:r>
              <a:rPr lang="en-US" dirty="0">
                <a:solidFill>
                  <a:schemeClr val="bg1"/>
                </a:solidFill>
                <a:ea typeface="+mn-lt"/>
                <a:cs typeface="+mn-lt"/>
              </a:rPr>
              <a:t>FROM IPL_BALL</a:t>
            </a:r>
          </a:p>
          <a:p>
            <a:r>
              <a:rPr lang="en-US" dirty="0">
                <a:solidFill>
                  <a:schemeClr val="bg1"/>
                </a:solidFill>
                <a:ea typeface="+mn-lt"/>
                <a:cs typeface="+mn-lt"/>
              </a:rPr>
              <a:t>GROUP BY</a:t>
            </a:r>
          </a:p>
          <a:p>
            <a:r>
              <a:rPr lang="en-US" dirty="0">
                <a:solidFill>
                  <a:schemeClr val="bg1"/>
                </a:solidFill>
                <a:ea typeface="+mn-lt"/>
                <a:cs typeface="+mn-lt"/>
              </a:rPr>
              <a:t>  BATSMAN</a:t>
            </a:r>
          </a:p>
          <a:p>
            <a:r>
              <a:rPr lang="en-US" dirty="0">
                <a:solidFill>
                  <a:schemeClr val="bg1"/>
                </a:solidFill>
                <a:ea typeface="+mn-lt"/>
                <a:cs typeface="+mn-lt"/>
              </a:rPr>
              <a:t>HAVING</a:t>
            </a:r>
          </a:p>
          <a:p>
            <a:r>
              <a:rPr lang="en-US" dirty="0">
                <a:solidFill>
                  <a:schemeClr val="bg1"/>
                </a:solidFill>
                <a:ea typeface="+mn-lt"/>
                <a:cs typeface="+mn-lt"/>
              </a:rPr>
              <a:t>  SUM(CASE WHEN EXTRAS_TYPE != '</a:t>
            </a:r>
            <a:r>
              <a:rPr lang="en-US" dirty="0" err="1">
                <a:solidFill>
                  <a:schemeClr val="bg1"/>
                </a:solidFill>
                <a:ea typeface="+mn-lt"/>
                <a:cs typeface="+mn-lt"/>
              </a:rPr>
              <a:t>wides</a:t>
            </a:r>
            <a:r>
              <a:rPr lang="en-US" dirty="0">
                <a:solidFill>
                  <a:schemeClr val="bg1"/>
                </a:solidFill>
                <a:ea typeface="+mn-lt"/>
                <a:cs typeface="+mn-lt"/>
              </a:rPr>
              <a:t>' THEN 1 ELSE 0 END) &gt; 500</a:t>
            </a:r>
          </a:p>
          <a:p>
            <a:r>
              <a:rPr lang="en-US" dirty="0">
                <a:solidFill>
                  <a:schemeClr val="bg1"/>
                </a:solidFill>
                <a:ea typeface="+mn-lt"/>
                <a:cs typeface="+mn-lt"/>
              </a:rPr>
              <a:t>ORDER BY</a:t>
            </a:r>
          </a:p>
          <a:p>
            <a:r>
              <a:rPr lang="en-US" dirty="0">
                <a:solidFill>
                  <a:schemeClr val="bg1"/>
                </a:solidFill>
                <a:ea typeface="+mn-lt"/>
                <a:cs typeface="+mn-lt"/>
              </a:rPr>
              <a:t>  </a:t>
            </a:r>
            <a:r>
              <a:rPr lang="en-US" dirty="0" err="1">
                <a:solidFill>
                  <a:schemeClr val="bg1"/>
                </a:solidFill>
                <a:ea typeface="+mn-lt"/>
                <a:cs typeface="+mn-lt"/>
              </a:rPr>
              <a:t>strike_rate</a:t>
            </a:r>
            <a:r>
              <a:rPr lang="en-US" dirty="0">
                <a:solidFill>
                  <a:schemeClr val="bg1"/>
                </a:solidFill>
                <a:ea typeface="+mn-lt"/>
                <a:cs typeface="+mn-lt"/>
              </a:rPr>
              <a:t> DESC</a:t>
            </a:r>
          </a:p>
          <a:p>
            <a:r>
              <a:rPr lang="en-US" dirty="0">
                <a:solidFill>
                  <a:schemeClr val="bg1"/>
                </a:solidFill>
                <a:ea typeface="+mn-lt"/>
                <a:cs typeface="+mn-lt"/>
              </a:rPr>
              <a:t>LIMIT 10;</a:t>
            </a:r>
          </a:p>
        </p:txBody>
      </p:sp>
      <p:pic>
        <p:nvPicPr>
          <p:cNvPr id="5" name="Picture 4">
            <a:extLst>
              <a:ext uri="{FF2B5EF4-FFF2-40B4-BE49-F238E27FC236}">
                <a16:creationId xmlns:a16="http://schemas.microsoft.com/office/drawing/2014/main" id="{52E58AE5-8B01-F30D-661D-1D9E884BA3F6}"/>
              </a:ext>
            </a:extLst>
          </p:cNvPr>
          <p:cNvPicPr>
            <a:picLocks noChangeAspect="1"/>
          </p:cNvPicPr>
          <p:nvPr/>
        </p:nvPicPr>
        <p:blipFill>
          <a:blip r:embed="rId2"/>
          <a:stretch>
            <a:fillRect/>
          </a:stretch>
        </p:blipFill>
        <p:spPr>
          <a:xfrm>
            <a:off x="5302" y="191039"/>
            <a:ext cx="6732377" cy="4750638"/>
          </a:xfrm>
          <a:prstGeom prst="rect">
            <a:avLst/>
          </a:prstGeom>
        </p:spPr>
      </p:pic>
    </p:spTree>
    <p:extLst>
      <p:ext uri="{BB962C8B-B14F-4D97-AF65-F5344CB8AC3E}">
        <p14:creationId xmlns:p14="http://schemas.microsoft.com/office/powerpoint/2010/main" val="133367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DD070-B53C-7BB2-7B1A-3385180A9BA7}"/>
              </a:ext>
            </a:extLst>
          </p:cNvPr>
          <p:cNvSpPr>
            <a:spLocks noGrp="1"/>
          </p:cNvSpPr>
          <p:nvPr>
            <p:ph type="title"/>
          </p:nvPr>
        </p:nvSpPr>
        <p:spPr/>
        <p:txBody>
          <a:bodyPr>
            <a:normAutofit/>
          </a:bodyPr>
          <a:lstStyle/>
          <a:p>
            <a:r>
              <a:rPr lang="en-US" sz="1800" dirty="0">
                <a:ea typeface="+mj-lt"/>
                <a:cs typeface="+mj-lt"/>
              </a:rPr>
              <a:t>Now you need to get 2-3 players with good Average who have played more than 2 </a:t>
            </a:r>
            <a:r>
              <a:rPr lang="en-US" sz="1800" err="1">
                <a:ea typeface="+mj-lt"/>
                <a:cs typeface="+mj-lt"/>
              </a:rPr>
              <a:t>ipl</a:t>
            </a:r>
            <a:r>
              <a:rPr lang="en-US" sz="1800" dirty="0">
                <a:ea typeface="+mj-lt"/>
                <a:cs typeface="+mj-lt"/>
              </a:rPr>
              <a:t> seasons. And to do that you have to make a list of 10 players you want to bid in the auction so that when you try to grab them in auction you should not pay the amount greater than you have in the purse for a particular player.</a:t>
            </a:r>
            <a:endParaRPr lang="en-US" sz="1800"/>
          </a:p>
        </p:txBody>
      </p:sp>
      <p:pic>
        <p:nvPicPr>
          <p:cNvPr id="4" name="Picture 3" descr="A screenshot of a data output&#10;&#10;Description automatically generated">
            <a:extLst>
              <a:ext uri="{FF2B5EF4-FFF2-40B4-BE49-F238E27FC236}">
                <a16:creationId xmlns:a16="http://schemas.microsoft.com/office/drawing/2014/main" id="{A09099BE-CB49-E3AB-7D43-298E2093E893}"/>
              </a:ext>
            </a:extLst>
          </p:cNvPr>
          <p:cNvPicPr>
            <a:picLocks noChangeAspect="1"/>
          </p:cNvPicPr>
          <p:nvPr/>
        </p:nvPicPr>
        <p:blipFill rotWithShape="1">
          <a:blip r:embed="rId2"/>
          <a:srcRect t="17391" r="643" b="-544"/>
          <a:stretch/>
        </p:blipFill>
        <p:spPr>
          <a:xfrm>
            <a:off x="-359" y="2112663"/>
            <a:ext cx="4429017" cy="4750047"/>
          </a:xfrm>
          <a:prstGeom prst="rect">
            <a:avLst/>
          </a:prstGeom>
        </p:spPr>
      </p:pic>
      <p:pic>
        <p:nvPicPr>
          <p:cNvPr id="3" name="Picture 2" descr="A person throwing a ball&#10;&#10;Description automatically generated">
            <a:extLst>
              <a:ext uri="{FF2B5EF4-FFF2-40B4-BE49-F238E27FC236}">
                <a16:creationId xmlns:a16="http://schemas.microsoft.com/office/drawing/2014/main" id="{33FCE6BC-9D4C-24E5-C870-4813E67A4A27}"/>
              </a:ext>
            </a:extLst>
          </p:cNvPr>
          <p:cNvPicPr>
            <a:picLocks noChangeAspect="1"/>
          </p:cNvPicPr>
          <p:nvPr/>
        </p:nvPicPr>
        <p:blipFill>
          <a:blip r:embed="rId3"/>
          <a:stretch>
            <a:fillRect/>
          </a:stretch>
        </p:blipFill>
        <p:spPr>
          <a:xfrm>
            <a:off x="4940150" y="2108979"/>
            <a:ext cx="1837247" cy="2783816"/>
          </a:xfrm>
          <a:prstGeom prst="rect">
            <a:avLst/>
          </a:prstGeom>
        </p:spPr>
      </p:pic>
      <p:pic>
        <p:nvPicPr>
          <p:cNvPr id="5" name="Picture 4" descr="A person in a blue shirt&#10;&#10;Description automatically generated">
            <a:extLst>
              <a:ext uri="{FF2B5EF4-FFF2-40B4-BE49-F238E27FC236}">
                <a16:creationId xmlns:a16="http://schemas.microsoft.com/office/drawing/2014/main" id="{11FDF816-11ED-5737-318C-887EE3F6C6E1}"/>
              </a:ext>
            </a:extLst>
          </p:cNvPr>
          <p:cNvPicPr>
            <a:picLocks noChangeAspect="1"/>
          </p:cNvPicPr>
          <p:nvPr/>
        </p:nvPicPr>
        <p:blipFill>
          <a:blip r:embed="rId4"/>
          <a:stretch>
            <a:fillRect/>
          </a:stretch>
        </p:blipFill>
        <p:spPr>
          <a:xfrm>
            <a:off x="7495816" y="3838755"/>
            <a:ext cx="2002406" cy="2789207"/>
          </a:xfrm>
          <a:prstGeom prst="rect">
            <a:avLst/>
          </a:prstGeom>
        </p:spPr>
      </p:pic>
      <p:pic>
        <p:nvPicPr>
          <p:cNvPr id="6" name="Picture 5" descr="A person with his arms crossed&#10;&#10;Description automatically generated">
            <a:extLst>
              <a:ext uri="{FF2B5EF4-FFF2-40B4-BE49-F238E27FC236}">
                <a16:creationId xmlns:a16="http://schemas.microsoft.com/office/drawing/2014/main" id="{F952ED5C-123D-FE9E-3F30-B0B381562398}"/>
              </a:ext>
            </a:extLst>
          </p:cNvPr>
          <p:cNvPicPr>
            <a:picLocks noChangeAspect="1"/>
          </p:cNvPicPr>
          <p:nvPr/>
        </p:nvPicPr>
        <p:blipFill>
          <a:blip r:embed="rId5"/>
          <a:stretch>
            <a:fillRect/>
          </a:stretch>
        </p:blipFill>
        <p:spPr>
          <a:xfrm>
            <a:off x="9849030" y="2113292"/>
            <a:ext cx="2011751" cy="2228850"/>
          </a:xfrm>
          <a:prstGeom prst="rect">
            <a:avLst/>
          </a:prstGeom>
        </p:spPr>
      </p:pic>
    </p:spTree>
    <p:extLst>
      <p:ext uri="{BB962C8B-B14F-4D97-AF65-F5344CB8AC3E}">
        <p14:creationId xmlns:p14="http://schemas.microsoft.com/office/powerpoint/2010/main" val="1559265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7C2E47-3D60-BC3C-9556-EE2D665CAB00}"/>
              </a:ext>
            </a:extLst>
          </p:cNvPr>
          <p:cNvSpPr/>
          <p:nvPr/>
        </p:nvSpPr>
        <p:spPr>
          <a:xfrm>
            <a:off x="820788" y="282116"/>
            <a:ext cx="10581732" cy="64123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Chart 7">
            <a:extLst>
              <a:ext uri="{FF2B5EF4-FFF2-40B4-BE49-F238E27FC236}">
                <a16:creationId xmlns:a16="http://schemas.microsoft.com/office/drawing/2014/main" id="{71C86339-F44B-139F-E393-3DB47958E740}"/>
              </a:ext>
            </a:extLst>
          </p:cNvPr>
          <p:cNvGraphicFramePr>
            <a:graphicFrameLocks/>
          </p:cNvGraphicFramePr>
          <p:nvPr>
            <p:extLst>
              <p:ext uri="{D42A27DB-BD31-4B8C-83A1-F6EECF244321}">
                <p14:modId xmlns:p14="http://schemas.microsoft.com/office/powerpoint/2010/main" val="828953448"/>
              </p:ext>
            </p:extLst>
          </p:nvPr>
        </p:nvGraphicFramePr>
        <p:xfrm>
          <a:off x="2276475" y="1098970"/>
          <a:ext cx="7030528" cy="439659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87115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A109BE-1DED-4381-2269-528BE58A1CAD}"/>
              </a:ext>
            </a:extLst>
          </p:cNvPr>
          <p:cNvSpPr txBox="1"/>
          <p:nvPr/>
        </p:nvSpPr>
        <p:spPr>
          <a:xfrm>
            <a:off x="6090249" y="3430438"/>
            <a:ext cx="5949350" cy="3416320"/>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SELECT BATSMAN,</a:t>
            </a:r>
          </a:p>
          <a:p>
            <a:r>
              <a:rPr lang="en-US" dirty="0">
                <a:solidFill>
                  <a:schemeClr val="bg1"/>
                </a:solidFill>
              </a:rPr>
              <a:t>COUNT(DISTINCT EXTRACT(YEAR FROM MATCH_DATE)) AS seasons,</a:t>
            </a:r>
          </a:p>
          <a:p>
            <a:r>
              <a:rPr lang="en-US" dirty="0">
                <a:solidFill>
                  <a:schemeClr val="bg1"/>
                </a:solidFill>
              </a:rPr>
              <a:t>ROUND(SUM(BATSMAN_RUNS)*1.0/SUM(IS_WICKET),2) AS average</a:t>
            </a:r>
          </a:p>
          <a:p>
            <a:r>
              <a:rPr lang="en-US" dirty="0">
                <a:solidFill>
                  <a:schemeClr val="bg1"/>
                </a:solidFill>
              </a:rPr>
              <a:t>FROM DELIVERIES_V03</a:t>
            </a:r>
          </a:p>
          <a:p>
            <a:r>
              <a:rPr lang="en-US" dirty="0">
                <a:solidFill>
                  <a:schemeClr val="bg1"/>
                </a:solidFill>
              </a:rPr>
              <a:t>GROUP BY BATSMAN</a:t>
            </a:r>
          </a:p>
          <a:p>
            <a:r>
              <a:rPr lang="en-US" dirty="0">
                <a:solidFill>
                  <a:schemeClr val="bg1"/>
                </a:solidFill>
              </a:rPr>
              <a:t>HAVING SUM(IS_WICKET) &gt;=1 and</a:t>
            </a:r>
          </a:p>
          <a:p>
            <a:r>
              <a:rPr lang="en-US" dirty="0">
                <a:solidFill>
                  <a:schemeClr val="bg1"/>
                </a:solidFill>
              </a:rPr>
              <a:t>COUNT(DISTINCT EXTRACT(YEAR FROM MATCH_DATE)) &gt; 2</a:t>
            </a:r>
          </a:p>
          <a:p>
            <a:r>
              <a:rPr lang="en-US" dirty="0">
                <a:solidFill>
                  <a:schemeClr val="bg1"/>
                </a:solidFill>
              </a:rPr>
              <a:t>ORDER BY average DESC</a:t>
            </a:r>
          </a:p>
          <a:p>
            <a:r>
              <a:rPr lang="en-US" dirty="0">
                <a:solidFill>
                  <a:schemeClr val="bg1"/>
                </a:solidFill>
              </a:rPr>
              <a:t>LIMIT 10;</a:t>
            </a:r>
          </a:p>
        </p:txBody>
      </p:sp>
      <p:pic>
        <p:nvPicPr>
          <p:cNvPr id="4" name="Picture 3" descr="A white text with purple text&#10;&#10;Description automatically generated">
            <a:extLst>
              <a:ext uri="{FF2B5EF4-FFF2-40B4-BE49-F238E27FC236}">
                <a16:creationId xmlns:a16="http://schemas.microsoft.com/office/drawing/2014/main" id="{11732EB1-6C9A-1668-4E4F-4434AED5FD64}"/>
              </a:ext>
            </a:extLst>
          </p:cNvPr>
          <p:cNvPicPr>
            <a:picLocks noChangeAspect="1"/>
          </p:cNvPicPr>
          <p:nvPr/>
        </p:nvPicPr>
        <p:blipFill>
          <a:blip r:embed="rId2"/>
          <a:stretch>
            <a:fillRect/>
          </a:stretch>
        </p:blipFill>
        <p:spPr>
          <a:xfrm>
            <a:off x="-3594" y="3145"/>
            <a:ext cx="7368396" cy="3286125"/>
          </a:xfrm>
          <a:prstGeom prst="rect">
            <a:avLst/>
          </a:prstGeom>
        </p:spPr>
      </p:pic>
    </p:spTree>
    <p:extLst>
      <p:ext uri="{BB962C8B-B14F-4D97-AF65-F5344CB8AC3E}">
        <p14:creationId xmlns:p14="http://schemas.microsoft.com/office/powerpoint/2010/main" val="339453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86332-E3B7-5462-A527-40FB6DC52CD0}"/>
              </a:ext>
            </a:extLst>
          </p:cNvPr>
          <p:cNvSpPr>
            <a:spLocks noGrp="1"/>
          </p:cNvSpPr>
          <p:nvPr>
            <p:ph type="title"/>
          </p:nvPr>
        </p:nvSpPr>
        <p:spPr/>
        <p:txBody>
          <a:bodyPr>
            <a:normAutofit/>
          </a:bodyPr>
          <a:lstStyle/>
          <a:p>
            <a:r>
              <a:rPr lang="en-US" sz="1800" dirty="0">
                <a:ea typeface="+mj-lt"/>
                <a:cs typeface="+mj-lt"/>
              </a:rPr>
              <a:t>Now you need to get 2-3 Hard-hitting players who have scored most runs in boundaries and have played more the 2 </a:t>
            </a:r>
            <a:r>
              <a:rPr lang="en-US" sz="1800" err="1">
                <a:ea typeface="+mj-lt"/>
                <a:cs typeface="+mj-lt"/>
              </a:rPr>
              <a:t>ipl</a:t>
            </a:r>
            <a:r>
              <a:rPr lang="en-US" sz="1800" dirty="0">
                <a:ea typeface="+mj-lt"/>
                <a:cs typeface="+mj-lt"/>
              </a:rPr>
              <a:t> season. To do that you have to make a list of 10 players you want to bid in the auction so that when you try to grab them in auction you should not pay the amount greater than you have in the purse for a particular player.</a:t>
            </a:r>
            <a:endParaRPr lang="en-US" sz="1800"/>
          </a:p>
        </p:txBody>
      </p:sp>
      <p:pic>
        <p:nvPicPr>
          <p:cNvPr id="3" name="Picture 2" descr="A screenshot of a computer&#10;&#10;Description automatically generated">
            <a:extLst>
              <a:ext uri="{FF2B5EF4-FFF2-40B4-BE49-F238E27FC236}">
                <a16:creationId xmlns:a16="http://schemas.microsoft.com/office/drawing/2014/main" id="{12C84867-19A5-8D54-6140-761C9BD58721}"/>
              </a:ext>
            </a:extLst>
          </p:cNvPr>
          <p:cNvPicPr>
            <a:picLocks noChangeAspect="1"/>
          </p:cNvPicPr>
          <p:nvPr/>
        </p:nvPicPr>
        <p:blipFill rotWithShape="1">
          <a:blip r:embed="rId2"/>
          <a:srcRect t="9627" r="327" b="-311"/>
          <a:stretch/>
        </p:blipFill>
        <p:spPr>
          <a:xfrm>
            <a:off x="674568" y="2048325"/>
            <a:ext cx="4373097" cy="4802855"/>
          </a:xfrm>
          <a:prstGeom prst="rect">
            <a:avLst/>
          </a:prstGeom>
        </p:spPr>
      </p:pic>
      <p:pic>
        <p:nvPicPr>
          <p:cNvPr id="9" name="Picture 8" descr="A person with arms crossed&#10;&#10;Description automatically generated">
            <a:extLst>
              <a:ext uri="{FF2B5EF4-FFF2-40B4-BE49-F238E27FC236}">
                <a16:creationId xmlns:a16="http://schemas.microsoft.com/office/drawing/2014/main" id="{3D15BF9B-15F4-0F24-8AB4-4F09A2D2AB28}"/>
              </a:ext>
            </a:extLst>
          </p:cNvPr>
          <p:cNvPicPr>
            <a:picLocks noChangeAspect="1"/>
          </p:cNvPicPr>
          <p:nvPr/>
        </p:nvPicPr>
        <p:blipFill>
          <a:blip r:embed="rId3"/>
          <a:stretch>
            <a:fillRect/>
          </a:stretch>
        </p:blipFill>
        <p:spPr>
          <a:xfrm>
            <a:off x="5321510" y="2200366"/>
            <a:ext cx="2167207" cy="2471649"/>
          </a:xfrm>
          <a:prstGeom prst="rect">
            <a:avLst/>
          </a:prstGeom>
        </p:spPr>
      </p:pic>
      <p:pic>
        <p:nvPicPr>
          <p:cNvPr id="11" name="Picture 10" descr="A person with mohawk hair wearing a blue and yellow shirt&#10;&#10;Description automatically generated">
            <a:extLst>
              <a:ext uri="{FF2B5EF4-FFF2-40B4-BE49-F238E27FC236}">
                <a16:creationId xmlns:a16="http://schemas.microsoft.com/office/drawing/2014/main" id="{3C5543D2-AD3C-E199-18A8-AD9780807B1D}"/>
              </a:ext>
            </a:extLst>
          </p:cNvPr>
          <p:cNvPicPr>
            <a:picLocks noChangeAspect="1"/>
          </p:cNvPicPr>
          <p:nvPr/>
        </p:nvPicPr>
        <p:blipFill>
          <a:blip r:embed="rId4"/>
          <a:stretch>
            <a:fillRect/>
          </a:stretch>
        </p:blipFill>
        <p:spPr>
          <a:xfrm>
            <a:off x="9890004" y="2051828"/>
            <a:ext cx="2174216" cy="2481172"/>
          </a:xfrm>
          <a:prstGeom prst="rect">
            <a:avLst/>
          </a:prstGeom>
        </p:spPr>
      </p:pic>
      <p:pic>
        <p:nvPicPr>
          <p:cNvPr id="12" name="Picture 11" descr="A person with arms crossed&#10;&#10;Description automatically generated">
            <a:extLst>
              <a:ext uri="{FF2B5EF4-FFF2-40B4-BE49-F238E27FC236}">
                <a16:creationId xmlns:a16="http://schemas.microsoft.com/office/drawing/2014/main" id="{BB4B17B1-837E-F403-B604-555875399ACF}"/>
              </a:ext>
            </a:extLst>
          </p:cNvPr>
          <p:cNvPicPr>
            <a:picLocks noChangeAspect="1"/>
          </p:cNvPicPr>
          <p:nvPr/>
        </p:nvPicPr>
        <p:blipFill>
          <a:blip r:embed="rId5"/>
          <a:stretch>
            <a:fillRect/>
          </a:stretch>
        </p:blipFill>
        <p:spPr>
          <a:xfrm>
            <a:off x="7497613" y="3969679"/>
            <a:ext cx="2228850" cy="2771775"/>
          </a:xfrm>
          <a:prstGeom prst="rect">
            <a:avLst/>
          </a:prstGeom>
        </p:spPr>
      </p:pic>
    </p:spTree>
    <p:extLst>
      <p:ext uri="{BB962C8B-B14F-4D97-AF65-F5344CB8AC3E}">
        <p14:creationId xmlns:p14="http://schemas.microsoft.com/office/powerpoint/2010/main" val="4131971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F07745-D943-46DF-AB69-FA455CE428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5"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72A2E17-3305-4404-A0DA-5CC3BDAFE0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hart 1">
            <a:extLst>
              <a:ext uri="{FF2B5EF4-FFF2-40B4-BE49-F238E27FC236}">
                <a16:creationId xmlns:a16="http://schemas.microsoft.com/office/drawing/2014/main" id="{B29DC641-4598-3E9D-9643-83799059C155}"/>
              </a:ext>
            </a:extLst>
          </p:cNvPr>
          <p:cNvGraphicFramePr>
            <a:graphicFrameLocks/>
          </p:cNvGraphicFramePr>
          <p:nvPr>
            <p:extLst>
              <p:ext uri="{D42A27DB-BD31-4B8C-83A1-F6EECF244321}">
                <p14:modId xmlns:p14="http://schemas.microsoft.com/office/powerpoint/2010/main" val="3498633033"/>
              </p:ext>
            </p:extLst>
          </p:nvPr>
        </p:nvGraphicFramePr>
        <p:xfrm>
          <a:off x="634277" y="609600"/>
          <a:ext cx="10914256" cy="56049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93386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E1F39-77EA-01DF-7BF6-E43213A32F61}"/>
              </a:ext>
            </a:extLst>
          </p:cNvPr>
          <p:cNvSpPr txBox="1"/>
          <p:nvPr/>
        </p:nvSpPr>
        <p:spPr>
          <a:xfrm>
            <a:off x="6392174" y="2567796"/>
            <a:ext cx="5805577" cy="4247317"/>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SELECT </a:t>
            </a:r>
            <a:r>
              <a:rPr lang="en-US" err="1">
                <a:solidFill>
                  <a:schemeClr val="bg1"/>
                </a:solidFill>
              </a:rPr>
              <a:t>a.BATSMAN</a:t>
            </a:r>
            <a:r>
              <a:rPr lang="en-US" dirty="0">
                <a:solidFill>
                  <a:schemeClr val="bg1"/>
                </a:solidFill>
              </a:rPr>
              <a:t>,</a:t>
            </a:r>
          </a:p>
          <a:p>
            <a:r>
              <a:rPr lang="en-US" dirty="0">
                <a:solidFill>
                  <a:schemeClr val="bg1"/>
                </a:solidFill>
              </a:rPr>
              <a:t>(</a:t>
            </a:r>
            <a:r>
              <a:rPr lang="en-US" err="1">
                <a:solidFill>
                  <a:schemeClr val="bg1"/>
                </a:solidFill>
              </a:rPr>
              <a:t>b.BOUNDARY_RUNS</a:t>
            </a:r>
            <a:r>
              <a:rPr lang="en-US" dirty="0">
                <a:solidFill>
                  <a:schemeClr val="bg1"/>
                </a:solidFill>
              </a:rPr>
              <a:t>*100/sum(</a:t>
            </a:r>
            <a:r>
              <a:rPr lang="en-US" err="1">
                <a:solidFill>
                  <a:schemeClr val="bg1"/>
                </a:solidFill>
              </a:rPr>
              <a:t>a.BATSMAN_RUNS</a:t>
            </a:r>
            <a:r>
              <a:rPr lang="en-US" dirty="0">
                <a:solidFill>
                  <a:schemeClr val="bg1"/>
                </a:solidFill>
              </a:rPr>
              <a:t>)) as </a:t>
            </a:r>
            <a:r>
              <a:rPr lang="en-US" err="1">
                <a:solidFill>
                  <a:schemeClr val="bg1"/>
                </a:solidFill>
              </a:rPr>
              <a:t>boundary_percent</a:t>
            </a:r>
            <a:endParaRPr lang="en-US">
              <a:solidFill>
                <a:schemeClr val="bg1"/>
              </a:solidFill>
            </a:endParaRPr>
          </a:p>
          <a:p>
            <a:r>
              <a:rPr lang="en-US" dirty="0">
                <a:solidFill>
                  <a:schemeClr val="bg1"/>
                </a:solidFill>
              </a:rPr>
              <a:t>FROM DELIVERIES_V03 AS a</a:t>
            </a:r>
          </a:p>
          <a:p>
            <a:r>
              <a:rPr lang="en-US" dirty="0">
                <a:solidFill>
                  <a:schemeClr val="bg1"/>
                </a:solidFill>
              </a:rPr>
              <a:t>INNER JOIN</a:t>
            </a:r>
          </a:p>
          <a:p>
            <a:r>
              <a:rPr lang="en-US" dirty="0">
                <a:solidFill>
                  <a:schemeClr val="bg1"/>
                </a:solidFill>
              </a:rPr>
              <a:t>(SELECT </a:t>
            </a:r>
            <a:r>
              <a:rPr lang="en-US" err="1">
                <a:solidFill>
                  <a:schemeClr val="bg1"/>
                </a:solidFill>
              </a:rPr>
              <a:t>a.BATSMAN,SUM</a:t>
            </a:r>
            <a:r>
              <a:rPr lang="en-US" dirty="0">
                <a:solidFill>
                  <a:schemeClr val="bg1"/>
                </a:solidFill>
              </a:rPr>
              <a:t>(</a:t>
            </a:r>
            <a:r>
              <a:rPr lang="en-US" err="1">
                <a:solidFill>
                  <a:schemeClr val="bg1"/>
                </a:solidFill>
              </a:rPr>
              <a:t>a.BATSMAN_RUNS</a:t>
            </a:r>
            <a:r>
              <a:rPr lang="en-US" dirty="0">
                <a:solidFill>
                  <a:schemeClr val="bg1"/>
                </a:solidFill>
              </a:rPr>
              <a:t>) as </a:t>
            </a:r>
            <a:r>
              <a:rPr lang="en-US" err="1">
                <a:solidFill>
                  <a:schemeClr val="bg1"/>
                </a:solidFill>
              </a:rPr>
              <a:t>boundary_runs</a:t>
            </a:r>
            <a:r>
              <a:rPr lang="en-US" dirty="0">
                <a:solidFill>
                  <a:schemeClr val="bg1"/>
                </a:solidFill>
              </a:rPr>
              <a:t> from DELIVERIES_V03 AS a</a:t>
            </a:r>
          </a:p>
          <a:p>
            <a:r>
              <a:rPr lang="en-US" dirty="0">
                <a:solidFill>
                  <a:schemeClr val="bg1"/>
                </a:solidFill>
              </a:rPr>
              <a:t>WHERE </a:t>
            </a:r>
            <a:r>
              <a:rPr lang="en-US" err="1">
                <a:solidFill>
                  <a:schemeClr val="bg1"/>
                </a:solidFill>
              </a:rPr>
              <a:t>a.BATSMAN_RUNS</a:t>
            </a:r>
            <a:r>
              <a:rPr lang="en-US" dirty="0">
                <a:solidFill>
                  <a:schemeClr val="bg1"/>
                </a:solidFill>
              </a:rPr>
              <a:t>=4 or </a:t>
            </a:r>
            <a:r>
              <a:rPr lang="en-US" err="1">
                <a:solidFill>
                  <a:schemeClr val="bg1"/>
                </a:solidFill>
              </a:rPr>
              <a:t>a.BATSMAN_RUNS</a:t>
            </a:r>
            <a:r>
              <a:rPr lang="en-US" dirty="0">
                <a:solidFill>
                  <a:schemeClr val="bg1"/>
                </a:solidFill>
              </a:rPr>
              <a:t>=6</a:t>
            </a:r>
          </a:p>
          <a:p>
            <a:r>
              <a:rPr lang="en-US" dirty="0">
                <a:solidFill>
                  <a:schemeClr val="bg1"/>
                </a:solidFill>
              </a:rPr>
              <a:t>GROUP BY </a:t>
            </a:r>
            <a:r>
              <a:rPr lang="en-US" err="1">
                <a:solidFill>
                  <a:schemeClr val="bg1"/>
                </a:solidFill>
              </a:rPr>
              <a:t>a.BATSMAN</a:t>
            </a:r>
            <a:r>
              <a:rPr lang="en-US" dirty="0">
                <a:solidFill>
                  <a:schemeClr val="bg1"/>
                </a:solidFill>
              </a:rPr>
              <a:t>) AS b</a:t>
            </a:r>
          </a:p>
          <a:p>
            <a:r>
              <a:rPr lang="en-US" dirty="0">
                <a:solidFill>
                  <a:schemeClr val="bg1"/>
                </a:solidFill>
              </a:rPr>
              <a:t>ON </a:t>
            </a:r>
            <a:r>
              <a:rPr lang="en-US" err="1">
                <a:solidFill>
                  <a:schemeClr val="bg1"/>
                </a:solidFill>
              </a:rPr>
              <a:t>a.BATSMAN</a:t>
            </a:r>
            <a:r>
              <a:rPr lang="en-US" dirty="0">
                <a:solidFill>
                  <a:schemeClr val="bg1"/>
                </a:solidFill>
              </a:rPr>
              <a:t>=</a:t>
            </a:r>
            <a:r>
              <a:rPr lang="en-US" err="1">
                <a:solidFill>
                  <a:schemeClr val="bg1"/>
                </a:solidFill>
              </a:rPr>
              <a:t>b.BATSMAN</a:t>
            </a:r>
            <a:endParaRPr lang="en-US">
              <a:solidFill>
                <a:schemeClr val="bg1"/>
              </a:solidFill>
            </a:endParaRPr>
          </a:p>
          <a:p>
            <a:r>
              <a:rPr lang="en-US" dirty="0">
                <a:solidFill>
                  <a:schemeClr val="bg1"/>
                </a:solidFill>
              </a:rPr>
              <a:t>GROUP BY </a:t>
            </a:r>
            <a:r>
              <a:rPr lang="en-US" err="1">
                <a:solidFill>
                  <a:schemeClr val="bg1"/>
                </a:solidFill>
              </a:rPr>
              <a:t>a.batsman,b.boundary_runs</a:t>
            </a:r>
            <a:endParaRPr lang="en-US">
              <a:solidFill>
                <a:schemeClr val="bg1"/>
              </a:solidFill>
            </a:endParaRPr>
          </a:p>
          <a:p>
            <a:r>
              <a:rPr lang="en-US" dirty="0">
                <a:solidFill>
                  <a:schemeClr val="bg1"/>
                </a:solidFill>
              </a:rPr>
              <a:t>HAVING COUNT(DISTINCT EXTRACT(YEAR FROM MATCH_DATE)) &gt; 2</a:t>
            </a:r>
          </a:p>
          <a:p>
            <a:r>
              <a:rPr lang="en-US" dirty="0">
                <a:solidFill>
                  <a:schemeClr val="bg1"/>
                </a:solidFill>
              </a:rPr>
              <a:t>ORDER BY </a:t>
            </a:r>
            <a:r>
              <a:rPr lang="en-US" err="1">
                <a:solidFill>
                  <a:schemeClr val="bg1"/>
                </a:solidFill>
              </a:rPr>
              <a:t>boundary_percent</a:t>
            </a:r>
            <a:r>
              <a:rPr lang="en-US" dirty="0">
                <a:solidFill>
                  <a:schemeClr val="bg1"/>
                </a:solidFill>
              </a:rPr>
              <a:t> DESC</a:t>
            </a:r>
          </a:p>
          <a:p>
            <a:r>
              <a:rPr lang="en-US" dirty="0">
                <a:solidFill>
                  <a:schemeClr val="bg1"/>
                </a:solidFill>
              </a:rPr>
              <a:t>LIMIT 10;</a:t>
            </a:r>
          </a:p>
        </p:txBody>
      </p:sp>
      <p:pic>
        <p:nvPicPr>
          <p:cNvPr id="3" name="Picture 2">
            <a:extLst>
              <a:ext uri="{FF2B5EF4-FFF2-40B4-BE49-F238E27FC236}">
                <a16:creationId xmlns:a16="http://schemas.microsoft.com/office/drawing/2014/main" id="{11C17576-7E2D-3392-6430-87E822F0D406}"/>
              </a:ext>
            </a:extLst>
          </p:cNvPr>
          <p:cNvPicPr>
            <a:picLocks noChangeAspect="1"/>
          </p:cNvPicPr>
          <p:nvPr/>
        </p:nvPicPr>
        <p:blipFill>
          <a:blip r:embed="rId2"/>
          <a:stretch>
            <a:fillRect/>
          </a:stretch>
        </p:blipFill>
        <p:spPr>
          <a:xfrm>
            <a:off x="-4044" y="134608"/>
            <a:ext cx="6089709" cy="4043991"/>
          </a:xfrm>
          <a:prstGeom prst="rect">
            <a:avLst/>
          </a:prstGeom>
        </p:spPr>
      </p:pic>
    </p:spTree>
    <p:extLst>
      <p:ext uri="{BB962C8B-B14F-4D97-AF65-F5344CB8AC3E}">
        <p14:creationId xmlns:p14="http://schemas.microsoft.com/office/powerpoint/2010/main" val="153329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F84762E-7FCC-4EAF-B9E7-CE7214491E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927A1389-2A5D-4886-AD82-F213767E67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8207"/>
            <a:ext cx="12192000" cy="6858000"/>
          </a:xfrm>
          <a:prstGeom prst="rect">
            <a:avLst/>
          </a:prstGeom>
        </p:spPr>
      </p:pic>
      <p:sp>
        <p:nvSpPr>
          <p:cNvPr id="14" name="Rectangle 13">
            <a:extLst>
              <a:ext uri="{FF2B5EF4-FFF2-40B4-BE49-F238E27FC236}">
                <a16:creationId xmlns:a16="http://schemas.microsoft.com/office/drawing/2014/main" id="{A1038667-0C3F-4764-A24D-DA9D9B4748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6AC2195B-895A-4535-8ECD-9F5B669C5CA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 y="5006045"/>
            <a:ext cx="4965192" cy="144049"/>
          </a:xfrm>
          <a:prstGeom prst="rect">
            <a:avLst/>
          </a:prstGeom>
        </p:spPr>
      </p:pic>
      <p:sp>
        <p:nvSpPr>
          <p:cNvPr id="18" name="Rectangle 17">
            <a:extLst>
              <a:ext uri="{FF2B5EF4-FFF2-40B4-BE49-F238E27FC236}">
                <a16:creationId xmlns:a16="http://schemas.microsoft.com/office/drawing/2014/main" id="{571EEFCA-9235-4BC2-85C3-A4EC6EE57A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1527290-BD7D-6EB4-8DC6-501E01C55915}"/>
              </a:ext>
            </a:extLst>
          </p:cNvPr>
          <p:cNvSpPr>
            <a:spLocks noGrp="1"/>
          </p:cNvSpPr>
          <p:nvPr>
            <p:ph type="ctrTitle"/>
          </p:nvPr>
        </p:nvSpPr>
        <p:spPr>
          <a:xfrm>
            <a:off x="680322" y="2063262"/>
            <a:ext cx="3739278" cy="2661138"/>
          </a:xfrm>
        </p:spPr>
        <p:txBody>
          <a:bodyPr anchor="ctr">
            <a:normAutofit/>
          </a:bodyPr>
          <a:lstStyle/>
          <a:p>
            <a:r>
              <a:rPr lang="en-GB" dirty="0"/>
              <a:t>BIDDING ON BOWLERS</a:t>
            </a:r>
          </a:p>
        </p:txBody>
      </p:sp>
      <p:pic>
        <p:nvPicPr>
          <p:cNvPr id="5" name="Picture 4" descr="A silhouette of a person throwing a ball&#10;&#10;Description automatically generated">
            <a:extLst>
              <a:ext uri="{FF2B5EF4-FFF2-40B4-BE49-F238E27FC236}">
                <a16:creationId xmlns:a16="http://schemas.microsoft.com/office/drawing/2014/main" id="{5BD85F4D-7BED-269F-8E57-69C4CCFA21BF}"/>
              </a:ext>
            </a:extLst>
          </p:cNvPr>
          <p:cNvPicPr>
            <a:picLocks noChangeAspect="1"/>
          </p:cNvPicPr>
          <p:nvPr/>
        </p:nvPicPr>
        <p:blipFill>
          <a:blip r:embed="rId4"/>
          <a:stretch>
            <a:fillRect/>
          </a:stretch>
        </p:blipFill>
        <p:spPr>
          <a:xfrm>
            <a:off x="6207192" y="640080"/>
            <a:ext cx="4415790" cy="5577840"/>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2564924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85155-C6BA-3A5B-A72D-AA1F27B6824A}"/>
              </a:ext>
            </a:extLst>
          </p:cNvPr>
          <p:cNvSpPr>
            <a:spLocks noGrp="1"/>
          </p:cNvSpPr>
          <p:nvPr>
            <p:ph type="title"/>
          </p:nvPr>
        </p:nvSpPr>
        <p:spPr/>
        <p:txBody>
          <a:bodyPr>
            <a:normAutofit/>
          </a:bodyPr>
          <a:lstStyle/>
          <a:p>
            <a:r>
              <a:rPr lang="en-GB" sz="1800" dirty="0">
                <a:ea typeface="+mj-lt"/>
                <a:cs typeface="+mj-lt"/>
              </a:rPr>
              <a:t>Your first priority is to get 2-3 bowlers with good economy who have bowled at least 500 balls in IPL so </a:t>
            </a:r>
            <a:r>
              <a:rPr lang="en-GB" sz="1800" err="1">
                <a:ea typeface="+mj-lt"/>
                <a:cs typeface="+mj-lt"/>
              </a:rPr>
              <a:t>far.To</a:t>
            </a:r>
            <a:r>
              <a:rPr lang="en-GB" sz="1800" dirty="0">
                <a:ea typeface="+mj-lt"/>
                <a:cs typeface="+mj-lt"/>
              </a:rPr>
              <a:t> do that you have to make a list of 10 players you want to bid in the auction so that when you try to grab them in auction you should not pay the amount greater than you have in the purse for a particular player.</a:t>
            </a:r>
            <a:endParaRPr lang="en-US" sz="1800"/>
          </a:p>
        </p:txBody>
      </p:sp>
      <p:pic>
        <p:nvPicPr>
          <p:cNvPr id="3" name="Picture 2" descr="A screenshot of a computer screen&#10;&#10;Description automatically generated">
            <a:extLst>
              <a:ext uri="{FF2B5EF4-FFF2-40B4-BE49-F238E27FC236}">
                <a16:creationId xmlns:a16="http://schemas.microsoft.com/office/drawing/2014/main" id="{93B5C429-E10F-5D86-5D77-99CFEF9A31DE}"/>
              </a:ext>
            </a:extLst>
          </p:cNvPr>
          <p:cNvPicPr>
            <a:picLocks noChangeAspect="1"/>
          </p:cNvPicPr>
          <p:nvPr/>
        </p:nvPicPr>
        <p:blipFill>
          <a:blip r:embed="rId2"/>
          <a:stretch>
            <a:fillRect/>
          </a:stretch>
        </p:blipFill>
        <p:spPr>
          <a:xfrm>
            <a:off x="199666" y="2128838"/>
            <a:ext cx="4546480" cy="4584400"/>
          </a:xfrm>
          <a:prstGeom prst="rect">
            <a:avLst/>
          </a:prstGeom>
        </p:spPr>
      </p:pic>
      <p:pic>
        <p:nvPicPr>
          <p:cNvPr id="4" name="Picture 3" descr="A person wearing a red hat&#10;&#10;Description automatically generated">
            <a:extLst>
              <a:ext uri="{FF2B5EF4-FFF2-40B4-BE49-F238E27FC236}">
                <a16:creationId xmlns:a16="http://schemas.microsoft.com/office/drawing/2014/main" id="{0F6CCD2E-AD39-9043-950B-AE279584913A}"/>
              </a:ext>
            </a:extLst>
          </p:cNvPr>
          <p:cNvPicPr>
            <a:picLocks noChangeAspect="1"/>
          </p:cNvPicPr>
          <p:nvPr/>
        </p:nvPicPr>
        <p:blipFill>
          <a:blip r:embed="rId3"/>
          <a:stretch>
            <a:fillRect/>
          </a:stretch>
        </p:blipFill>
        <p:spPr>
          <a:xfrm>
            <a:off x="5123192" y="2130186"/>
            <a:ext cx="2190031" cy="2525741"/>
          </a:xfrm>
          <a:prstGeom prst="rect">
            <a:avLst/>
          </a:prstGeom>
        </p:spPr>
      </p:pic>
      <p:pic>
        <p:nvPicPr>
          <p:cNvPr id="5" name="Picture 4" descr="A person holding a trophy&#10;&#10;Description automatically generated">
            <a:extLst>
              <a:ext uri="{FF2B5EF4-FFF2-40B4-BE49-F238E27FC236}">
                <a16:creationId xmlns:a16="http://schemas.microsoft.com/office/drawing/2014/main" id="{338704B4-A584-228E-6A78-C5155FDC8DFD}"/>
              </a:ext>
            </a:extLst>
          </p:cNvPr>
          <p:cNvPicPr>
            <a:picLocks noChangeAspect="1"/>
          </p:cNvPicPr>
          <p:nvPr/>
        </p:nvPicPr>
        <p:blipFill>
          <a:blip r:embed="rId4"/>
          <a:stretch>
            <a:fillRect/>
          </a:stretch>
        </p:blipFill>
        <p:spPr>
          <a:xfrm>
            <a:off x="9790980" y="1976527"/>
            <a:ext cx="2199737" cy="2229210"/>
          </a:xfrm>
          <a:prstGeom prst="rect">
            <a:avLst/>
          </a:prstGeom>
        </p:spPr>
      </p:pic>
      <p:pic>
        <p:nvPicPr>
          <p:cNvPr id="6" name="Picture 5" descr="A person with his hand on his chin&#10;&#10;Description automatically generated">
            <a:extLst>
              <a:ext uri="{FF2B5EF4-FFF2-40B4-BE49-F238E27FC236}">
                <a16:creationId xmlns:a16="http://schemas.microsoft.com/office/drawing/2014/main" id="{208758A1-FD21-61EA-6062-18292860E620}"/>
              </a:ext>
            </a:extLst>
          </p:cNvPr>
          <p:cNvPicPr>
            <a:picLocks noChangeAspect="1"/>
          </p:cNvPicPr>
          <p:nvPr/>
        </p:nvPicPr>
        <p:blipFill>
          <a:blip r:embed="rId5"/>
          <a:stretch>
            <a:fillRect/>
          </a:stretch>
        </p:blipFill>
        <p:spPr>
          <a:xfrm>
            <a:off x="7450706" y="4366135"/>
            <a:ext cx="2552700" cy="2352675"/>
          </a:xfrm>
          <a:prstGeom prst="rect">
            <a:avLst/>
          </a:prstGeom>
        </p:spPr>
      </p:pic>
    </p:spTree>
    <p:extLst>
      <p:ext uri="{BB962C8B-B14F-4D97-AF65-F5344CB8AC3E}">
        <p14:creationId xmlns:p14="http://schemas.microsoft.com/office/powerpoint/2010/main" val="3333274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134BFCB-373A-440C-A076-F874F5F22C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705D511C-3CFA-4D05-A290-5674D6D1DFF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8" name="Rectangle 17">
            <a:extLst>
              <a:ext uri="{FF2B5EF4-FFF2-40B4-BE49-F238E27FC236}">
                <a16:creationId xmlns:a16="http://schemas.microsoft.com/office/drawing/2014/main" id="{669D87E5-1B49-46CB-A366-E4BCB4B19B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280609" cy="6214533"/>
          </a:xfrm>
          <a:prstGeom prst="rect">
            <a:avLst/>
          </a:prstGeom>
          <a:solidFill>
            <a:srgbClr val="FFFFFF"/>
          </a:solidFill>
          <a:ln>
            <a:noFill/>
          </a:ln>
          <a:effectLst>
            <a:outerShdw blurRad="76200" dist="63500" dir="5040000" algn="ctr" rotWithShape="0">
              <a:srgbClr val="000000">
                <a:alpha val="4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CED3C9-6B93-4623-B2C9-EDECE2B423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4846335"/>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6" name="Picture 15">
            <a:extLst>
              <a:ext uri="{FF2B5EF4-FFF2-40B4-BE49-F238E27FC236}">
                <a16:creationId xmlns:a16="http://schemas.microsoft.com/office/drawing/2014/main" id="{0C8DA627-0DBB-4595-982F-5BE763E2036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0585825" y="6224378"/>
            <a:ext cx="1602997" cy="144270"/>
          </a:xfrm>
          <a:prstGeom prst="rect">
            <a:avLst/>
          </a:prstGeom>
        </p:spPr>
      </p:pic>
      <p:graphicFrame>
        <p:nvGraphicFramePr>
          <p:cNvPr id="3" name="Chart 2">
            <a:extLst>
              <a:ext uri="{FF2B5EF4-FFF2-40B4-BE49-F238E27FC236}">
                <a16:creationId xmlns:a16="http://schemas.microsoft.com/office/drawing/2014/main" id="{0F63350B-E90F-C0D7-BDF6-1A4B64C92426}"/>
              </a:ext>
            </a:extLst>
          </p:cNvPr>
          <p:cNvGraphicFramePr>
            <a:graphicFrameLocks/>
          </p:cNvGraphicFramePr>
          <p:nvPr>
            <p:extLst>
              <p:ext uri="{D42A27DB-BD31-4B8C-83A1-F6EECF244321}">
                <p14:modId xmlns:p14="http://schemas.microsoft.com/office/powerpoint/2010/main" val="1791179489"/>
              </p:ext>
            </p:extLst>
          </p:nvPr>
        </p:nvGraphicFramePr>
        <p:xfrm>
          <a:off x="643467" y="643467"/>
          <a:ext cx="8992087" cy="492759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48707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up of a number&#10;&#10;Description automatically generated">
            <a:extLst>
              <a:ext uri="{FF2B5EF4-FFF2-40B4-BE49-F238E27FC236}">
                <a16:creationId xmlns:a16="http://schemas.microsoft.com/office/drawing/2014/main" id="{DD4FA9DE-A804-7B08-8530-11609CBEB04A}"/>
              </a:ext>
            </a:extLst>
          </p:cNvPr>
          <p:cNvPicPr>
            <a:picLocks noChangeAspect="1"/>
          </p:cNvPicPr>
          <p:nvPr/>
        </p:nvPicPr>
        <p:blipFill>
          <a:blip r:embed="rId2"/>
          <a:stretch>
            <a:fillRect/>
          </a:stretch>
        </p:blipFill>
        <p:spPr>
          <a:xfrm>
            <a:off x="120771" y="336970"/>
            <a:ext cx="6573327" cy="2733495"/>
          </a:xfrm>
          <a:prstGeom prst="rect">
            <a:avLst/>
          </a:prstGeom>
        </p:spPr>
      </p:pic>
      <p:sp>
        <p:nvSpPr>
          <p:cNvPr id="3" name="TextBox 2">
            <a:extLst>
              <a:ext uri="{FF2B5EF4-FFF2-40B4-BE49-F238E27FC236}">
                <a16:creationId xmlns:a16="http://schemas.microsoft.com/office/drawing/2014/main" id="{5708C468-2A75-FADF-4140-E1ED8504853F}"/>
              </a:ext>
            </a:extLst>
          </p:cNvPr>
          <p:cNvSpPr txBox="1"/>
          <p:nvPr/>
        </p:nvSpPr>
        <p:spPr>
          <a:xfrm>
            <a:off x="4595004" y="3804249"/>
            <a:ext cx="7157049" cy="2308324"/>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SELECT BOWLER, </a:t>
            </a:r>
          </a:p>
          <a:p>
            <a:r>
              <a:rPr lang="en-US" dirty="0">
                <a:solidFill>
                  <a:schemeClr val="bg1"/>
                </a:solidFill>
              </a:rPr>
              <a:t>ROUND((SUM(TOTAL_RUNS) / (COUNT(BOWLER)/6.0)),2) AS </a:t>
            </a:r>
            <a:r>
              <a:rPr lang="en-US" err="1">
                <a:solidFill>
                  <a:schemeClr val="bg1"/>
                </a:solidFill>
              </a:rPr>
              <a:t>economy_rate</a:t>
            </a:r>
            <a:r>
              <a:rPr lang="en-US" dirty="0">
                <a:solidFill>
                  <a:schemeClr val="bg1"/>
                </a:solidFill>
              </a:rPr>
              <a:t>       </a:t>
            </a:r>
          </a:p>
          <a:p>
            <a:r>
              <a:rPr lang="en-US" dirty="0">
                <a:solidFill>
                  <a:schemeClr val="bg1"/>
                </a:solidFill>
              </a:rPr>
              <a:t>FROM IPL_BALL </a:t>
            </a:r>
          </a:p>
          <a:p>
            <a:r>
              <a:rPr lang="en-US" dirty="0">
                <a:solidFill>
                  <a:schemeClr val="bg1"/>
                </a:solidFill>
              </a:rPr>
              <a:t>GROUP BY BOWLER</a:t>
            </a:r>
          </a:p>
          <a:p>
            <a:r>
              <a:rPr lang="en-US" dirty="0">
                <a:solidFill>
                  <a:schemeClr val="bg1"/>
                </a:solidFill>
              </a:rPr>
              <a:t>HAVING COUNT(BOWLER) &gt;= 500  </a:t>
            </a:r>
          </a:p>
          <a:p>
            <a:r>
              <a:rPr lang="en-US" dirty="0">
                <a:solidFill>
                  <a:schemeClr val="bg1"/>
                </a:solidFill>
              </a:rPr>
              <a:t>ORDER BY </a:t>
            </a:r>
            <a:r>
              <a:rPr lang="en-US" err="1">
                <a:solidFill>
                  <a:schemeClr val="bg1"/>
                </a:solidFill>
              </a:rPr>
              <a:t>economy_rate</a:t>
            </a:r>
            <a:r>
              <a:rPr lang="en-US" dirty="0">
                <a:solidFill>
                  <a:schemeClr val="bg1"/>
                </a:solidFill>
              </a:rPr>
              <a:t> </a:t>
            </a:r>
          </a:p>
          <a:p>
            <a:r>
              <a:rPr lang="en-US" dirty="0">
                <a:solidFill>
                  <a:schemeClr val="bg1"/>
                </a:solidFill>
              </a:rPr>
              <a:t>LIMIT 10;</a:t>
            </a:r>
          </a:p>
        </p:txBody>
      </p:sp>
    </p:spTree>
    <p:extLst>
      <p:ext uri="{BB962C8B-B14F-4D97-AF65-F5344CB8AC3E}">
        <p14:creationId xmlns:p14="http://schemas.microsoft.com/office/powerpoint/2010/main" val="1288484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95B7C-ABD8-5876-2AF2-AB0A378AE72A}"/>
              </a:ext>
            </a:extLst>
          </p:cNvPr>
          <p:cNvSpPr>
            <a:spLocks noGrp="1"/>
          </p:cNvSpPr>
          <p:nvPr>
            <p:ph type="title"/>
          </p:nvPr>
        </p:nvSpPr>
        <p:spPr/>
        <p:txBody>
          <a:bodyPr vert="horz" lIns="91440" tIns="45720" rIns="91440" bIns="45720" rtlCol="0" anchor="ctr">
            <a:noAutofit/>
          </a:bodyPr>
          <a:lstStyle/>
          <a:p>
            <a:r>
              <a:rPr lang="en-GB" sz="2000" dirty="0">
                <a:ea typeface="+mj-lt"/>
                <a:cs typeface="+mj-lt"/>
              </a:rPr>
              <a:t>Now you need to get 2-3 bowlers with the best strike rate and who have bowled at least 500 balls in IPL so </a:t>
            </a:r>
            <a:r>
              <a:rPr lang="en-GB" sz="2000" err="1">
                <a:ea typeface="+mj-lt"/>
                <a:cs typeface="+mj-lt"/>
              </a:rPr>
              <a:t>far.To</a:t>
            </a:r>
            <a:r>
              <a:rPr lang="en-GB" sz="2000" dirty="0">
                <a:ea typeface="+mj-lt"/>
                <a:cs typeface="+mj-lt"/>
              </a:rPr>
              <a:t> do that you have to make a list of 10 players you want to bid in the auction so that when you try to grab them in auction you should not pay the amount greater than you have in the purse for a particular player.</a:t>
            </a:r>
            <a:endParaRPr lang="en-US" sz="2000"/>
          </a:p>
        </p:txBody>
      </p:sp>
      <p:pic>
        <p:nvPicPr>
          <p:cNvPr id="3" name="Picture 2" descr="A screenshot of a computer&#10;&#10;Description automatically generated">
            <a:extLst>
              <a:ext uri="{FF2B5EF4-FFF2-40B4-BE49-F238E27FC236}">
                <a16:creationId xmlns:a16="http://schemas.microsoft.com/office/drawing/2014/main" id="{8C5D9C9F-EFC2-7DC9-5E3A-8724AEB6636C}"/>
              </a:ext>
            </a:extLst>
          </p:cNvPr>
          <p:cNvPicPr>
            <a:picLocks noChangeAspect="1"/>
          </p:cNvPicPr>
          <p:nvPr/>
        </p:nvPicPr>
        <p:blipFill>
          <a:blip r:embed="rId2"/>
          <a:stretch>
            <a:fillRect/>
          </a:stretch>
        </p:blipFill>
        <p:spPr>
          <a:xfrm>
            <a:off x="357008" y="2095232"/>
            <a:ext cx="3599191" cy="4608481"/>
          </a:xfrm>
          <a:prstGeom prst="rect">
            <a:avLst/>
          </a:prstGeom>
        </p:spPr>
      </p:pic>
      <p:pic>
        <p:nvPicPr>
          <p:cNvPr id="4" name="Picture 3" descr="A person in a sports uniform&#10;&#10;Description automatically generated">
            <a:extLst>
              <a:ext uri="{FF2B5EF4-FFF2-40B4-BE49-F238E27FC236}">
                <a16:creationId xmlns:a16="http://schemas.microsoft.com/office/drawing/2014/main" id="{C6C550E5-6F48-2BA0-1E9F-961D51067A18}"/>
              </a:ext>
            </a:extLst>
          </p:cNvPr>
          <p:cNvPicPr>
            <a:picLocks noChangeAspect="1"/>
          </p:cNvPicPr>
          <p:nvPr/>
        </p:nvPicPr>
        <p:blipFill>
          <a:blip r:embed="rId3"/>
          <a:stretch>
            <a:fillRect/>
          </a:stretch>
        </p:blipFill>
        <p:spPr>
          <a:xfrm>
            <a:off x="4301977" y="2331559"/>
            <a:ext cx="2322840" cy="4078317"/>
          </a:xfrm>
          <a:prstGeom prst="rect">
            <a:avLst/>
          </a:prstGeom>
        </p:spPr>
      </p:pic>
      <p:pic>
        <p:nvPicPr>
          <p:cNvPr id="5" name="Picture 4" descr="A person with beard wearing a blue shirt with his arms crossed&#10;&#10;Description automatically generated">
            <a:extLst>
              <a:ext uri="{FF2B5EF4-FFF2-40B4-BE49-F238E27FC236}">
                <a16:creationId xmlns:a16="http://schemas.microsoft.com/office/drawing/2014/main" id="{15AA244F-0F12-9759-9D70-BF7FF403A677}"/>
              </a:ext>
            </a:extLst>
          </p:cNvPr>
          <p:cNvPicPr>
            <a:picLocks noChangeAspect="1"/>
          </p:cNvPicPr>
          <p:nvPr/>
        </p:nvPicPr>
        <p:blipFill>
          <a:blip r:embed="rId4"/>
          <a:stretch>
            <a:fillRect/>
          </a:stretch>
        </p:blipFill>
        <p:spPr>
          <a:xfrm>
            <a:off x="6982725" y="2349439"/>
            <a:ext cx="2223457" cy="4071309"/>
          </a:xfrm>
          <a:prstGeom prst="rect">
            <a:avLst/>
          </a:prstGeom>
        </p:spPr>
      </p:pic>
      <p:pic>
        <p:nvPicPr>
          <p:cNvPr id="6" name="Picture 5" descr="A person in a pink shirt&#10;&#10;Description automatically generated">
            <a:extLst>
              <a:ext uri="{FF2B5EF4-FFF2-40B4-BE49-F238E27FC236}">
                <a16:creationId xmlns:a16="http://schemas.microsoft.com/office/drawing/2014/main" id="{E6F02958-DF6A-89C8-909D-5BF4BE2A0018}"/>
              </a:ext>
            </a:extLst>
          </p:cNvPr>
          <p:cNvPicPr>
            <a:picLocks noChangeAspect="1"/>
          </p:cNvPicPr>
          <p:nvPr/>
        </p:nvPicPr>
        <p:blipFill>
          <a:blip r:embed="rId5"/>
          <a:stretch>
            <a:fillRect/>
          </a:stretch>
        </p:blipFill>
        <p:spPr>
          <a:xfrm>
            <a:off x="9647747" y="2511095"/>
            <a:ext cx="2198656" cy="3906149"/>
          </a:xfrm>
          <a:prstGeom prst="rect">
            <a:avLst/>
          </a:prstGeom>
        </p:spPr>
      </p:pic>
    </p:spTree>
    <p:extLst>
      <p:ext uri="{BB962C8B-B14F-4D97-AF65-F5344CB8AC3E}">
        <p14:creationId xmlns:p14="http://schemas.microsoft.com/office/powerpoint/2010/main" val="3481066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F07745-D943-46DF-AB69-FA455CE428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5"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72A2E17-3305-4404-A0DA-5CC3BDAFE0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hart 1">
            <a:extLst>
              <a:ext uri="{FF2B5EF4-FFF2-40B4-BE49-F238E27FC236}">
                <a16:creationId xmlns:a16="http://schemas.microsoft.com/office/drawing/2014/main" id="{039A3959-BADE-32F8-CD9F-11DAFB007342}"/>
              </a:ext>
            </a:extLst>
          </p:cNvPr>
          <p:cNvGraphicFramePr>
            <a:graphicFrameLocks/>
          </p:cNvGraphicFramePr>
          <p:nvPr>
            <p:extLst>
              <p:ext uri="{D42A27DB-BD31-4B8C-83A1-F6EECF244321}">
                <p14:modId xmlns:p14="http://schemas.microsoft.com/office/powerpoint/2010/main" val="311336565"/>
              </p:ext>
            </p:extLst>
          </p:nvPr>
        </p:nvGraphicFramePr>
        <p:xfrm>
          <a:off x="634277" y="609600"/>
          <a:ext cx="10914256" cy="56049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80507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white screen with black text&#10;&#10;Description automatically generated">
            <a:extLst>
              <a:ext uri="{FF2B5EF4-FFF2-40B4-BE49-F238E27FC236}">
                <a16:creationId xmlns:a16="http://schemas.microsoft.com/office/drawing/2014/main" id="{C70D794F-8A1C-D151-8F23-DC17955E01E9}"/>
              </a:ext>
            </a:extLst>
          </p:cNvPr>
          <p:cNvPicPr>
            <a:picLocks noChangeAspect="1"/>
          </p:cNvPicPr>
          <p:nvPr/>
        </p:nvPicPr>
        <p:blipFill>
          <a:blip r:embed="rId2"/>
          <a:stretch>
            <a:fillRect/>
          </a:stretch>
        </p:blipFill>
        <p:spPr>
          <a:xfrm>
            <a:off x="3774" y="187984"/>
            <a:ext cx="10444791" cy="3117730"/>
          </a:xfrm>
          <a:prstGeom prst="rect">
            <a:avLst/>
          </a:prstGeom>
        </p:spPr>
      </p:pic>
      <p:sp>
        <p:nvSpPr>
          <p:cNvPr id="3" name="TextBox 2">
            <a:extLst>
              <a:ext uri="{FF2B5EF4-FFF2-40B4-BE49-F238E27FC236}">
                <a16:creationId xmlns:a16="http://schemas.microsoft.com/office/drawing/2014/main" id="{41008A83-788B-675A-ABD6-57E65F02E43D}"/>
              </a:ext>
            </a:extLst>
          </p:cNvPr>
          <p:cNvSpPr txBox="1"/>
          <p:nvPr/>
        </p:nvSpPr>
        <p:spPr>
          <a:xfrm>
            <a:off x="324931" y="3430438"/>
            <a:ext cx="10665122" cy="3323987"/>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rPr>
              <a:t>SELECT </a:t>
            </a:r>
          </a:p>
          <a:p>
            <a:r>
              <a:rPr lang="en-US" sz="1400" dirty="0">
                <a:solidFill>
                  <a:schemeClr val="bg1"/>
                </a:solidFill>
              </a:rPr>
              <a:t>    BOWLER,</a:t>
            </a:r>
          </a:p>
          <a:p>
            <a:r>
              <a:rPr lang="en-US" sz="1400" dirty="0">
                <a:solidFill>
                  <a:schemeClr val="bg1"/>
                </a:solidFill>
              </a:rPr>
              <a:t>    ROUND((</a:t>
            </a:r>
            <a:r>
              <a:rPr lang="en-US" sz="1400" err="1">
                <a:solidFill>
                  <a:schemeClr val="bg1"/>
                </a:solidFill>
              </a:rPr>
              <a:t>total_bowled</a:t>
            </a:r>
            <a:r>
              <a:rPr lang="en-US" sz="1400" dirty="0">
                <a:solidFill>
                  <a:schemeClr val="bg1"/>
                </a:solidFill>
              </a:rPr>
              <a:t> * 1.0) / total_wickets,2) AS </a:t>
            </a:r>
            <a:r>
              <a:rPr lang="en-US" sz="1400" err="1">
                <a:solidFill>
                  <a:schemeClr val="bg1"/>
                </a:solidFill>
              </a:rPr>
              <a:t>strike_rate</a:t>
            </a:r>
            <a:endParaRPr lang="en-US" sz="1400">
              <a:solidFill>
                <a:schemeClr val="bg1"/>
              </a:solidFill>
            </a:endParaRPr>
          </a:p>
          <a:p>
            <a:r>
              <a:rPr lang="en-US" sz="1400" dirty="0">
                <a:solidFill>
                  <a:schemeClr val="bg1"/>
                </a:solidFill>
              </a:rPr>
              <a:t>FROM (</a:t>
            </a:r>
          </a:p>
          <a:p>
            <a:r>
              <a:rPr lang="en-US" sz="1400" dirty="0">
                <a:solidFill>
                  <a:schemeClr val="bg1"/>
                </a:solidFill>
              </a:rPr>
              <a:t>    SELECT</a:t>
            </a:r>
          </a:p>
          <a:p>
            <a:r>
              <a:rPr lang="en-US" sz="1400" dirty="0">
                <a:solidFill>
                  <a:schemeClr val="bg1"/>
                </a:solidFill>
              </a:rPr>
              <a:t>        BOWLER,</a:t>
            </a:r>
          </a:p>
          <a:p>
            <a:r>
              <a:rPr lang="en-US" sz="1400" dirty="0">
                <a:solidFill>
                  <a:schemeClr val="bg1"/>
                </a:solidFill>
              </a:rPr>
              <a:t>        COUNT(*) AS </a:t>
            </a:r>
            <a:r>
              <a:rPr lang="en-US" sz="1400" err="1">
                <a:solidFill>
                  <a:schemeClr val="bg1"/>
                </a:solidFill>
              </a:rPr>
              <a:t>total_bowled</a:t>
            </a:r>
            <a:r>
              <a:rPr lang="en-US" sz="1400" dirty="0">
                <a:solidFill>
                  <a:schemeClr val="bg1"/>
                </a:solidFill>
              </a:rPr>
              <a:t>,</a:t>
            </a:r>
          </a:p>
          <a:p>
            <a:r>
              <a:rPr lang="en-US" sz="1400" dirty="0">
                <a:solidFill>
                  <a:schemeClr val="bg1"/>
                </a:solidFill>
              </a:rPr>
              <a:t>        SUM(CASE WHEN </a:t>
            </a:r>
          </a:p>
          <a:p>
            <a:r>
              <a:rPr lang="en-US" sz="1400" err="1">
                <a:solidFill>
                  <a:schemeClr val="bg1"/>
                </a:solidFill>
              </a:rPr>
              <a:t>dismissal_kind</a:t>
            </a:r>
            <a:r>
              <a:rPr lang="en-US" sz="1400" dirty="0">
                <a:solidFill>
                  <a:schemeClr val="bg1"/>
                </a:solidFill>
              </a:rPr>
              <a:t> NOT IN ('run </a:t>
            </a:r>
            <a:r>
              <a:rPr lang="en-US" sz="1400" err="1">
                <a:solidFill>
                  <a:schemeClr val="bg1"/>
                </a:solidFill>
              </a:rPr>
              <a:t>out','retired</a:t>
            </a:r>
            <a:r>
              <a:rPr lang="en-US" sz="1400" dirty="0">
                <a:solidFill>
                  <a:schemeClr val="bg1"/>
                </a:solidFill>
              </a:rPr>
              <a:t> hurt','</a:t>
            </a:r>
            <a:r>
              <a:rPr lang="en-US" sz="1400" err="1">
                <a:solidFill>
                  <a:schemeClr val="bg1"/>
                </a:solidFill>
              </a:rPr>
              <a:t>obstucting</a:t>
            </a:r>
            <a:r>
              <a:rPr lang="en-US" sz="1400" dirty="0">
                <a:solidFill>
                  <a:schemeClr val="bg1"/>
                </a:solidFill>
              </a:rPr>
              <a:t> the </a:t>
            </a:r>
            <a:r>
              <a:rPr lang="en-US" sz="1400" err="1">
                <a:solidFill>
                  <a:schemeClr val="bg1"/>
                </a:solidFill>
              </a:rPr>
              <a:t>field','NA</a:t>
            </a:r>
            <a:r>
              <a:rPr lang="en-US" sz="1400" dirty="0">
                <a:solidFill>
                  <a:schemeClr val="bg1"/>
                </a:solidFill>
              </a:rPr>
              <a:t>') THEN 1 ELSE 0 END) AS </a:t>
            </a:r>
            <a:r>
              <a:rPr lang="en-US" sz="1400" err="1">
                <a:solidFill>
                  <a:schemeClr val="bg1"/>
                </a:solidFill>
              </a:rPr>
              <a:t>total_wickets</a:t>
            </a:r>
            <a:endParaRPr lang="en-US" sz="1400">
              <a:solidFill>
                <a:schemeClr val="bg1"/>
              </a:solidFill>
            </a:endParaRPr>
          </a:p>
          <a:p>
            <a:r>
              <a:rPr lang="en-US" sz="1400" dirty="0">
                <a:solidFill>
                  <a:schemeClr val="bg1"/>
                </a:solidFill>
              </a:rPr>
              <a:t>    FROM IPL_BALL</a:t>
            </a:r>
          </a:p>
          <a:p>
            <a:r>
              <a:rPr lang="en-US" sz="1400" dirty="0">
                <a:solidFill>
                  <a:schemeClr val="bg1"/>
                </a:solidFill>
              </a:rPr>
              <a:t>    GROUP BY BOWLER</a:t>
            </a:r>
          </a:p>
          <a:p>
            <a:r>
              <a:rPr lang="en-US" sz="1400" dirty="0">
                <a:solidFill>
                  <a:schemeClr val="bg1"/>
                </a:solidFill>
              </a:rPr>
              <a:t>    HAVING COUNT(*) &gt;= 500 </a:t>
            </a:r>
          </a:p>
          <a:p>
            <a:r>
              <a:rPr lang="en-US" sz="1400" dirty="0">
                <a:solidFill>
                  <a:schemeClr val="bg1"/>
                </a:solidFill>
              </a:rPr>
              <a:t>) AS bowlers</a:t>
            </a:r>
          </a:p>
          <a:p>
            <a:r>
              <a:rPr lang="en-US" sz="1400" dirty="0">
                <a:solidFill>
                  <a:schemeClr val="bg1"/>
                </a:solidFill>
              </a:rPr>
              <a:t>ORDER BY bowlers desc</a:t>
            </a:r>
          </a:p>
          <a:p>
            <a:r>
              <a:rPr lang="en-US" sz="1400" dirty="0">
                <a:solidFill>
                  <a:schemeClr val="bg1"/>
                </a:solidFill>
              </a:rPr>
              <a:t>LIMIT 10;</a:t>
            </a:r>
          </a:p>
        </p:txBody>
      </p:sp>
    </p:spTree>
    <p:extLst>
      <p:ext uri="{BB962C8B-B14F-4D97-AF65-F5344CB8AC3E}">
        <p14:creationId xmlns:p14="http://schemas.microsoft.com/office/powerpoint/2010/main" val="1596077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01CFC1BB-C5B3-4479-9752-C53221627F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4" name="Picture 53">
            <a:extLst>
              <a:ext uri="{FF2B5EF4-FFF2-40B4-BE49-F238E27FC236}">
                <a16:creationId xmlns:a16="http://schemas.microsoft.com/office/drawing/2014/main" id="{5B5FB5AC-39B2-4094-B486-0FCD501D504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56" name="Picture 55">
            <a:extLst>
              <a:ext uri="{FF2B5EF4-FFF2-40B4-BE49-F238E27FC236}">
                <a16:creationId xmlns:a16="http://schemas.microsoft.com/office/drawing/2014/main" id="{7150CFE4-97B0-48C6-ACD6-9399CBA1190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58" name="Rectangle 57">
            <a:extLst>
              <a:ext uri="{FF2B5EF4-FFF2-40B4-BE49-F238E27FC236}">
                <a16:creationId xmlns:a16="http://schemas.microsoft.com/office/drawing/2014/main" id="{A3C6F7F0-46EA-4F8E-A112-1B517C2B5A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 name="Rectangle 59">
            <a:extLst>
              <a:ext uri="{FF2B5EF4-FFF2-40B4-BE49-F238E27FC236}">
                <a16:creationId xmlns:a16="http://schemas.microsoft.com/office/drawing/2014/main" id="{1691A3CC-CDA1-4C3B-9150-FCFB5373D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3" name="Picture 2" descr="A red ball on a wooden bat&#10;&#10;Description automatically generated">
            <a:extLst>
              <a:ext uri="{FF2B5EF4-FFF2-40B4-BE49-F238E27FC236}">
                <a16:creationId xmlns:a16="http://schemas.microsoft.com/office/drawing/2014/main" id="{C01ADF4C-45F7-B4C3-F459-6F9DE73756EF}"/>
              </a:ext>
            </a:extLst>
          </p:cNvPr>
          <p:cNvPicPr>
            <a:picLocks noChangeAspect="1"/>
          </p:cNvPicPr>
          <p:nvPr/>
        </p:nvPicPr>
        <p:blipFill rotWithShape="1">
          <a:blip r:embed="rId5"/>
          <a:srcRect l="4939" r="3948" b="1"/>
          <a:stretch/>
        </p:blipFill>
        <p:spPr>
          <a:xfrm>
            <a:off x="4644526" y="10"/>
            <a:ext cx="7552945" cy="6857990"/>
          </a:xfrm>
          <a:prstGeom prst="rect">
            <a:avLst/>
          </a:prstGeom>
          <a:ln>
            <a:noFill/>
          </a:ln>
          <a:effectLst/>
        </p:spPr>
      </p:pic>
      <p:pic>
        <p:nvPicPr>
          <p:cNvPr id="62" name="Picture 61">
            <a:extLst>
              <a:ext uri="{FF2B5EF4-FFF2-40B4-BE49-F238E27FC236}">
                <a16:creationId xmlns:a16="http://schemas.microsoft.com/office/drawing/2014/main" id="{25D611BD-13D6-4754-93F1-8ABAB81169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cstate="print">
            <a:extLst>
              <a:ext uri="{28A0092B-C50C-407E-A947-70E740481C1C}">
                <a14:useLocalDpi xmlns:a14="http://schemas.microsoft.com/office/drawing/2010/main" val="0"/>
              </a:ext>
            </a:extLst>
          </a:blip>
          <a:stretch>
            <a:fillRect/>
          </a:stretch>
        </p:blipFill>
        <p:spPr>
          <a:xfrm>
            <a:off x="1" y="5006045"/>
            <a:ext cx="4965192" cy="144049"/>
          </a:xfrm>
          <a:prstGeom prst="rect">
            <a:avLst/>
          </a:prstGeom>
        </p:spPr>
      </p:pic>
      <p:sp>
        <p:nvSpPr>
          <p:cNvPr id="64" name="Rectangle 63">
            <a:extLst>
              <a:ext uri="{FF2B5EF4-FFF2-40B4-BE49-F238E27FC236}">
                <a16:creationId xmlns:a16="http://schemas.microsoft.com/office/drawing/2014/main" id="{D1564798-5942-49A9-89E9-7BF6D02392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5C205D40-EF44-BBE1-4CE4-53EFFC87CE2B}"/>
              </a:ext>
            </a:extLst>
          </p:cNvPr>
          <p:cNvSpPr>
            <a:spLocks noGrp="1"/>
          </p:cNvSpPr>
          <p:nvPr>
            <p:ph type="title"/>
          </p:nvPr>
        </p:nvSpPr>
        <p:spPr>
          <a:xfrm>
            <a:off x="680322" y="2063262"/>
            <a:ext cx="3739278" cy="2661138"/>
          </a:xfrm>
        </p:spPr>
        <p:txBody>
          <a:bodyPr vert="horz" lIns="91440" tIns="45720" rIns="91440" bIns="45720" rtlCol="0" anchor="b">
            <a:normAutofit/>
          </a:bodyPr>
          <a:lstStyle/>
          <a:p>
            <a:r>
              <a:rPr lang="en-US" sz="5000"/>
              <a:t>BIDDING ON ALL - ROUNDERS</a:t>
            </a:r>
          </a:p>
        </p:txBody>
      </p:sp>
    </p:spTree>
    <p:extLst>
      <p:ext uri="{BB962C8B-B14F-4D97-AF65-F5344CB8AC3E}">
        <p14:creationId xmlns:p14="http://schemas.microsoft.com/office/powerpoint/2010/main" val="885653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17F47-1A3B-A03F-B991-195736CF1792}"/>
              </a:ext>
            </a:extLst>
          </p:cNvPr>
          <p:cNvSpPr>
            <a:spLocks noGrp="1"/>
          </p:cNvSpPr>
          <p:nvPr>
            <p:ph type="title"/>
          </p:nvPr>
        </p:nvSpPr>
        <p:spPr>
          <a:xfrm>
            <a:off x="680321" y="753228"/>
            <a:ext cx="9613861" cy="1195956"/>
          </a:xfrm>
        </p:spPr>
        <p:txBody>
          <a:bodyPr vert="horz" lIns="91440" tIns="45720" rIns="91440" bIns="45720" rtlCol="0" anchor="ctr">
            <a:noAutofit/>
          </a:bodyPr>
          <a:lstStyle/>
          <a:p>
            <a:r>
              <a:rPr lang="en-GB" sz="1800" dirty="0">
                <a:ea typeface="+mj-lt"/>
                <a:cs typeface="+mj-lt"/>
              </a:rPr>
              <a:t>Now you need to get 2-3 </a:t>
            </a:r>
            <a:r>
              <a:rPr lang="en-GB" sz="1800" err="1">
                <a:ea typeface="+mj-lt"/>
                <a:cs typeface="+mj-lt"/>
              </a:rPr>
              <a:t>All_rounders</a:t>
            </a:r>
            <a:r>
              <a:rPr lang="en-GB" sz="1800" dirty="0">
                <a:ea typeface="+mj-lt"/>
                <a:cs typeface="+mj-lt"/>
              </a:rPr>
              <a:t> with the best batting as well as bowling strike rate and who have faced at least 500 balls in IPL so far and have bowled minimum 300 </a:t>
            </a:r>
            <a:r>
              <a:rPr lang="en-GB" sz="1800" err="1">
                <a:ea typeface="+mj-lt"/>
                <a:cs typeface="+mj-lt"/>
              </a:rPr>
              <a:t>balls.To</a:t>
            </a:r>
            <a:r>
              <a:rPr lang="en-GB" sz="1800" dirty="0">
                <a:ea typeface="+mj-lt"/>
                <a:cs typeface="+mj-lt"/>
              </a:rPr>
              <a:t> do that you have to make a list of 10 players you want to bid in the auction so that when you try to grab them in auction you should not pay the amount greater than you have in the purse for a particular player. </a:t>
            </a:r>
            <a:endParaRPr lang="en-US" sz="1800"/>
          </a:p>
        </p:txBody>
      </p:sp>
      <p:pic>
        <p:nvPicPr>
          <p:cNvPr id="3" name="Picture 2" descr="A screenshot of a data&#10;&#10;Description automatically generated">
            <a:extLst>
              <a:ext uri="{FF2B5EF4-FFF2-40B4-BE49-F238E27FC236}">
                <a16:creationId xmlns:a16="http://schemas.microsoft.com/office/drawing/2014/main" id="{8AED5F90-4C00-A468-B278-6E5D973D6D95}"/>
              </a:ext>
            </a:extLst>
          </p:cNvPr>
          <p:cNvPicPr>
            <a:picLocks noChangeAspect="1"/>
          </p:cNvPicPr>
          <p:nvPr/>
        </p:nvPicPr>
        <p:blipFill>
          <a:blip r:embed="rId2"/>
          <a:stretch>
            <a:fillRect/>
          </a:stretch>
        </p:blipFill>
        <p:spPr>
          <a:xfrm>
            <a:off x="184839" y="2119044"/>
            <a:ext cx="5496283" cy="4589611"/>
          </a:xfrm>
          <a:prstGeom prst="rect">
            <a:avLst/>
          </a:prstGeom>
        </p:spPr>
      </p:pic>
      <p:pic>
        <p:nvPicPr>
          <p:cNvPr id="5" name="Picture 4" descr="A person with arms crossed&#10;&#10;Description automatically generated">
            <a:extLst>
              <a:ext uri="{FF2B5EF4-FFF2-40B4-BE49-F238E27FC236}">
                <a16:creationId xmlns:a16="http://schemas.microsoft.com/office/drawing/2014/main" id="{05733A43-C51B-208A-A244-20D32ED471B6}"/>
              </a:ext>
            </a:extLst>
          </p:cNvPr>
          <p:cNvPicPr>
            <a:picLocks noChangeAspect="1"/>
          </p:cNvPicPr>
          <p:nvPr/>
        </p:nvPicPr>
        <p:blipFill>
          <a:blip r:embed="rId3"/>
          <a:stretch>
            <a:fillRect/>
          </a:stretch>
        </p:blipFill>
        <p:spPr>
          <a:xfrm>
            <a:off x="6097887" y="2329762"/>
            <a:ext cx="2871697" cy="3176138"/>
          </a:xfrm>
          <a:prstGeom prst="rect">
            <a:avLst/>
          </a:prstGeom>
        </p:spPr>
      </p:pic>
      <p:pic>
        <p:nvPicPr>
          <p:cNvPr id="7" name="Picture 6" descr="A person with mohawk hair wearing a blue and yellow shirt&#10;&#10;Description automatically generated">
            <a:extLst>
              <a:ext uri="{FF2B5EF4-FFF2-40B4-BE49-F238E27FC236}">
                <a16:creationId xmlns:a16="http://schemas.microsoft.com/office/drawing/2014/main" id="{38F5C1FF-3E6B-7F7B-63A1-D9F77DE631AF}"/>
              </a:ext>
            </a:extLst>
          </p:cNvPr>
          <p:cNvPicPr>
            <a:picLocks noChangeAspect="1"/>
          </p:cNvPicPr>
          <p:nvPr/>
        </p:nvPicPr>
        <p:blipFill>
          <a:blip r:embed="rId4"/>
          <a:stretch>
            <a:fillRect/>
          </a:stretch>
        </p:blipFill>
        <p:spPr>
          <a:xfrm>
            <a:off x="9343665" y="2181225"/>
            <a:ext cx="1901047" cy="1906078"/>
          </a:xfrm>
          <a:prstGeom prst="rect">
            <a:avLst/>
          </a:prstGeom>
        </p:spPr>
      </p:pic>
      <p:pic>
        <p:nvPicPr>
          <p:cNvPr id="9" name="Picture 8" descr="A person with a beard wearing a blue shirt&#10;&#10;Description automatically generated">
            <a:extLst>
              <a:ext uri="{FF2B5EF4-FFF2-40B4-BE49-F238E27FC236}">
                <a16:creationId xmlns:a16="http://schemas.microsoft.com/office/drawing/2014/main" id="{C82138E7-A3CF-EEB9-4DBB-910DEAC084C5}"/>
              </a:ext>
            </a:extLst>
          </p:cNvPr>
          <p:cNvPicPr>
            <a:picLocks noChangeAspect="1"/>
          </p:cNvPicPr>
          <p:nvPr/>
        </p:nvPicPr>
        <p:blipFill>
          <a:blip r:embed="rId5"/>
          <a:stretch>
            <a:fillRect/>
          </a:stretch>
        </p:blipFill>
        <p:spPr>
          <a:xfrm>
            <a:off x="9719543" y="4494901"/>
            <a:ext cx="1911290" cy="2052009"/>
          </a:xfrm>
          <a:prstGeom prst="rect">
            <a:avLst/>
          </a:prstGeom>
        </p:spPr>
      </p:pic>
    </p:spTree>
    <p:extLst>
      <p:ext uri="{BB962C8B-B14F-4D97-AF65-F5344CB8AC3E}">
        <p14:creationId xmlns:p14="http://schemas.microsoft.com/office/powerpoint/2010/main" val="1603644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F07745-D943-46DF-AB69-FA455CE428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5"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72A2E17-3305-4404-A0DA-5CC3BDAFE0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hart 1">
            <a:extLst>
              <a:ext uri="{FF2B5EF4-FFF2-40B4-BE49-F238E27FC236}">
                <a16:creationId xmlns:a16="http://schemas.microsoft.com/office/drawing/2014/main" id="{69865345-E4D2-CDD2-4912-86768ED364BE}"/>
              </a:ext>
            </a:extLst>
          </p:cNvPr>
          <p:cNvGraphicFramePr>
            <a:graphicFrameLocks/>
          </p:cNvGraphicFramePr>
          <p:nvPr>
            <p:extLst>
              <p:ext uri="{D42A27DB-BD31-4B8C-83A1-F6EECF244321}">
                <p14:modId xmlns:p14="http://schemas.microsoft.com/office/powerpoint/2010/main" val="1974906832"/>
              </p:ext>
            </p:extLst>
          </p:nvPr>
        </p:nvGraphicFramePr>
        <p:xfrm>
          <a:off x="634277" y="609600"/>
          <a:ext cx="10914256" cy="56049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83009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C78F95-F9E0-428C-2EE7-88E272F74058}"/>
              </a:ext>
            </a:extLst>
          </p:cNvPr>
          <p:cNvSpPr txBox="1"/>
          <p:nvPr/>
        </p:nvSpPr>
        <p:spPr>
          <a:xfrm>
            <a:off x="324928" y="253042"/>
            <a:ext cx="7775275" cy="2677656"/>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400" dirty="0">
              <a:solidFill>
                <a:schemeClr val="bg1"/>
              </a:solidFill>
            </a:endParaRPr>
          </a:p>
          <a:p>
            <a:r>
              <a:rPr lang="en-US" sz="1400" dirty="0">
                <a:solidFill>
                  <a:schemeClr val="bg1"/>
                </a:solidFill>
              </a:rPr>
              <a:t>CREATE TABLE BATTING_STRIKE_RATE AS SELECT</a:t>
            </a:r>
          </a:p>
          <a:p>
            <a:r>
              <a:rPr lang="en-US" sz="1400" dirty="0">
                <a:solidFill>
                  <a:schemeClr val="bg1"/>
                </a:solidFill>
              </a:rPr>
              <a:t>  BATSMAN,</a:t>
            </a:r>
          </a:p>
          <a:p>
            <a:r>
              <a:rPr lang="en-US" sz="1400" dirty="0">
                <a:solidFill>
                  <a:schemeClr val="bg1"/>
                </a:solidFill>
              </a:rPr>
              <a:t> ROUND ((SUM(CASE WHEN EXTRAS_TYPE != '</a:t>
            </a:r>
            <a:r>
              <a:rPr lang="en-US" sz="1400" err="1">
                <a:solidFill>
                  <a:schemeClr val="bg1"/>
                </a:solidFill>
              </a:rPr>
              <a:t>wides</a:t>
            </a:r>
            <a:r>
              <a:rPr lang="en-US" sz="1400" dirty="0">
                <a:solidFill>
                  <a:schemeClr val="bg1"/>
                </a:solidFill>
              </a:rPr>
              <a:t>' THEN BATSMAN_RUNS ELSE 0 END)*1.0 /</a:t>
            </a:r>
          </a:p>
          <a:p>
            <a:r>
              <a:rPr lang="en-US" sz="1400" dirty="0">
                <a:solidFill>
                  <a:schemeClr val="bg1"/>
                </a:solidFill>
              </a:rPr>
              <a:t>   SUM(CASE WHEN EXTRAS_TYPE != '</a:t>
            </a:r>
            <a:r>
              <a:rPr lang="en-US" sz="1400" err="1">
                <a:solidFill>
                  <a:schemeClr val="bg1"/>
                </a:solidFill>
              </a:rPr>
              <a:t>wides</a:t>
            </a:r>
            <a:r>
              <a:rPr lang="en-US" sz="1400" dirty="0">
                <a:solidFill>
                  <a:schemeClr val="bg1"/>
                </a:solidFill>
              </a:rPr>
              <a:t>' THEN 1 ELSE 0 END)) * 100,2) AS </a:t>
            </a:r>
            <a:r>
              <a:rPr lang="en-US" sz="1400" err="1">
                <a:solidFill>
                  <a:schemeClr val="bg1"/>
                </a:solidFill>
              </a:rPr>
              <a:t>batting_strike_rate</a:t>
            </a:r>
            <a:endParaRPr lang="en-US" sz="1400" dirty="0">
              <a:solidFill>
                <a:schemeClr val="bg1"/>
              </a:solidFill>
            </a:endParaRPr>
          </a:p>
          <a:p>
            <a:r>
              <a:rPr lang="en-US" sz="1400" dirty="0">
                <a:solidFill>
                  <a:schemeClr val="bg1"/>
                </a:solidFill>
              </a:rPr>
              <a:t>FROM IPL_BALL</a:t>
            </a:r>
          </a:p>
          <a:p>
            <a:r>
              <a:rPr lang="en-US" sz="1400" dirty="0">
                <a:solidFill>
                  <a:schemeClr val="bg1"/>
                </a:solidFill>
              </a:rPr>
              <a:t>GROUP BY</a:t>
            </a:r>
          </a:p>
          <a:p>
            <a:r>
              <a:rPr lang="en-US" sz="1400" dirty="0">
                <a:solidFill>
                  <a:schemeClr val="bg1"/>
                </a:solidFill>
              </a:rPr>
              <a:t>  BATSMAN</a:t>
            </a:r>
          </a:p>
          <a:p>
            <a:r>
              <a:rPr lang="en-US" sz="1400" dirty="0">
                <a:solidFill>
                  <a:schemeClr val="bg1"/>
                </a:solidFill>
              </a:rPr>
              <a:t>HAVING</a:t>
            </a:r>
          </a:p>
          <a:p>
            <a:r>
              <a:rPr lang="en-US" sz="1400" dirty="0">
                <a:solidFill>
                  <a:schemeClr val="bg1"/>
                </a:solidFill>
              </a:rPr>
              <a:t>  SUM(CASE WHEN EXTRAS_TYPE != '</a:t>
            </a:r>
            <a:r>
              <a:rPr lang="en-US" sz="1400" err="1">
                <a:solidFill>
                  <a:schemeClr val="bg1"/>
                </a:solidFill>
              </a:rPr>
              <a:t>wides</a:t>
            </a:r>
            <a:r>
              <a:rPr lang="en-US" sz="1400" dirty="0">
                <a:solidFill>
                  <a:schemeClr val="bg1"/>
                </a:solidFill>
              </a:rPr>
              <a:t>' THEN 1 ELSE 0 END) &gt; 500</a:t>
            </a:r>
          </a:p>
          <a:p>
            <a:r>
              <a:rPr lang="en-US" sz="1400" dirty="0">
                <a:solidFill>
                  <a:schemeClr val="bg1"/>
                </a:solidFill>
              </a:rPr>
              <a:t>ORDER BY</a:t>
            </a:r>
          </a:p>
          <a:p>
            <a:r>
              <a:rPr lang="en-US" sz="1400" dirty="0">
                <a:solidFill>
                  <a:schemeClr val="bg1"/>
                </a:solidFill>
              </a:rPr>
              <a:t>  </a:t>
            </a:r>
            <a:r>
              <a:rPr lang="en-US" sz="1400" err="1">
                <a:solidFill>
                  <a:schemeClr val="bg1"/>
                </a:solidFill>
              </a:rPr>
              <a:t>batting_strike_rate</a:t>
            </a:r>
            <a:r>
              <a:rPr lang="en-US" sz="1400" dirty="0">
                <a:solidFill>
                  <a:schemeClr val="bg1"/>
                </a:solidFill>
              </a:rPr>
              <a:t> DESC;</a:t>
            </a:r>
          </a:p>
        </p:txBody>
      </p:sp>
      <p:sp>
        <p:nvSpPr>
          <p:cNvPr id="3" name="TextBox 2">
            <a:extLst>
              <a:ext uri="{FF2B5EF4-FFF2-40B4-BE49-F238E27FC236}">
                <a16:creationId xmlns:a16="http://schemas.microsoft.com/office/drawing/2014/main" id="{E785B285-88BF-6C2F-4268-F05E6B7F119B}"/>
              </a:ext>
            </a:extLst>
          </p:cNvPr>
          <p:cNvSpPr txBox="1"/>
          <p:nvPr/>
        </p:nvSpPr>
        <p:spPr>
          <a:xfrm>
            <a:off x="181155" y="3502325"/>
            <a:ext cx="10981426" cy="3108543"/>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rPr>
              <a:t>CREATE TABLE BOWLING_STRIKE_RATE AS SELECT </a:t>
            </a:r>
          </a:p>
          <a:p>
            <a:r>
              <a:rPr lang="en-US" sz="1400" dirty="0">
                <a:solidFill>
                  <a:schemeClr val="bg1"/>
                </a:solidFill>
              </a:rPr>
              <a:t>    BOWLER,</a:t>
            </a:r>
          </a:p>
          <a:p>
            <a:r>
              <a:rPr lang="en-US" sz="1400" dirty="0">
                <a:solidFill>
                  <a:schemeClr val="bg1"/>
                </a:solidFill>
              </a:rPr>
              <a:t>    ROUND((</a:t>
            </a:r>
            <a:r>
              <a:rPr lang="en-US" sz="1400" err="1">
                <a:solidFill>
                  <a:schemeClr val="bg1"/>
                </a:solidFill>
              </a:rPr>
              <a:t>total_bowled</a:t>
            </a:r>
            <a:r>
              <a:rPr lang="en-US" sz="1400" dirty="0">
                <a:solidFill>
                  <a:schemeClr val="bg1"/>
                </a:solidFill>
              </a:rPr>
              <a:t> * 1.0) / total_wickets,2) AS </a:t>
            </a:r>
            <a:r>
              <a:rPr lang="en-US" sz="1400" err="1">
                <a:solidFill>
                  <a:schemeClr val="bg1"/>
                </a:solidFill>
              </a:rPr>
              <a:t>bowler_strike_rate</a:t>
            </a:r>
            <a:endParaRPr lang="en-US" sz="1400">
              <a:solidFill>
                <a:schemeClr val="bg1"/>
              </a:solidFill>
            </a:endParaRPr>
          </a:p>
          <a:p>
            <a:r>
              <a:rPr lang="en-US" sz="1400" dirty="0">
                <a:solidFill>
                  <a:schemeClr val="bg1"/>
                </a:solidFill>
              </a:rPr>
              <a:t>FROM (</a:t>
            </a:r>
          </a:p>
          <a:p>
            <a:r>
              <a:rPr lang="en-US" sz="1400" dirty="0">
                <a:solidFill>
                  <a:schemeClr val="bg1"/>
                </a:solidFill>
              </a:rPr>
              <a:t>    SELECT</a:t>
            </a:r>
          </a:p>
          <a:p>
            <a:r>
              <a:rPr lang="en-US" sz="1400" dirty="0">
                <a:solidFill>
                  <a:schemeClr val="bg1"/>
                </a:solidFill>
              </a:rPr>
              <a:t>        BOWLER,</a:t>
            </a:r>
          </a:p>
          <a:p>
            <a:r>
              <a:rPr lang="en-US" sz="1400" dirty="0">
                <a:solidFill>
                  <a:schemeClr val="bg1"/>
                </a:solidFill>
              </a:rPr>
              <a:t>        COUNT(*) AS </a:t>
            </a:r>
            <a:r>
              <a:rPr lang="en-US" sz="1400" err="1">
                <a:solidFill>
                  <a:schemeClr val="bg1"/>
                </a:solidFill>
              </a:rPr>
              <a:t>total_bowled</a:t>
            </a:r>
            <a:r>
              <a:rPr lang="en-US" sz="1400" dirty="0">
                <a:solidFill>
                  <a:schemeClr val="bg1"/>
                </a:solidFill>
              </a:rPr>
              <a:t>,</a:t>
            </a:r>
          </a:p>
          <a:p>
            <a:r>
              <a:rPr lang="en-US" sz="1400" dirty="0">
                <a:solidFill>
                  <a:schemeClr val="bg1"/>
                </a:solidFill>
              </a:rPr>
              <a:t>        SUM(CASE WHEN </a:t>
            </a:r>
          </a:p>
          <a:p>
            <a:r>
              <a:rPr lang="en-US" sz="1400" err="1">
                <a:solidFill>
                  <a:schemeClr val="bg1"/>
                </a:solidFill>
              </a:rPr>
              <a:t>dismissal_kind</a:t>
            </a:r>
            <a:r>
              <a:rPr lang="en-US" sz="1400" dirty="0">
                <a:solidFill>
                  <a:schemeClr val="bg1"/>
                </a:solidFill>
              </a:rPr>
              <a:t> NOT IN ('run </a:t>
            </a:r>
            <a:r>
              <a:rPr lang="en-US" sz="1400" err="1">
                <a:solidFill>
                  <a:schemeClr val="bg1"/>
                </a:solidFill>
              </a:rPr>
              <a:t>out','retired</a:t>
            </a:r>
            <a:r>
              <a:rPr lang="en-US" sz="1400" dirty="0">
                <a:solidFill>
                  <a:schemeClr val="bg1"/>
                </a:solidFill>
              </a:rPr>
              <a:t> hurt','</a:t>
            </a:r>
            <a:r>
              <a:rPr lang="en-US" sz="1400" err="1">
                <a:solidFill>
                  <a:schemeClr val="bg1"/>
                </a:solidFill>
              </a:rPr>
              <a:t>obstucting</a:t>
            </a:r>
            <a:r>
              <a:rPr lang="en-US" sz="1400" dirty="0">
                <a:solidFill>
                  <a:schemeClr val="bg1"/>
                </a:solidFill>
              </a:rPr>
              <a:t> the </a:t>
            </a:r>
            <a:r>
              <a:rPr lang="en-US" sz="1400" err="1">
                <a:solidFill>
                  <a:schemeClr val="bg1"/>
                </a:solidFill>
              </a:rPr>
              <a:t>field','NA</a:t>
            </a:r>
            <a:r>
              <a:rPr lang="en-US" sz="1400" dirty="0">
                <a:solidFill>
                  <a:schemeClr val="bg1"/>
                </a:solidFill>
              </a:rPr>
              <a:t>') THEN 1 ELSE 0 END) AS </a:t>
            </a:r>
            <a:r>
              <a:rPr lang="en-US" sz="1400" err="1">
                <a:solidFill>
                  <a:schemeClr val="bg1"/>
                </a:solidFill>
              </a:rPr>
              <a:t>total_wickets</a:t>
            </a:r>
            <a:endParaRPr lang="en-US" sz="1400">
              <a:solidFill>
                <a:schemeClr val="bg1"/>
              </a:solidFill>
            </a:endParaRPr>
          </a:p>
          <a:p>
            <a:r>
              <a:rPr lang="en-US" sz="1400" dirty="0">
                <a:solidFill>
                  <a:schemeClr val="bg1"/>
                </a:solidFill>
              </a:rPr>
              <a:t>    FROM IPL_BALL</a:t>
            </a:r>
          </a:p>
          <a:p>
            <a:r>
              <a:rPr lang="en-US" sz="1400" dirty="0">
                <a:solidFill>
                  <a:schemeClr val="bg1"/>
                </a:solidFill>
              </a:rPr>
              <a:t>    GROUP BY BOWLER</a:t>
            </a:r>
          </a:p>
          <a:p>
            <a:r>
              <a:rPr lang="en-US" sz="1400" dirty="0">
                <a:solidFill>
                  <a:schemeClr val="bg1"/>
                </a:solidFill>
              </a:rPr>
              <a:t>    HAVING COUNT(*) &gt;= 300 </a:t>
            </a:r>
          </a:p>
          <a:p>
            <a:r>
              <a:rPr lang="en-US" sz="1400" dirty="0">
                <a:solidFill>
                  <a:schemeClr val="bg1"/>
                </a:solidFill>
              </a:rPr>
              <a:t>) AS bowlers</a:t>
            </a:r>
          </a:p>
          <a:p>
            <a:r>
              <a:rPr lang="en-US" sz="1400" dirty="0">
                <a:solidFill>
                  <a:schemeClr val="bg1"/>
                </a:solidFill>
              </a:rPr>
              <a:t>ORDER BY </a:t>
            </a:r>
            <a:r>
              <a:rPr lang="en-US" sz="1400" err="1">
                <a:solidFill>
                  <a:schemeClr val="bg1"/>
                </a:solidFill>
              </a:rPr>
              <a:t>bowler_strike_rate</a:t>
            </a:r>
            <a:r>
              <a:rPr lang="en-US" sz="1400" dirty="0">
                <a:solidFill>
                  <a:schemeClr val="bg1"/>
                </a:solidFill>
              </a:rPr>
              <a:t>;</a:t>
            </a:r>
          </a:p>
        </p:txBody>
      </p:sp>
      <p:sp>
        <p:nvSpPr>
          <p:cNvPr id="4" name="TextBox 3">
            <a:extLst>
              <a:ext uri="{FF2B5EF4-FFF2-40B4-BE49-F238E27FC236}">
                <a16:creationId xmlns:a16="http://schemas.microsoft.com/office/drawing/2014/main" id="{AA312C23-939D-5964-FF14-DA0F8EBEF5D2}"/>
              </a:ext>
            </a:extLst>
          </p:cNvPr>
          <p:cNvSpPr txBox="1"/>
          <p:nvPr/>
        </p:nvSpPr>
        <p:spPr>
          <a:xfrm>
            <a:off x="9267645" y="971909"/>
            <a:ext cx="2743200" cy="307777"/>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rPr>
              <a:t>BATTING_STRIKE_RATE</a:t>
            </a:r>
            <a:endParaRPr lang="en-GB" dirty="0">
              <a:solidFill>
                <a:schemeClr val="bg1"/>
              </a:solidFill>
            </a:endParaRPr>
          </a:p>
        </p:txBody>
      </p:sp>
      <p:sp>
        <p:nvSpPr>
          <p:cNvPr id="5" name="TextBox 4">
            <a:extLst>
              <a:ext uri="{FF2B5EF4-FFF2-40B4-BE49-F238E27FC236}">
                <a16:creationId xmlns:a16="http://schemas.microsoft.com/office/drawing/2014/main" id="{F64730C4-0F01-1B2E-AB3C-89E5BDD166C8}"/>
              </a:ext>
            </a:extLst>
          </p:cNvPr>
          <p:cNvSpPr txBox="1"/>
          <p:nvPr/>
        </p:nvSpPr>
        <p:spPr>
          <a:xfrm>
            <a:off x="8778815" y="2467155"/>
            <a:ext cx="2743200" cy="307777"/>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rPr>
              <a:t>BOWLING_STRIKE_RATE </a:t>
            </a:r>
            <a:endParaRPr lang="en-GB"/>
          </a:p>
        </p:txBody>
      </p:sp>
      <p:sp>
        <p:nvSpPr>
          <p:cNvPr id="7" name="Arrow: Left 6">
            <a:extLst>
              <a:ext uri="{FF2B5EF4-FFF2-40B4-BE49-F238E27FC236}">
                <a16:creationId xmlns:a16="http://schemas.microsoft.com/office/drawing/2014/main" id="{DB5852E9-B12F-47E8-37C7-52228C654B73}"/>
              </a:ext>
            </a:extLst>
          </p:cNvPr>
          <p:cNvSpPr/>
          <p:nvPr/>
        </p:nvSpPr>
        <p:spPr>
          <a:xfrm>
            <a:off x="8324490" y="957531"/>
            <a:ext cx="460075" cy="316301"/>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Down 9">
            <a:extLst>
              <a:ext uri="{FF2B5EF4-FFF2-40B4-BE49-F238E27FC236}">
                <a16:creationId xmlns:a16="http://schemas.microsoft.com/office/drawing/2014/main" id="{103A1E32-3A16-82E8-98F3-B79DB1EF3394}"/>
              </a:ext>
            </a:extLst>
          </p:cNvPr>
          <p:cNvSpPr/>
          <p:nvPr/>
        </p:nvSpPr>
        <p:spPr>
          <a:xfrm>
            <a:off x="9414933" y="3048000"/>
            <a:ext cx="416943" cy="38818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84913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60C1BC-2EA2-5D62-F453-BFFBE04EED46}"/>
              </a:ext>
            </a:extLst>
          </p:cNvPr>
          <p:cNvSpPr txBox="1"/>
          <p:nvPr/>
        </p:nvSpPr>
        <p:spPr>
          <a:xfrm>
            <a:off x="-5751" y="425569"/>
            <a:ext cx="11513386" cy="2308324"/>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chemeClr val="bg1"/>
              </a:solidFill>
            </a:endParaRPr>
          </a:p>
          <a:p>
            <a:r>
              <a:rPr lang="en-US" dirty="0">
                <a:solidFill>
                  <a:schemeClr val="bg1"/>
                </a:solidFill>
              </a:rPr>
              <a:t>SELECT </a:t>
            </a:r>
            <a:r>
              <a:rPr lang="en-US" err="1">
                <a:solidFill>
                  <a:schemeClr val="bg1"/>
                </a:solidFill>
              </a:rPr>
              <a:t>a.BATSMAN</a:t>
            </a:r>
            <a:r>
              <a:rPr lang="en-US" dirty="0">
                <a:solidFill>
                  <a:schemeClr val="bg1"/>
                </a:solidFill>
              </a:rPr>
              <a:t> as </a:t>
            </a:r>
            <a:r>
              <a:rPr lang="en-US" err="1">
                <a:solidFill>
                  <a:schemeClr val="bg1"/>
                </a:solidFill>
              </a:rPr>
              <a:t>all_rounder,a.BATTING_STRIKE_RATE</a:t>
            </a:r>
            <a:r>
              <a:rPr lang="en-US" dirty="0">
                <a:solidFill>
                  <a:schemeClr val="bg1"/>
                </a:solidFill>
              </a:rPr>
              <a:t> as </a:t>
            </a:r>
            <a:r>
              <a:rPr lang="en-US" err="1">
                <a:solidFill>
                  <a:schemeClr val="bg1"/>
                </a:solidFill>
              </a:rPr>
              <a:t>batting_strike_rate,b.BOWLER_STRIKE_RATE</a:t>
            </a:r>
            <a:r>
              <a:rPr lang="en-US" dirty="0">
                <a:solidFill>
                  <a:schemeClr val="bg1"/>
                </a:solidFill>
              </a:rPr>
              <a:t> as </a:t>
            </a:r>
            <a:r>
              <a:rPr lang="en-US" err="1">
                <a:solidFill>
                  <a:schemeClr val="bg1"/>
                </a:solidFill>
              </a:rPr>
              <a:t>bowling_strike_rate</a:t>
            </a:r>
            <a:endParaRPr lang="en-US">
              <a:solidFill>
                <a:schemeClr val="bg1"/>
              </a:solidFill>
            </a:endParaRPr>
          </a:p>
          <a:p>
            <a:r>
              <a:rPr lang="en-US" dirty="0">
                <a:solidFill>
                  <a:schemeClr val="bg1"/>
                </a:solidFill>
              </a:rPr>
              <a:t>from BATTING_STRIKE_RATE AS a</a:t>
            </a:r>
          </a:p>
          <a:p>
            <a:r>
              <a:rPr lang="en-US" dirty="0">
                <a:solidFill>
                  <a:schemeClr val="bg1"/>
                </a:solidFill>
              </a:rPr>
              <a:t>INNER JOIN BOWLING_STRIKE_RATE AS b</a:t>
            </a:r>
          </a:p>
          <a:p>
            <a:r>
              <a:rPr lang="en-US" dirty="0">
                <a:solidFill>
                  <a:schemeClr val="bg1"/>
                </a:solidFill>
              </a:rPr>
              <a:t>on </a:t>
            </a:r>
            <a:r>
              <a:rPr lang="en-US" err="1">
                <a:solidFill>
                  <a:schemeClr val="bg1"/>
                </a:solidFill>
              </a:rPr>
              <a:t>a.BATSMAN</a:t>
            </a:r>
            <a:r>
              <a:rPr lang="en-US" dirty="0">
                <a:solidFill>
                  <a:schemeClr val="bg1"/>
                </a:solidFill>
              </a:rPr>
              <a:t>=</a:t>
            </a:r>
            <a:r>
              <a:rPr lang="en-US" err="1">
                <a:solidFill>
                  <a:schemeClr val="bg1"/>
                </a:solidFill>
              </a:rPr>
              <a:t>b.BOWLER</a:t>
            </a:r>
            <a:endParaRPr lang="en-US">
              <a:solidFill>
                <a:schemeClr val="bg1"/>
              </a:solidFill>
            </a:endParaRPr>
          </a:p>
          <a:p>
            <a:r>
              <a:rPr lang="en-US" dirty="0">
                <a:solidFill>
                  <a:schemeClr val="bg1"/>
                </a:solidFill>
              </a:rPr>
              <a:t>order by </a:t>
            </a:r>
            <a:r>
              <a:rPr lang="en-US" err="1">
                <a:solidFill>
                  <a:schemeClr val="bg1"/>
                </a:solidFill>
              </a:rPr>
              <a:t>batting_strike_rate</a:t>
            </a:r>
            <a:r>
              <a:rPr lang="en-US" dirty="0">
                <a:solidFill>
                  <a:schemeClr val="bg1"/>
                </a:solidFill>
              </a:rPr>
              <a:t> </a:t>
            </a:r>
            <a:r>
              <a:rPr lang="en-US" err="1">
                <a:solidFill>
                  <a:schemeClr val="bg1"/>
                </a:solidFill>
              </a:rPr>
              <a:t>desc,bowling_strike_rate</a:t>
            </a:r>
            <a:r>
              <a:rPr lang="en-US" dirty="0">
                <a:solidFill>
                  <a:schemeClr val="bg1"/>
                </a:solidFill>
              </a:rPr>
              <a:t> </a:t>
            </a:r>
            <a:r>
              <a:rPr lang="en-US" err="1">
                <a:solidFill>
                  <a:schemeClr val="bg1"/>
                </a:solidFill>
              </a:rPr>
              <a:t>asc</a:t>
            </a:r>
            <a:endParaRPr lang="en-US">
              <a:solidFill>
                <a:schemeClr val="bg1"/>
              </a:solidFill>
            </a:endParaRPr>
          </a:p>
          <a:p>
            <a:r>
              <a:rPr lang="en-US" dirty="0">
                <a:solidFill>
                  <a:schemeClr val="bg1"/>
                </a:solidFill>
              </a:rPr>
              <a:t>limit 10;</a:t>
            </a:r>
          </a:p>
        </p:txBody>
      </p:sp>
      <p:pic>
        <p:nvPicPr>
          <p:cNvPr id="4" name="Picture 3" descr="A computer screen shot of text&#10;&#10;Description automatically generated">
            <a:extLst>
              <a:ext uri="{FF2B5EF4-FFF2-40B4-BE49-F238E27FC236}">
                <a16:creationId xmlns:a16="http://schemas.microsoft.com/office/drawing/2014/main" id="{E1EAAB7B-C11B-B171-A5DF-B4DC3ABA8533}"/>
              </a:ext>
            </a:extLst>
          </p:cNvPr>
          <p:cNvPicPr>
            <a:picLocks noChangeAspect="1"/>
          </p:cNvPicPr>
          <p:nvPr/>
        </p:nvPicPr>
        <p:blipFill>
          <a:blip r:embed="rId2"/>
          <a:stretch>
            <a:fillRect/>
          </a:stretch>
        </p:blipFill>
        <p:spPr>
          <a:xfrm>
            <a:off x="311001" y="3188630"/>
            <a:ext cx="10994905" cy="2953647"/>
          </a:xfrm>
          <a:prstGeom prst="rect">
            <a:avLst/>
          </a:prstGeom>
        </p:spPr>
      </p:pic>
    </p:spTree>
    <p:extLst>
      <p:ext uri="{BB962C8B-B14F-4D97-AF65-F5344CB8AC3E}">
        <p14:creationId xmlns:p14="http://schemas.microsoft.com/office/powerpoint/2010/main" val="3103940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1CFC1BB-C5B3-4479-9752-C53221627F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5B5FB5AC-39B2-4094-B486-0FCD501D504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13" name="Picture 12">
            <a:extLst>
              <a:ext uri="{FF2B5EF4-FFF2-40B4-BE49-F238E27FC236}">
                <a16:creationId xmlns:a16="http://schemas.microsoft.com/office/drawing/2014/main" id="{7150CFE4-97B0-48C6-ACD6-9399CBA1190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15" name="Rectangle 14">
            <a:extLst>
              <a:ext uri="{FF2B5EF4-FFF2-40B4-BE49-F238E27FC236}">
                <a16:creationId xmlns:a16="http://schemas.microsoft.com/office/drawing/2014/main" id="{A3C6F7F0-46EA-4F8E-A112-1B517C2B5A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1691A3CC-CDA1-4C3B-9150-FCFB5373D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Picture 3" descr="A cartoon of a cricket player hitting a ball&#10;&#10;Description automatically generated">
            <a:extLst>
              <a:ext uri="{FF2B5EF4-FFF2-40B4-BE49-F238E27FC236}">
                <a16:creationId xmlns:a16="http://schemas.microsoft.com/office/drawing/2014/main" id="{34F9E65B-845A-9EFE-BA84-A000280E4319}"/>
              </a:ext>
            </a:extLst>
          </p:cNvPr>
          <p:cNvPicPr>
            <a:picLocks noChangeAspect="1"/>
          </p:cNvPicPr>
          <p:nvPr/>
        </p:nvPicPr>
        <p:blipFill rotWithShape="1">
          <a:blip r:embed="rId5"/>
          <a:srcRect b="5180"/>
          <a:stretch/>
        </p:blipFill>
        <p:spPr>
          <a:xfrm>
            <a:off x="6093556" y="10"/>
            <a:ext cx="6095267" cy="6857990"/>
          </a:xfrm>
          <a:prstGeom prst="rect">
            <a:avLst/>
          </a:prstGeom>
          <a:ln>
            <a:noFill/>
          </a:ln>
          <a:effectLst/>
        </p:spPr>
      </p:pic>
      <p:pic>
        <p:nvPicPr>
          <p:cNvPr id="19" name="Picture 18">
            <a:extLst>
              <a:ext uri="{FF2B5EF4-FFF2-40B4-BE49-F238E27FC236}">
                <a16:creationId xmlns:a16="http://schemas.microsoft.com/office/drawing/2014/main" id="{0A59D270-32B9-42B3-935F-106B212414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688333"/>
            <a:ext cx="6400800" cy="185701"/>
          </a:xfrm>
          <a:prstGeom prst="rect">
            <a:avLst/>
          </a:prstGeom>
        </p:spPr>
      </p:pic>
      <p:sp>
        <p:nvSpPr>
          <p:cNvPr id="21" name="Rectangle 20">
            <a:extLst>
              <a:ext uri="{FF2B5EF4-FFF2-40B4-BE49-F238E27FC236}">
                <a16:creationId xmlns:a16="http://schemas.microsoft.com/office/drawing/2014/main" id="{1D369348-41FF-46AE-8D88-31B1A1C4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162908"/>
            <a:ext cx="6411743" cy="253218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D27E7D4E-3D0B-71BC-E97B-3203514D1E51}"/>
              </a:ext>
            </a:extLst>
          </p:cNvPr>
          <p:cNvSpPr>
            <a:spLocks noGrp="1"/>
          </p:cNvSpPr>
          <p:nvPr>
            <p:ph type="title"/>
          </p:nvPr>
        </p:nvSpPr>
        <p:spPr>
          <a:xfrm>
            <a:off x="680322" y="2403231"/>
            <a:ext cx="5192940" cy="2133600"/>
          </a:xfrm>
        </p:spPr>
        <p:txBody>
          <a:bodyPr vert="horz" lIns="91440" tIns="45720" rIns="91440" bIns="45720" rtlCol="0" anchor="b">
            <a:normAutofit/>
          </a:bodyPr>
          <a:lstStyle/>
          <a:p>
            <a:r>
              <a:rPr lang="en-US" sz="5400"/>
              <a:t>BIDDING ON WICKETKEEPER </a:t>
            </a:r>
          </a:p>
        </p:txBody>
      </p:sp>
    </p:spTree>
    <p:extLst>
      <p:ext uri="{BB962C8B-B14F-4D97-AF65-F5344CB8AC3E}">
        <p14:creationId xmlns:p14="http://schemas.microsoft.com/office/powerpoint/2010/main" val="2035077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C3E6C53-102E-4ACA-BCBB-3CC973B994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a:extLst>
              <a:ext uri="{FF2B5EF4-FFF2-40B4-BE49-F238E27FC236}">
                <a16:creationId xmlns:a16="http://schemas.microsoft.com/office/drawing/2014/main" id="{E4655D52-F2FA-4137-8A31-499A4FE6291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2" name="Picture 11">
            <a:extLst>
              <a:ext uri="{FF2B5EF4-FFF2-40B4-BE49-F238E27FC236}">
                <a16:creationId xmlns:a16="http://schemas.microsoft.com/office/drawing/2014/main" id="{8519FA1D-01C2-425F-B9AA-D69B4DD0A1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4" name="Rectangle 13">
            <a:extLst>
              <a:ext uri="{FF2B5EF4-FFF2-40B4-BE49-F238E27FC236}">
                <a16:creationId xmlns:a16="http://schemas.microsoft.com/office/drawing/2014/main" id="{DC0D803F-BF83-4194-8691-90B027BDF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4316132F-CC4B-4C96-9C75-95DC7CD48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a:extLst>
              <a:ext uri="{FF2B5EF4-FFF2-40B4-BE49-F238E27FC236}">
                <a16:creationId xmlns:a16="http://schemas.microsoft.com/office/drawing/2014/main" id="{273E8A9A-DA4B-4F12-9331-219EBE523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81776" y="0"/>
            <a:ext cx="9176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20" name="Picture 19">
            <a:extLst>
              <a:ext uri="{FF2B5EF4-FFF2-40B4-BE49-F238E27FC236}">
                <a16:creationId xmlns:a16="http://schemas.microsoft.com/office/drawing/2014/main" id="{1C4DCE7A-0E46-404B-9E0D-E93DC7B2A8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2" name="Rectangle 21">
            <a:extLst>
              <a:ext uri="{FF2B5EF4-FFF2-40B4-BE49-F238E27FC236}">
                <a16:creationId xmlns:a16="http://schemas.microsoft.com/office/drawing/2014/main" id="{ADD673B7-F6B7-43EE-936B-D09F3A337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281776" cy="6858000"/>
          </a:xfrm>
          <a:prstGeom prst="rect">
            <a:avLst/>
          </a:prstGeom>
          <a:solidFill>
            <a:schemeClr val="bg1"/>
          </a:soli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E87A7F7-2A39-8CC6-EF19-23ECB417113F}"/>
              </a:ext>
            </a:extLst>
          </p:cNvPr>
          <p:cNvSpPr txBox="1"/>
          <p:nvPr/>
        </p:nvSpPr>
        <p:spPr>
          <a:xfrm>
            <a:off x="680321" y="418861"/>
            <a:ext cx="10600433" cy="6005642"/>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00">
              <a:lnSpc>
                <a:spcPct val="90000"/>
              </a:lnSpc>
              <a:spcAft>
                <a:spcPts val="600"/>
              </a:spcAft>
            </a:pPr>
            <a:r>
              <a:rPr lang="en-US" sz="1600"/>
              <a:t>To get two best wicketkeepers for an IPL team, to choose the ideal wicketkeeper we will have to evaluate them based on following criteria :</a:t>
            </a:r>
            <a:endParaRPr lang="en-US"/>
          </a:p>
          <a:p>
            <a:pPr defTabSz="914400">
              <a:lnSpc>
                <a:spcPct val="90000"/>
              </a:lnSpc>
              <a:spcAft>
                <a:spcPts val="600"/>
              </a:spcAft>
            </a:pPr>
            <a:r>
              <a:rPr lang="en-US" sz="1600" b="1" dirty="0"/>
              <a:t>1. Batting Ability</a:t>
            </a:r>
          </a:p>
          <a:p>
            <a:pPr marL="342900" indent="-342900" defTabSz="914400">
              <a:lnSpc>
                <a:spcPct val="90000"/>
              </a:lnSpc>
              <a:spcAft>
                <a:spcPts val="600"/>
              </a:spcAft>
              <a:buAutoNum type="alphaLcPeriod"/>
            </a:pPr>
            <a:r>
              <a:rPr lang="en-US" sz="1600" b="1"/>
              <a:t>Strike Rate and Aggression: </a:t>
            </a:r>
            <a:r>
              <a:rPr lang="en-US" sz="1600"/>
              <a:t>We require quick scoring and aggressive batting to build partnerships </a:t>
            </a:r>
            <a:r>
              <a:rPr lang="en-US" sz="1600" dirty="0"/>
              <a:t>and finish innings effectively.</a:t>
            </a:r>
          </a:p>
          <a:p>
            <a:pPr indent="-228600" defTabSz="914400">
              <a:lnSpc>
                <a:spcPct val="90000"/>
              </a:lnSpc>
              <a:spcAft>
                <a:spcPts val="600"/>
              </a:spcAft>
              <a:buAutoNum type="alphaLcPeriod"/>
            </a:pPr>
            <a:r>
              <a:rPr lang="en-US" sz="1600" dirty="0"/>
              <a:t>  Run getter :The wicketkeeper should be capable of playing crucial innings under pressure</a:t>
            </a:r>
          </a:p>
          <a:p>
            <a:pPr defTabSz="914400">
              <a:lnSpc>
                <a:spcPct val="90000"/>
              </a:lnSpc>
              <a:spcAft>
                <a:spcPts val="600"/>
              </a:spcAft>
            </a:pPr>
            <a:endParaRPr lang="en-US" sz="1600" dirty="0"/>
          </a:p>
          <a:p>
            <a:pPr defTabSz="914400">
              <a:lnSpc>
                <a:spcPct val="90000"/>
              </a:lnSpc>
              <a:spcAft>
                <a:spcPts val="600"/>
              </a:spcAft>
            </a:pPr>
            <a:r>
              <a:rPr lang="en-US" sz="1600" b="1" dirty="0"/>
              <a:t>2. Wicketkeeping Skills</a:t>
            </a:r>
          </a:p>
          <a:p>
            <a:pPr indent="-228600" defTabSz="914400">
              <a:lnSpc>
                <a:spcPct val="90000"/>
              </a:lnSpc>
              <a:spcAft>
                <a:spcPts val="600"/>
              </a:spcAft>
              <a:buAutoNum type="alphaLcPeriod"/>
            </a:pPr>
            <a:r>
              <a:rPr lang="en-US" sz="1600" b="1"/>
              <a:t>Catching Ability:</a:t>
            </a:r>
            <a:r>
              <a:rPr lang="en-US" sz="1600"/>
              <a:t> Reliable catching, especially on tough deliveries and edges, is essential.</a:t>
            </a:r>
          </a:p>
          <a:p>
            <a:pPr indent="-228600" defTabSz="914400">
              <a:lnSpc>
                <a:spcPct val="90000"/>
              </a:lnSpc>
              <a:spcAft>
                <a:spcPts val="600"/>
              </a:spcAft>
              <a:buAutoNum type="alphaLcPeriod"/>
            </a:pPr>
            <a:r>
              <a:rPr lang="en-US" sz="1600" b="1" dirty="0"/>
              <a:t>b. Stumping Skills:</a:t>
            </a:r>
            <a:r>
              <a:rPr lang="en-US" sz="1600"/>
              <a:t> Stumpings are often require quick reflexes and awareness.</a:t>
            </a:r>
          </a:p>
          <a:p>
            <a:pPr defTabSz="914400">
              <a:lnSpc>
                <a:spcPct val="90000"/>
              </a:lnSpc>
              <a:spcAft>
                <a:spcPts val="600"/>
              </a:spcAft>
            </a:pPr>
            <a:endParaRPr lang="en-US" sz="1600" dirty="0"/>
          </a:p>
          <a:p>
            <a:pPr defTabSz="914400">
              <a:lnSpc>
                <a:spcPct val="90000"/>
              </a:lnSpc>
              <a:spcAft>
                <a:spcPts val="600"/>
              </a:spcAft>
            </a:pPr>
            <a:r>
              <a:rPr lang="en-US" sz="1600" b="1"/>
              <a:t>3. Strategic Awareness during field setting</a:t>
            </a:r>
          </a:p>
          <a:p>
            <a:pPr indent="-228600" defTabSz="914400">
              <a:lnSpc>
                <a:spcPct val="90000"/>
              </a:lnSpc>
              <a:spcAft>
                <a:spcPts val="600"/>
              </a:spcAft>
              <a:buAutoNum type="alphaLcPeriod"/>
            </a:pPr>
            <a:r>
              <a:rPr lang="en-US" sz="1600" b="1"/>
              <a:t>Game Awareness:</a:t>
            </a:r>
            <a:r>
              <a:rPr lang="en-US" sz="1600"/>
              <a:t> A wicketkeeper’s ability to read the game and support is valuable for captain in the field.</a:t>
            </a:r>
          </a:p>
          <a:p>
            <a:pPr indent="-228600" defTabSz="914400">
              <a:lnSpc>
                <a:spcPct val="90000"/>
              </a:lnSpc>
              <a:spcAft>
                <a:spcPts val="600"/>
              </a:spcAft>
              <a:buAutoNum type="alphaLcPeriod"/>
            </a:pPr>
            <a:r>
              <a:rPr lang="en-US" sz="1600" b="1"/>
              <a:t>Communication Skills:</a:t>
            </a:r>
            <a:r>
              <a:rPr lang="en-US" sz="1600" dirty="0"/>
              <a:t> Clear and strategic communication helps in setting up the field and executing plans.</a:t>
            </a:r>
          </a:p>
          <a:p>
            <a:pPr defTabSz="914400">
              <a:lnSpc>
                <a:spcPct val="90000"/>
              </a:lnSpc>
              <a:spcAft>
                <a:spcPts val="600"/>
              </a:spcAft>
            </a:pPr>
            <a:endParaRPr lang="en-US" sz="1600" b="1" dirty="0"/>
          </a:p>
          <a:p>
            <a:pPr defTabSz="914400">
              <a:lnSpc>
                <a:spcPct val="90000"/>
              </a:lnSpc>
              <a:spcAft>
                <a:spcPts val="600"/>
              </a:spcAft>
            </a:pPr>
            <a:r>
              <a:rPr lang="en-US" sz="1600" b="1"/>
              <a:t>Final Selection</a:t>
            </a:r>
            <a:endParaRPr lang="en-US" sz="1600" b="1" dirty="0"/>
          </a:p>
          <a:p>
            <a:pPr indent="-228600" defTabSz="914400">
              <a:lnSpc>
                <a:spcPct val="90000"/>
              </a:lnSpc>
              <a:spcAft>
                <a:spcPts val="600"/>
              </a:spcAft>
              <a:buAutoNum type="alphaLcPeriod"/>
            </a:pPr>
            <a:r>
              <a:rPr lang="en-US" sz="1600" dirty="0"/>
              <a:t>Based on the criteria above, evaluate the candidates to choose the two wicketkeepers who excel in aggressive </a:t>
            </a:r>
            <a:r>
              <a:rPr lang="en-US" sz="1600"/>
              <a:t>batting, effective keeping, versatile fielding, strategic thinking, recent form, and fitness.</a:t>
            </a:r>
            <a:endParaRPr lang="en-US" sz="1600" dirty="0"/>
          </a:p>
        </p:txBody>
      </p:sp>
    </p:spTree>
    <p:extLst>
      <p:ext uri="{BB962C8B-B14F-4D97-AF65-F5344CB8AC3E}">
        <p14:creationId xmlns:p14="http://schemas.microsoft.com/office/powerpoint/2010/main" val="9722811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0FBB7-617F-7DE1-4EED-560E787FD75E}"/>
              </a:ext>
            </a:extLst>
          </p:cNvPr>
          <p:cNvSpPr>
            <a:spLocks noGrp="1"/>
          </p:cNvSpPr>
          <p:nvPr>
            <p:ph type="title"/>
          </p:nvPr>
        </p:nvSpPr>
        <p:spPr/>
        <p:txBody>
          <a:bodyPr/>
          <a:lstStyle/>
          <a:p>
            <a:r>
              <a:rPr lang="en-GB" dirty="0"/>
              <a:t>ADDITIONAL QUESTIONS</a:t>
            </a:r>
          </a:p>
        </p:txBody>
      </p:sp>
    </p:spTree>
    <p:extLst>
      <p:ext uri="{BB962C8B-B14F-4D97-AF65-F5344CB8AC3E}">
        <p14:creationId xmlns:p14="http://schemas.microsoft.com/office/powerpoint/2010/main" val="1146786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1AFD5-3F13-94A8-4A08-19CC5569325B}"/>
              </a:ext>
            </a:extLst>
          </p:cNvPr>
          <p:cNvSpPr>
            <a:spLocks noGrp="1"/>
          </p:cNvSpPr>
          <p:nvPr>
            <p:ph type="title"/>
          </p:nvPr>
        </p:nvSpPr>
        <p:spPr/>
        <p:txBody>
          <a:bodyPr/>
          <a:lstStyle/>
          <a:p>
            <a:r>
              <a:rPr lang="en-GB" dirty="0"/>
              <a:t>CREATING DELIVERIES AND MATCHES TABLE</a:t>
            </a:r>
          </a:p>
        </p:txBody>
      </p:sp>
      <p:pic>
        <p:nvPicPr>
          <p:cNvPr id="4" name="Picture 3" descr="A close up of text&#10;&#10;Description automatically generated">
            <a:extLst>
              <a:ext uri="{FF2B5EF4-FFF2-40B4-BE49-F238E27FC236}">
                <a16:creationId xmlns:a16="http://schemas.microsoft.com/office/drawing/2014/main" id="{07FCB9FF-DF3A-8A4A-0E84-A02F0EAAD646}"/>
              </a:ext>
            </a:extLst>
          </p:cNvPr>
          <p:cNvPicPr>
            <a:picLocks noChangeAspect="1"/>
          </p:cNvPicPr>
          <p:nvPr/>
        </p:nvPicPr>
        <p:blipFill>
          <a:blip r:embed="rId2"/>
          <a:stretch>
            <a:fillRect/>
          </a:stretch>
        </p:blipFill>
        <p:spPr>
          <a:xfrm>
            <a:off x="262297" y="2177271"/>
            <a:ext cx="4924425" cy="2302174"/>
          </a:xfrm>
          <a:prstGeom prst="rect">
            <a:avLst/>
          </a:prstGeom>
        </p:spPr>
      </p:pic>
      <p:pic>
        <p:nvPicPr>
          <p:cNvPr id="5" name="Picture 4" descr="A white background with black text&#10;&#10;Description automatically generated">
            <a:extLst>
              <a:ext uri="{FF2B5EF4-FFF2-40B4-BE49-F238E27FC236}">
                <a16:creationId xmlns:a16="http://schemas.microsoft.com/office/drawing/2014/main" id="{901996C1-EBC0-2365-B476-2C333AC9C2A1}"/>
              </a:ext>
            </a:extLst>
          </p:cNvPr>
          <p:cNvPicPr>
            <a:picLocks noChangeAspect="1"/>
          </p:cNvPicPr>
          <p:nvPr/>
        </p:nvPicPr>
        <p:blipFill>
          <a:blip r:embed="rId3"/>
          <a:stretch>
            <a:fillRect/>
          </a:stretch>
        </p:blipFill>
        <p:spPr>
          <a:xfrm>
            <a:off x="6229350" y="2277464"/>
            <a:ext cx="5369224" cy="2303073"/>
          </a:xfrm>
          <a:prstGeom prst="rect">
            <a:avLst/>
          </a:prstGeom>
        </p:spPr>
      </p:pic>
      <p:sp>
        <p:nvSpPr>
          <p:cNvPr id="3" name="TextBox 2">
            <a:extLst>
              <a:ext uri="{FF2B5EF4-FFF2-40B4-BE49-F238E27FC236}">
                <a16:creationId xmlns:a16="http://schemas.microsoft.com/office/drawing/2014/main" id="{2362BECE-F15D-F8C7-34EB-6D5B2EFAD564}"/>
              </a:ext>
            </a:extLst>
          </p:cNvPr>
          <p:cNvSpPr txBox="1"/>
          <p:nvPr/>
        </p:nvSpPr>
        <p:spPr>
          <a:xfrm>
            <a:off x="267419" y="4609382"/>
            <a:ext cx="6495689" cy="400110"/>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bg1"/>
                </a:solidFill>
              </a:rPr>
              <a:t>CREATE TABLE DELIVERIES AS SELECT * FROM IPL_BALL;</a:t>
            </a:r>
          </a:p>
        </p:txBody>
      </p:sp>
      <p:sp>
        <p:nvSpPr>
          <p:cNvPr id="6" name="TextBox 5">
            <a:extLst>
              <a:ext uri="{FF2B5EF4-FFF2-40B4-BE49-F238E27FC236}">
                <a16:creationId xmlns:a16="http://schemas.microsoft.com/office/drawing/2014/main" id="{53F4E0DD-4AAE-7E79-C797-3882F3077FFB}"/>
              </a:ext>
            </a:extLst>
          </p:cNvPr>
          <p:cNvSpPr txBox="1"/>
          <p:nvPr/>
        </p:nvSpPr>
        <p:spPr>
          <a:xfrm>
            <a:off x="4048664" y="5428891"/>
            <a:ext cx="7142671" cy="400110"/>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bg1"/>
                </a:solidFill>
              </a:rPr>
              <a:t>CREATE TABLE MATCHES AS SELECT * FROM IPL_MATCHES;</a:t>
            </a:r>
          </a:p>
        </p:txBody>
      </p:sp>
    </p:spTree>
    <p:extLst>
      <p:ext uri="{BB962C8B-B14F-4D97-AF65-F5344CB8AC3E}">
        <p14:creationId xmlns:p14="http://schemas.microsoft.com/office/powerpoint/2010/main" val="2046622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C18C-CE82-9C9B-ACF5-CEE782878FCA}"/>
              </a:ext>
            </a:extLst>
          </p:cNvPr>
          <p:cNvSpPr>
            <a:spLocks noGrp="1"/>
          </p:cNvSpPr>
          <p:nvPr>
            <p:ph type="title"/>
          </p:nvPr>
        </p:nvSpPr>
        <p:spPr/>
        <p:txBody>
          <a:bodyPr/>
          <a:lstStyle/>
          <a:p>
            <a:r>
              <a:rPr lang="en-GB" dirty="0">
                <a:ea typeface="+mj-lt"/>
                <a:cs typeface="+mj-lt"/>
              </a:rPr>
              <a:t>1. Get the count of cities that have hosted an IPL match </a:t>
            </a:r>
            <a:endParaRPr lang="en-US" dirty="0"/>
          </a:p>
        </p:txBody>
      </p:sp>
      <p:pic>
        <p:nvPicPr>
          <p:cNvPr id="7" name="Content Placeholder 6" descr="A close up of words&#10;&#10;Description automatically generated">
            <a:extLst>
              <a:ext uri="{FF2B5EF4-FFF2-40B4-BE49-F238E27FC236}">
                <a16:creationId xmlns:a16="http://schemas.microsoft.com/office/drawing/2014/main" id="{53E797C3-38BF-2A54-9986-404E0C2939CB}"/>
              </a:ext>
            </a:extLst>
          </p:cNvPr>
          <p:cNvPicPr>
            <a:picLocks noGrp="1" noChangeAspect="1"/>
          </p:cNvPicPr>
          <p:nvPr>
            <p:ph idx="1"/>
          </p:nvPr>
        </p:nvPicPr>
        <p:blipFill>
          <a:blip r:embed="rId2"/>
          <a:stretch>
            <a:fillRect/>
          </a:stretch>
        </p:blipFill>
        <p:spPr>
          <a:xfrm>
            <a:off x="226127" y="2351671"/>
            <a:ext cx="6568475" cy="1758172"/>
          </a:xfrm>
        </p:spPr>
      </p:pic>
      <p:pic>
        <p:nvPicPr>
          <p:cNvPr id="8" name="Picture 7" descr="A screenshot of a computer&#10;&#10;Description automatically generated">
            <a:extLst>
              <a:ext uri="{FF2B5EF4-FFF2-40B4-BE49-F238E27FC236}">
                <a16:creationId xmlns:a16="http://schemas.microsoft.com/office/drawing/2014/main" id="{BB5A4A06-BBB1-5D40-9DC3-7D382D13A550}"/>
              </a:ext>
            </a:extLst>
          </p:cNvPr>
          <p:cNvPicPr>
            <a:picLocks noChangeAspect="1"/>
          </p:cNvPicPr>
          <p:nvPr/>
        </p:nvPicPr>
        <p:blipFill>
          <a:blip r:embed="rId3"/>
          <a:stretch>
            <a:fillRect/>
          </a:stretch>
        </p:blipFill>
        <p:spPr>
          <a:xfrm>
            <a:off x="7317537" y="2618387"/>
            <a:ext cx="4299908" cy="2325717"/>
          </a:xfrm>
          <a:prstGeom prst="rect">
            <a:avLst/>
          </a:prstGeom>
        </p:spPr>
      </p:pic>
      <p:sp>
        <p:nvSpPr>
          <p:cNvPr id="3" name="TextBox 2">
            <a:extLst>
              <a:ext uri="{FF2B5EF4-FFF2-40B4-BE49-F238E27FC236}">
                <a16:creationId xmlns:a16="http://schemas.microsoft.com/office/drawing/2014/main" id="{796A990F-634C-3A18-CAF8-D816800494D2}"/>
              </a:ext>
            </a:extLst>
          </p:cNvPr>
          <p:cNvSpPr txBox="1"/>
          <p:nvPr/>
        </p:nvSpPr>
        <p:spPr>
          <a:xfrm>
            <a:off x="684362" y="4566249"/>
            <a:ext cx="4827916" cy="1384995"/>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solidFill>
                  <a:schemeClr val="bg1"/>
                </a:solidFill>
              </a:rPr>
              <a:t>SELECT COUNT(DISTINCT CITY) AS HOST_CITIES</a:t>
            </a:r>
          </a:p>
          <a:p>
            <a:r>
              <a:rPr lang="en-US" sz="2800" dirty="0">
                <a:solidFill>
                  <a:schemeClr val="bg1"/>
                </a:solidFill>
              </a:rPr>
              <a:t>FROM MATCHES;</a:t>
            </a:r>
          </a:p>
        </p:txBody>
      </p:sp>
    </p:spTree>
    <p:extLst>
      <p:ext uri="{BB962C8B-B14F-4D97-AF65-F5344CB8AC3E}">
        <p14:creationId xmlns:p14="http://schemas.microsoft.com/office/powerpoint/2010/main" val="177800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B3B1-36DA-FFEF-AD68-3A5DAAC3C011}"/>
              </a:ext>
            </a:extLst>
          </p:cNvPr>
          <p:cNvSpPr>
            <a:spLocks noGrp="1"/>
          </p:cNvSpPr>
          <p:nvPr>
            <p:ph type="title"/>
          </p:nvPr>
        </p:nvSpPr>
        <p:spPr/>
        <p:txBody>
          <a:bodyPr>
            <a:normAutofit/>
          </a:bodyPr>
          <a:lstStyle/>
          <a:p>
            <a:r>
              <a:rPr lang="en-GB" sz="1800" dirty="0">
                <a:ea typeface="+mj-lt"/>
                <a:cs typeface="+mj-lt"/>
              </a:rPr>
              <a:t>2. Create table deliveries_v02 with all the columns of the table ‘deliveries’ and an additional column </a:t>
            </a:r>
            <a:r>
              <a:rPr lang="en-GB" sz="1800" err="1">
                <a:ea typeface="+mj-lt"/>
                <a:cs typeface="+mj-lt"/>
              </a:rPr>
              <a:t>ball_result</a:t>
            </a:r>
            <a:r>
              <a:rPr lang="en-GB" sz="1800" dirty="0">
                <a:ea typeface="+mj-lt"/>
                <a:cs typeface="+mj-lt"/>
              </a:rPr>
              <a:t> containing values boundary, dot or other depending on the </a:t>
            </a:r>
            <a:r>
              <a:rPr lang="en-GB" sz="1800" err="1">
                <a:ea typeface="+mj-lt"/>
                <a:cs typeface="+mj-lt"/>
              </a:rPr>
              <a:t>total_run</a:t>
            </a:r>
            <a:r>
              <a:rPr lang="en-GB" sz="1800" dirty="0">
                <a:ea typeface="+mj-lt"/>
                <a:cs typeface="+mj-lt"/>
              </a:rPr>
              <a:t> </a:t>
            </a:r>
            <a:endParaRPr lang="en-US"/>
          </a:p>
        </p:txBody>
      </p:sp>
      <p:pic>
        <p:nvPicPr>
          <p:cNvPr id="3" name="Picture 2" descr="A white screen with black text&#10;&#10;Description automatically generated">
            <a:extLst>
              <a:ext uri="{FF2B5EF4-FFF2-40B4-BE49-F238E27FC236}">
                <a16:creationId xmlns:a16="http://schemas.microsoft.com/office/drawing/2014/main" id="{D9AE658C-C45A-5C40-6E2C-D4523C4968C7}"/>
              </a:ext>
            </a:extLst>
          </p:cNvPr>
          <p:cNvPicPr>
            <a:picLocks noChangeAspect="1"/>
          </p:cNvPicPr>
          <p:nvPr/>
        </p:nvPicPr>
        <p:blipFill>
          <a:blip r:embed="rId2"/>
          <a:stretch>
            <a:fillRect/>
          </a:stretch>
        </p:blipFill>
        <p:spPr>
          <a:xfrm>
            <a:off x="289075" y="2150224"/>
            <a:ext cx="5072152" cy="3405816"/>
          </a:xfrm>
          <a:prstGeom prst="rect">
            <a:avLst/>
          </a:prstGeom>
        </p:spPr>
      </p:pic>
      <p:sp>
        <p:nvSpPr>
          <p:cNvPr id="4" name="TextBox 3">
            <a:extLst>
              <a:ext uri="{FF2B5EF4-FFF2-40B4-BE49-F238E27FC236}">
                <a16:creationId xmlns:a16="http://schemas.microsoft.com/office/drawing/2014/main" id="{5B19ABAC-1A18-B595-34FE-DAFB1E94DC47}"/>
              </a:ext>
            </a:extLst>
          </p:cNvPr>
          <p:cNvSpPr txBox="1"/>
          <p:nvPr/>
        </p:nvSpPr>
        <p:spPr>
          <a:xfrm>
            <a:off x="6535947" y="2352136"/>
            <a:ext cx="4410973" cy="2585323"/>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CREATE TABLE DELIVERIES_V02 AS</a:t>
            </a:r>
          </a:p>
          <a:p>
            <a:r>
              <a:rPr lang="en-US" dirty="0">
                <a:solidFill>
                  <a:schemeClr val="bg1"/>
                </a:solidFill>
              </a:rPr>
              <a:t>SELECT *,</a:t>
            </a:r>
          </a:p>
          <a:p>
            <a:r>
              <a:rPr lang="en-US" dirty="0">
                <a:solidFill>
                  <a:schemeClr val="bg1"/>
                </a:solidFill>
              </a:rPr>
              <a:t>CASE</a:t>
            </a:r>
          </a:p>
          <a:p>
            <a:r>
              <a:rPr lang="en-US" dirty="0">
                <a:solidFill>
                  <a:schemeClr val="bg1"/>
                </a:solidFill>
              </a:rPr>
              <a:t>WHEN TOTAL_RUNS &gt;= 4 THEN 'boundary'</a:t>
            </a:r>
          </a:p>
          <a:p>
            <a:r>
              <a:rPr lang="en-US" dirty="0">
                <a:solidFill>
                  <a:schemeClr val="bg1"/>
                </a:solidFill>
              </a:rPr>
              <a:t>WHEN TOTAL_RUNS = 0 THEN 'dot'</a:t>
            </a:r>
          </a:p>
          <a:p>
            <a:r>
              <a:rPr lang="en-US" dirty="0">
                <a:solidFill>
                  <a:schemeClr val="bg1"/>
                </a:solidFill>
              </a:rPr>
              <a:t>    ELSE 'other'</a:t>
            </a:r>
          </a:p>
          <a:p>
            <a:r>
              <a:rPr lang="en-US" dirty="0">
                <a:solidFill>
                  <a:schemeClr val="bg1"/>
                </a:solidFill>
              </a:rPr>
              <a:t>END AS BALL_RESULT</a:t>
            </a:r>
          </a:p>
          <a:p>
            <a:r>
              <a:rPr lang="en-US" dirty="0">
                <a:solidFill>
                  <a:schemeClr val="bg1"/>
                </a:solidFill>
              </a:rPr>
              <a:t>FROM DELIVERIES;</a:t>
            </a:r>
          </a:p>
          <a:p>
            <a:endParaRPr lang="en-US" dirty="0">
              <a:solidFill>
                <a:schemeClr val="bg1"/>
              </a:solidFill>
            </a:endParaRPr>
          </a:p>
        </p:txBody>
      </p:sp>
    </p:spTree>
    <p:extLst>
      <p:ext uri="{BB962C8B-B14F-4D97-AF65-F5344CB8AC3E}">
        <p14:creationId xmlns:p14="http://schemas.microsoft.com/office/powerpoint/2010/main" val="2538967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009053-E653-D873-AA3B-8231153C73BB}"/>
              </a:ext>
            </a:extLst>
          </p:cNvPr>
          <p:cNvPicPr>
            <a:picLocks noChangeAspect="1"/>
          </p:cNvPicPr>
          <p:nvPr/>
        </p:nvPicPr>
        <p:blipFill>
          <a:blip r:embed="rId2"/>
          <a:stretch>
            <a:fillRect/>
          </a:stretch>
        </p:blipFill>
        <p:spPr>
          <a:xfrm>
            <a:off x="459806" y="594954"/>
            <a:ext cx="11574314" cy="5768734"/>
          </a:xfrm>
          <a:prstGeom prst="rect">
            <a:avLst/>
          </a:prstGeom>
        </p:spPr>
      </p:pic>
    </p:spTree>
    <p:extLst>
      <p:ext uri="{BB962C8B-B14F-4D97-AF65-F5344CB8AC3E}">
        <p14:creationId xmlns:p14="http://schemas.microsoft.com/office/powerpoint/2010/main" val="11644635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D871F-DA56-72C9-7E67-CFEB43370CA5}"/>
              </a:ext>
            </a:extLst>
          </p:cNvPr>
          <p:cNvSpPr>
            <a:spLocks noGrp="1"/>
          </p:cNvSpPr>
          <p:nvPr>
            <p:ph type="title"/>
          </p:nvPr>
        </p:nvSpPr>
        <p:spPr/>
        <p:txBody>
          <a:bodyPr>
            <a:normAutofit fontScale="90000"/>
          </a:bodyPr>
          <a:lstStyle/>
          <a:p>
            <a:r>
              <a:rPr lang="en-GB" dirty="0">
                <a:ea typeface="+mj-lt"/>
                <a:cs typeface="+mj-lt"/>
              </a:rPr>
              <a:t>3 Write a query to fetch the total number of boundaries and dot balls from the deliveries_v02 table.</a:t>
            </a:r>
            <a:endParaRPr lang="en-US" dirty="0"/>
          </a:p>
        </p:txBody>
      </p:sp>
      <p:pic>
        <p:nvPicPr>
          <p:cNvPr id="3" name="Picture 2" descr="A close up of words&#10;&#10;Description automatically generated">
            <a:extLst>
              <a:ext uri="{FF2B5EF4-FFF2-40B4-BE49-F238E27FC236}">
                <a16:creationId xmlns:a16="http://schemas.microsoft.com/office/drawing/2014/main" id="{828522B9-21B3-3C4D-A079-99B40570E794}"/>
              </a:ext>
            </a:extLst>
          </p:cNvPr>
          <p:cNvPicPr>
            <a:picLocks noChangeAspect="1"/>
          </p:cNvPicPr>
          <p:nvPr/>
        </p:nvPicPr>
        <p:blipFill>
          <a:blip r:embed="rId2"/>
          <a:stretch>
            <a:fillRect/>
          </a:stretch>
        </p:blipFill>
        <p:spPr>
          <a:xfrm>
            <a:off x="206675" y="2056501"/>
            <a:ext cx="6674688" cy="1882355"/>
          </a:xfrm>
          <a:prstGeom prst="rect">
            <a:avLst/>
          </a:prstGeom>
        </p:spPr>
      </p:pic>
      <p:sp>
        <p:nvSpPr>
          <p:cNvPr id="4" name="TextBox 3">
            <a:extLst>
              <a:ext uri="{FF2B5EF4-FFF2-40B4-BE49-F238E27FC236}">
                <a16:creationId xmlns:a16="http://schemas.microsoft.com/office/drawing/2014/main" id="{2C347F56-D05D-804F-6D5E-4A9452399FA0}"/>
              </a:ext>
            </a:extLst>
          </p:cNvPr>
          <p:cNvSpPr txBox="1"/>
          <p:nvPr/>
        </p:nvSpPr>
        <p:spPr>
          <a:xfrm>
            <a:off x="209910" y="4465608"/>
            <a:ext cx="6696972" cy="1754326"/>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SELECT </a:t>
            </a:r>
          </a:p>
          <a:p>
            <a:r>
              <a:rPr lang="en-US" dirty="0">
                <a:solidFill>
                  <a:schemeClr val="bg1"/>
                </a:solidFill>
              </a:rPr>
              <a:t>SUM(CASE WHEN BALL_RESULT = 'boundary' THEN 1 ELSE 0 END) AS </a:t>
            </a:r>
            <a:r>
              <a:rPr lang="en-US" err="1">
                <a:solidFill>
                  <a:schemeClr val="bg1"/>
                </a:solidFill>
              </a:rPr>
              <a:t>total_boundaries</a:t>
            </a:r>
            <a:r>
              <a:rPr lang="en-US" dirty="0">
                <a:solidFill>
                  <a:schemeClr val="bg1"/>
                </a:solidFill>
              </a:rPr>
              <a:t>,</a:t>
            </a:r>
          </a:p>
          <a:p>
            <a:r>
              <a:rPr lang="en-US" dirty="0">
                <a:solidFill>
                  <a:schemeClr val="bg1"/>
                </a:solidFill>
              </a:rPr>
              <a:t>SUM(CASE WHEN BALL_RESULT = 'dot' THEN 1 ELSE 0 END) AS </a:t>
            </a:r>
            <a:r>
              <a:rPr lang="en-US" err="1">
                <a:solidFill>
                  <a:schemeClr val="bg1"/>
                </a:solidFill>
              </a:rPr>
              <a:t>total_dotballs</a:t>
            </a:r>
            <a:endParaRPr lang="en-US">
              <a:solidFill>
                <a:schemeClr val="bg1"/>
              </a:solidFill>
            </a:endParaRPr>
          </a:p>
          <a:p>
            <a:r>
              <a:rPr lang="en-US" dirty="0">
                <a:solidFill>
                  <a:schemeClr val="bg1"/>
                </a:solidFill>
              </a:rPr>
              <a:t>FROM DELIVERIES_V02 ;</a:t>
            </a:r>
          </a:p>
        </p:txBody>
      </p:sp>
      <p:pic>
        <p:nvPicPr>
          <p:cNvPr id="5" name="Picture 4" descr="A screenshot of a computer&#10;&#10;Description automatically generated">
            <a:extLst>
              <a:ext uri="{FF2B5EF4-FFF2-40B4-BE49-F238E27FC236}">
                <a16:creationId xmlns:a16="http://schemas.microsoft.com/office/drawing/2014/main" id="{B6D84682-DA07-6865-6550-3A7B52B1B9B2}"/>
              </a:ext>
            </a:extLst>
          </p:cNvPr>
          <p:cNvPicPr>
            <a:picLocks noChangeAspect="1"/>
          </p:cNvPicPr>
          <p:nvPr/>
        </p:nvPicPr>
        <p:blipFill>
          <a:blip r:embed="rId3"/>
          <a:stretch>
            <a:fillRect/>
          </a:stretch>
        </p:blipFill>
        <p:spPr>
          <a:xfrm>
            <a:off x="7446124" y="2273780"/>
            <a:ext cx="4172129" cy="2497347"/>
          </a:xfrm>
          <a:prstGeom prst="rect">
            <a:avLst/>
          </a:prstGeom>
        </p:spPr>
      </p:pic>
    </p:spTree>
    <p:extLst>
      <p:ext uri="{BB962C8B-B14F-4D97-AF65-F5344CB8AC3E}">
        <p14:creationId xmlns:p14="http://schemas.microsoft.com/office/powerpoint/2010/main" val="21668862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0B3CE-1446-1172-30C3-FEB8F8061A9F}"/>
              </a:ext>
            </a:extLst>
          </p:cNvPr>
          <p:cNvSpPr>
            <a:spLocks noGrp="1"/>
          </p:cNvSpPr>
          <p:nvPr>
            <p:ph type="title"/>
          </p:nvPr>
        </p:nvSpPr>
        <p:spPr>
          <a:xfrm>
            <a:off x="680321" y="925756"/>
            <a:ext cx="9613861" cy="1080938"/>
          </a:xfrm>
        </p:spPr>
        <p:txBody>
          <a:bodyPr vert="horz" lIns="91440" tIns="45720" rIns="91440" bIns="45720" rtlCol="0" anchor="ctr">
            <a:noAutofit/>
          </a:bodyPr>
          <a:lstStyle/>
          <a:p>
            <a:r>
              <a:rPr lang="en-GB" sz="2400" dirty="0">
                <a:ea typeface="+mj-lt"/>
                <a:cs typeface="+mj-lt"/>
              </a:rPr>
              <a:t>4 Write a query to fetch the total number of boundaries scored by each team from the deliveries_v02 table and order it in descending order of the number of boundaries scored.</a:t>
            </a:r>
            <a:endParaRPr lang="en-US" sz="2400" dirty="0"/>
          </a:p>
          <a:p>
            <a:endParaRPr lang="en-GB" sz="2400" dirty="0"/>
          </a:p>
        </p:txBody>
      </p:sp>
      <p:sp>
        <p:nvSpPr>
          <p:cNvPr id="3" name="TextBox 2">
            <a:extLst>
              <a:ext uri="{FF2B5EF4-FFF2-40B4-BE49-F238E27FC236}">
                <a16:creationId xmlns:a16="http://schemas.microsoft.com/office/drawing/2014/main" id="{E4430699-24AE-1C98-64A1-5D112A37222E}"/>
              </a:ext>
            </a:extLst>
          </p:cNvPr>
          <p:cNvSpPr txBox="1"/>
          <p:nvPr/>
        </p:nvSpPr>
        <p:spPr>
          <a:xfrm>
            <a:off x="5615798" y="4566250"/>
            <a:ext cx="6366292" cy="1754326"/>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SELECT BATTING_TEAM, COUNT(*) AS </a:t>
            </a:r>
            <a:r>
              <a:rPr lang="en-US" err="1">
                <a:solidFill>
                  <a:schemeClr val="bg1"/>
                </a:solidFill>
              </a:rPr>
              <a:t>total_boundaries</a:t>
            </a:r>
            <a:endParaRPr lang="en-US">
              <a:solidFill>
                <a:schemeClr val="bg1"/>
              </a:solidFill>
            </a:endParaRPr>
          </a:p>
          <a:p>
            <a:r>
              <a:rPr lang="en-US" dirty="0">
                <a:solidFill>
                  <a:schemeClr val="bg1"/>
                </a:solidFill>
              </a:rPr>
              <a:t>FROM DELIVERIES_V02</a:t>
            </a:r>
          </a:p>
          <a:p>
            <a:r>
              <a:rPr lang="en-US" dirty="0">
                <a:solidFill>
                  <a:schemeClr val="bg1"/>
                </a:solidFill>
              </a:rPr>
              <a:t>WHERE BALL_RESULT = 'boundary'</a:t>
            </a:r>
          </a:p>
          <a:p>
            <a:r>
              <a:rPr lang="en-US" dirty="0">
                <a:solidFill>
                  <a:schemeClr val="bg1"/>
                </a:solidFill>
              </a:rPr>
              <a:t>GROUP BY BATTING_TEAM</a:t>
            </a:r>
          </a:p>
          <a:p>
            <a:r>
              <a:rPr lang="en-US" dirty="0">
                <a:solidFill>
                  <a:schemeClr val="bg1"/>
                </a:solidFill>
              </a:rPr>
              <a:t>ORDER BY </a:t>
            </a:r>
            <a:r>
              <a:rPr lang="en-US" err="1">
                <a:solidFill>
                  <a:schemeClr val="bg1"/>
                </a:solidFill>
              </a:rPr>
              <a:t>total_boundaries</a:t>
            </a:r>
            <a:r>
              <a:rPr lang="en-US" dirty="0">
                <a:solidFill>
                  <a:schemeClr val="bg1"/>
                </a:solidFill>
              </a:rPr>
              <a:t> DESC;</a:t>
            </a:r>
          </a:p>
          <a:p>
            <a:endParaRPr lang="en-US" dirty="0">
              <a:solidFill>
                <a:schemeClr val="bg1"/>
              </a:solidFill>
            </a:endParaRPr>
          </a:p>
        </p:txBody>
      </p:sp>
      <p:pic>
        <p:nvPicPr>
          <p:cNvPr id="4" name="Picture 3" descr="A close up of text&#10;&#10;Description automatically generated">
            <a:extLst>
              <a:ext uri="{FF2B5EF4-FFF2-40B4-BE49-F238E27FC236}">
                <a16:creationId xmlns:a16="http://schemas.microsoft.com/office/drawing/2014/main" id="{84E961DB-A3EB-D6E1-D822-C1F1FBE51C30}"/>
              </a:ext>
            </a:extLst>
          </p:cNvPr>
          <p:cNvPicPr>
            <a:picLocks noChangeAspect="1"/>
          </p:cNvPicPr>
          <p:nvPr/>
        </p:nvPicPr>
        <p:blipFill>
          <a:blip r:embed="rId2"/>
          <a:stretch>
            <a:fillRect/>
          </a:stretch>
        </p:blipFill>
        <p:spPr>
          <a:xfrm>
            <a:off x="199126" y="2152650"/>
            <a:ext cx="5424577" cy="3156548"/>
          </a:xfrm>
          <a:prstGeom prst="rect">
            <a:avLst/>
          </a:prstGeom>
        </p:spPr>
      </p:pic>
    </p:spTree>
    <p:extLst>
      <p:ext uri="{BB962C8B-B14F-4D97-AF65-F5344CB8AC3E}">
        <p14:creationId xmlns:p14="http://schemas.microsoft.com/office/powerpoint/2010/main" val="51020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data&#10;&#10;Description automatically generated">
            <a:extLst>
              <a:ext uri="{FF2B5EF4-FFF2-40B4-BE49-F238E27FC236}">
                <a16:creationId xmlns:a16="http://schemas.microsoft.com/office/drawing/2014/main" id="{89E084A8-7F8C-1E9A-5067-D4108E3064D0}"/>
              </a:ext>
            </a:extLst>
          </p:cNvPr>
          <p:cNvPicPr>
            <a:picLocks noChangeAspect="1"/>
          </p:cNvPicPr>
          <p:nvPr/>
        </p:nvPicPr>
        <p:blipFill>
          <a:blip r:embed="rId2"/>
          <a:stretch>
            <a:fillRect/>
          </a:stretch>
        </p:blipFill>
        <p:spPr>
          <a:xfrm>
            <a:off x="2697913" y="646262"/>
            <a:ext cx="5042138" cy="5536720"/>
          </a:xfrm>
          <a:prstGeom prst="rect">
            <a:avLst/>
          </a:prstGeom>
        </p:spPr>
      </p:pic>
    </p:spTree>
    <p:extLst>
      <p:ext uri="{BB962C8B-B14F-4D97-AF65-F5344CB8AC3E}">
        <p14:creationId xmlns:p14="http://schemas.microsoft.com/office/powerpoint/2010/main" val="2129408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0883D-C925-7F96-3E63-639B465547B9}"/>
              </a:ext>
            </a:extLst>
          </p:cNvPr>
          <p:cNvSpPr>
            <a:spLocks noGrp="1"/>
          </p:cNvSpPr>
          <p:nvPr>
            <p:ph type="title"/>
          </p:nvPr>
        </p:nvSpPr>
        <p:spPr/>
        <p:txBody>
          <a:bodyPr>
            <a:normAutofit/>
          </a:bodyPr>
          <a:lstStyle/>
          <a:p>
            <a:r>
              <a:rPr lang="en-GB" sz="2400" dirty="0">
                <a:ea typeface="+mj-lt"/>
                <a:cs typeface="+mj-lt"/>
              </a:rPr>
              <a:t>5 Write a query to fetch the total number of dot balls bowled by each team and order it in descending order of the total number of dot balls bowled.</a:t>
            </a:r>
            <a:endParaRPr lang="en-US" sz="2400" dirty="0"/>
          </a:p>
        </p:txBody>
      </p:sp>
      <p:sp>
        <p:nvSpPr>
          <p:cNvPr id="3" name="TextBox 2">
            <a:extLst>
              <a:ext uri="{FF2B5EF4-FFF2-40B4-BE49-F238E27FC236}">
                <a16:creationId xmlns:a16="http://schemas.microsoft.com/office/drawing/2014/main" id="{C1A81D18-959A-BB3E-807E-7B539A29B666}"/>
              </a:ext>
            </a:extLst>
          </p:cNvPr>
          <p:cNvSpPr txBox="1"/>
          <p:nvPr/>
        </p:nvSpPr>
        <p:spPr>
          <a:xfrm>
            <a:off x="5615797" y="5011948"/>
            <a:ext cx="5791200" cy="1477328"/>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SELECT BOWLING_TEAM, COUNT(*) AS </a:t>
            </a:r>
            <a:r>
              <a:rPr lang="en-US" err="1">
                <a:solidFill>
                  <a:schemeClr val="bg1"/>
                </a:solidFill>
              </a:rPr>
              <a:t>total_dotballs</a:t>
            </a:r>
            <a:endParaRPr lang="en-US">
              <a:solidFill>
                <a:schemeClr val="bg1"/>
              </a:solidFill>
            </a:endParaRPr>
          </a:p>
          <a:p>
            <a:r>
              <a:rPr lang="en-US" dirty="0">
                <a:solidFill>
                  <a:schemeClr val="bg1"/>
                </a:solidFill>
              </a:rPr>
              <a:t>FROM DELIVERIES_V02</a:t>
            </a:r>
          </a:p>
          <a:p>
            <a:r>
              <a:rPr lang="en-US" dirty="0">
                <a:solidFill>
                  <a:schemeClr val="bg1"/>
                </a:solidFill>
              </a:rPr>
              <a:t>WHERE BALL_RESULT = 'dot'</a:t>
            </a:r>
          </a:p>
          <a:p>
            <a:r>
              <a:rPr lang="en-US" dirty="0">
                <a:solidFill>
                  <a:schemeClr val="bg1"/>
                </a:solidFill>
              </a:rPr>
              <a:t>GROUP BY BOWLING_TEAM</a:t>
            </a:r>
          </a:p>
          <a:p>
            <a:r>
              <a:rPr lang="en-US" dirty="0">
                <a:solidFill>
                  <a:schemeClr val="bg1"/>
                </a:solidFill>
              </a:rPr>
              <a:t>ORDER BY </a:t>
            </a:r>
            <a:r>
              <a:rPr lang="en-US" err="1">
                <a:solidFill>
                  <a:schemeClr val="bg1"/>
                </a:solidFill>
              </a:rPr>
              <a:t>total_dotballs</a:t>
            </a:r>
            <a:r>
              <a:rPr lang="en-US" dirty="0">
                <a:solidFill>
                  <a:schemeClr val="bg1"/>
                </a:solidFill>
              </a:rPr>
              <a:t> DESC;</a:t>
            </a:r>
          </a:p>
        </p:txBody>
      </p:sp>
      <p:pic>
        <p:nvPicPr>
          <p:cNvPr id="4" name="Picture 3">
            <a:extLst>
              <a:ext uri="{FF2B5EF4-FFF2-40B4-BE49-F238E27FC236}">
                <a16:creationId xmlns:a16="http://schemas.microsoft.com/office/drawing/2014/main" id="{2B6B0D43-67AE-6299-19D9-41867F7C993D}"/>
              </a:ext>
            </a:extLst>
          </p:cNvPr>
          <p:cNvPicPr>
            <a:picLocks noChangeAspect="1"/>
          </p:cNvPicPr>
          <p:nvPr/>
        </p:nvPicPr>
        <p:blipFill>
          <a:blip r:embed="rId2"/>
          <a:stretch>
            <a:fillRect/>
          </a:stretch>
        </p:blipFill>
        <p:spPr>
          <a:xfrm>
            <a:off x="-2695" y="1989467"/>
            <a:ext cx="7007164" cy="2879065"/>
          </a:xfrm>
          <a:prstGeom prst="rect">
            <a:avLst/>
          </a:prstGeom>
        </p:spPr>
      </p:pic>
    </p:spTree>
    <p:extLst>
      <p:ext uri="{BB962C8B-B14F-4D97-AF65-F5344CB8AC3E}">
        <p14:creationId xmlns:p14="http://schemas.microsoft.com/office/powerpoint/2010/main" val="22708326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table&#10;&#10;Description automatically generated">
            <a:extLst>
              <a:ext uri="{FF2B5EF4-FFF2-40B4-BE49-F238E27FC236}">
                <a16:creationId xmlns:a16="http://schemas.microsoft.com/office/drawing/2014/main" id="{28783009-DEA6-6839-FC8A-E7E57AAB46C2}"/>
              </a:ext>
            </a:extLst>
          </p:cNvPr>
          <p:cNvPicPr>
            <a:picLocks noChangeAspect="1"/>
          </p:cNvPicPr>
          <p:nvPr/>
        </p:nvPicPr>
        <p:blipFill>
          <a:blip r:embed="rId2"/>
          <a:stretch>
            <a:fillRect/>
          </a:stretch>
        </p:blipFill>
        <p:spPr>
          <a:xfrm>
            <a:off x="2783907" y="771616"/>
            <a:ext cx="4985168" cy="5616694"/>
          </a:xfrm>
          <a:prstGeom prst="rect">
            <a:avLst/>
          </a:prstGeom>
        </p:spPr>
      </p:pic>
    </p:spTree>
    <p:extLst>
      <p:ext uri="{BB962C8B-B14F-4D97-AF65-F5344CB8AC3E}">
        <p14:creationId xmlns:p14="http://schemas.microsoft.com/office/powerpoint/2010/main" val="946838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79836-4FFF-941D-1564-D8854C7B1837}"/>
              </a:ext>
            </a:extLst>
          </p:cNvPr>
          <p:cNvSpPr>
            <a:spLocks noGrp="1"/>
          </p:cNvSpPr>
          <p:nvPr>
            <p:ph type="title"/>
          </p:nvPr>
        </p:nvSpPr>
        <p:spPr/>
        <p:txBody>
          <a:bodyPr>
            <a:normAutofit fontScale="90000"/>
          </a:bodyPr>
          <a:lstStyle/>
          <a:p>
            <a:r>
              <a:rPr lang="en-GB" dirty="0">
                <a:ea typeface="+mj-lt"/>
                <a:cs typeface="+mj-lt"/>
              </a:rPr>
              <a:t>6 Write a query to fetch the total number of dismissals by dismissal kinds where dismissal kind is not NA</a:t>
            </a:r>
            <a:endParaRPr lang="en-US" dirty="0"/>
          </a:p>
        </p:txBody>
      </p:sp>
      <p:pic>
        <p:nvPicPr>
          <p:cNvPr id="3" name="Picture 2" descr="A screenshot of a computer&#10;&#10;Description automatically generated">
            <a:extLst>
              <a:ext uri="{FF2B5EF4-FFF2-40B4-BE49-F238E27FC236}">
                <a16:creationId xmlns:a16="http://schemas.microsoft.com/office/drawing/2014/main" id="{031AFD64-DAE3-528C-642C-F6703621D8CC}"/>
              </a:ext>
            </a:extLst>
          </p:cNvPr>
          <p:cNvPicPr>
            <a:picLocks noChangeAspect="1"/>
          </p:cNvPicPr>
          <p:nvPr/>
        </p:nvPicPr>
        <p:blipFill>
          <a:blip r:embed="rId2"/>
          <a:stretch>
            <a:fillRect/>
          </a:stretch>
        </p:blipFill>
        <p:spPr>
          <a:xfrm>
            <a:off x="6651326" y="2216450"/>
            <a:ext cx="4798443" cy="4437931"/>
          </a:xfrm>
          <a:prstGeom prst="rect">
            <a:avLst/>
          </a:prstGeom>
        </p:spPr>
      </p:pic>
      <p:pic>
        <p:nvPicPr>
          <p:cNvPr id="4" name="Picture 3" descr="A close up of a number&#10;&#10;Description automatically generated">
            <a:extLst>
              <a:ext uri="{FF2B5EF4-FFF2-40B4-BE49-F238E27FC236}">
                <a16:creationId xmlns:a16="http://schemas.microsoft.com/office/drawing/2014/main" id="{3C2A8FA9-EB14-0F1C-0AAE-327DC68372F3}"/>
              </a:ext>
            </a:extLst>
          </p:cNvPr>
          <p:cNvPicPr>
            <a:picLocks noChangeAspect="1"/>
          </p:cNvPicPr>
          <p:nvPr/>
        </p:nvPicPr>
        <p:blipFill>
          <a:blip r:embed="rId3"/>
          <a:stretch>
            <a:fillRect/>
          </a:stretch>
        </p:blipFill>
        <p:spPr>
          <a:xfrm>
            <a:off x="325377" y="2267309"/>
            <a:ext cx="5445244" cy="2179608"/>
          </a:xfrm>
          <a:prstGeom prst="rect">
            <a:avLst/>
          </a:prstGeom>
        </p:spPr>
      </p:pic>
      <p:sp>
        <p:nvSpPr>
          <p:cNvPr id="5" name="TextBox 4">
            <a:extLst>
              <a:ext uri="{FF2B5EF4-FFF2-40B4-BE49-F238E27FC236}">
                <a16:creationId xmlns:a16="http://schemas.microsoft.com/office/drawing/2014/main" id="{F43D38C5-17B1-AC0C-AFF5-014F01476815}"/>
              </a:ext>
            </a:extLst>
          </p:cNvPr>
          <p:cNvSpPr txBox="1"/>
          <p:nvPr/>
        </p:nvSpPr>
        <p:spPr>
          <a:xfrm>
            <a:off x="324928" y="5011947"/>
            <a:ext cx="5748067" cy="1200329"/>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SELECT DISMISSAL_KIND, COUNT(*) AS </a:t>
            </a:r>
            <a:r>
              <a:rPr lang="en-US" err="1">
                <a:solidFill>
                  <a:schemeClr val="bg1"/>
                </a:solidFill>
              </a:rPr>
              <a:t>total_dismissals</a:t>
            </a:r>
            <a:endParaRPr lang="en-US">
              <a:solidFill>
                <a:schemeClr val="bg1"/>
              </a:solidFill>
            </a:endParaRPr>
          </a:p>
          <a:p>
            <a:r>
              <a:rPr lang="en-US" dirty="0">
                <a:solidFill>
                  <a:schemeClr val="bg1"/>
                </a:solidFill>
              </a:rPr>
              <a:t>FROM DELIVERIES_V02</a:t>
            </a:r>
          </a:p>
          <a:p>
            <a:r>
              <a:rPr lang="en-US" dirty="0">
                <a:solidFill>
                  <a:schemeClr val="bg1"/>
                </a:solidFill>
              </a:rPr>
              <a:t>WHERE DISMISSAL_KIND != 'NA'</a:t>
            </a:r>
          </a:p>
          <a:p>
            <a:r>
              <a:rPr lang="en-US" dirty="0">
                <a:solidFill>
                  <a:schemeClr val="bg1"/>
                </a:solidFill>
              </a:rPr>
              <a:t>GROUP BY DISMISSAL_KIND;</a:t>
            </a:r>
          </a:p>
        </p:txBody>
      </p:sp>
    </p:spTree>
    <p:extLst>
      <p:ext uri="{BB962C8B-B14F-4D97-AF65-F5344CB8AC3E}">
        <p14:creationId xmlns:p14="http://schemas.microsoft.com/office/powerpoint/2010/main" val="29274198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939B4-C1B8-A130-C439-D92B75D98BDB}"/>
              </a:ext>
            </a:extLst>
          </p:cNvPr>
          <p:cNvSpPr>
            <a:spLocks noGrp="1"/>
          </p:cNvSpPr>
          <p:nvPr>
            <p:ph type="title"/>
          </p:nvPr>
        </p:nvSpPr>
        <p:spPr/>
        <p:txBody>
          <a:bodyPr>
            <a:normAutofit fontScale="90000"/>
          </a:bodyPr>
          <a:lstStyle/>
          <a:p>
            <a:r>
              <a:rPr lang="en-GB" dirty="0">
                <a:ea typeface="+mj-lt"/>
                <a:cs typeface="+mj-lt"/>
              </a:rPr>
              <a:t>7 Write a query to get the top 5 bowlers who conceded maximum extra runs from the deliveries table</a:t>
            </a:r>
            <a:endParaRPr lang="en-US" dirty="0"/>
          </a:p>
        </p:txBody>
      </p:sp>
      <p:pic>
        <p:nvPicPr>
          <p:cNvPr id="3" name="Picture 2" descr="A screenshot of a computer&#10;&#10;Description automatically generated">
            <a:extLst>
              <a:ext uri="{FF2B5EF4-FFF2-40B4-BE49-F238E27FC236}">
                <a16:creationId xmlns:a16="http://schemas.microsoft.com/office/drawing/2014/main" id="{94394FF6-7583-0EA1-58A6-2BB71906D5C1}"/>
              </a:ext>
            </a:extLst>
          </p:cNvPr>
          <p:cNvPicPr>
            <a:picLocks noChangeAspect="1"/>
          </p:cNvPicPr>
          <p:nvPr/>
        </p:nvPicPr>
        <p:blipFill>
          <a:blip r:embed="rId2"/>
          <a:stretch>
            <a:fillRect/>
          </a:stretch>
        </p:blipFill>
        <p:spPr>
          <a:xfrm>
            <a:off x="7279616" y="2237747"/>
            <a:ext cx="4404503" cy="3762734"/>
          </a:xfrm>
          <a:prstGeom prst="rect">
            <a:avLst/>
          </a:prstGeom>
        </p:spPr>
      </p:pic>
      <p:pic>
        <p:nvPicPr>
          <p:cNvPr id="4" name="Picture 3" descr="A white background with black text&#10;&#10;Description automatically generated">
            <a:extLst>
              <a:ext uri="{FF2B5EF4-FFF2-40B4-BE49-F238E27FC236}">
                <a16:creationId xmlns:a16="http://schemas.microsoft.com/office/drawing/2014/main" id="{985C33A7-C497-3CBE-15C0-53B8C0B0FEE8}"/>
              </a:ext>
            </a:extLst>
          </p:cNvPr>
          <p:cNvPicPr>
            <a:picLocks noChangeAspect="1"/>
          </p:cNvPicPr>
          <p:nvPr/>
        </p:nvPicPr>
        <p:blipFill>
          <a:blip r:embed="rId3"/>
          <a:stretch>
            <a:fillRect/>
          </a:stretch>
        </p:blipFill>
        <p:spPr>
          <a:xfrm>
            <a:off x="147996" y="2099813"/>
            <a:ext cx="4851100" cy="1881996"/>
          </a:xfrm>
          <a:prstGeom prst="rect">
            <a:avLst/>
          </a:prstGeom>
        </p:spPr>
      </p:pic>
      <p:sp>
        <p:nvSpPr>
          <p:cNvPr id="5" name="TextBox 4">
            <a:extLst>
              <a:ext uri="{FF2B5EF4-FFF2-40B4-BE49-F238E27FC236}">
                <a16:creationId xmlns:a16="http://schemas.microsoft.com/office/drawing/2014/main" id="{5DFAE688-B74A-B105-6595-7B0DA30E75C7}"/>
              </a:ext>
            </a:extLst>
          </p:cNvPr>
          <p:cNvSpPr txBox="1"/>
          <p:nvPr/>
        </p:nvSpPr>
        <p:spPr>
          <a:xfrm>
            <a:off x="310551" y="4235570"/>
            <a:ext cx="6668218" cy="1477328"/>
          </a:xfrm>
          <a:prstGeom prst="rect">
            <a:avLst/>
          </a:prstGeom>
          <a:solidFill>
            <a:schemeClr val="tx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SELECT BOWLER, SUM(EXTRA_RUNS) AS </a:t>
            </a:r>
            <a:r>
              <a:rPr lang="en-US" err="1">
                <a:solidFill>
                  <a:schemeClr val="bg1"/>
                </a:solidFill>
              </a:rPr>
              <a:t>maximum_extra_runs</a:t>
            </a:r>
            <a:endParaRPr lang="en-US">
              <a:solidFill>
                <a:schemeClr val="bg1"/>
              </a:solidFill>
            </a:endParaRPr>
          </a:p>
          <a:p>
            <a:r>
              <a:rPr lang="en-US" dirty="0">
                <a:solidFill>
                  <a:schemeClr val="bg1"/>
                </a:solidFill>
              </a:rPr>
              <a:t>FROM DELIVERIES</a:t>
            </a:r>
          </a:p>
          <a:p>
            <a:r>
              <a:rPr lang="en-US" dirty="0">
                <a:solidFill>
                  <a:schemeClr val="bg1"/>
                </a:solidFill>
              </a:rPr>
              <a:t>GROUP BY BOWLER</a:t>
            </a:r>
          </a:p>
          <a:p>
            <a:r>
              <a:rPr lang="en-US" dirty="0">
                <a:solidFill>
                  <a:schemeClr val="bg1"/>
                </a:solidFill>
              </a:rPr>
              <a:t>ORDER BY </a:t>
            </a:r>
            <a:r>
              <a:rPr lang="en-US" err="1">
                <a:solidFill>
                  <a:schemeClr val="bg1"/>
                </a:solidFill>
              </a:rPr>
              <a:t>maximum_extra_runs</a:t>
            </a:r>
            <a:r>
              <a:rPr lang="en-US" dirty="0">
                <a:solidFill>
                  <a:schemeClr val="bg1"/>
                </a:solidFill>
              </a:rPr>
              <a:t> DESC</a:t>
            </a:r>
          </a:p>
          <a:p>
            <a:r>
              <a:rPr lang="en-US" dirty="0">
                <a:solidFill>
                  <a:schemeClr val="bg1"/>
                </a:solidFill>
              </a:rPr>
              <a:t>LIMIT 5;</a:t>
            </a:r>
          </a:p>
        </p:txBody>
      </p:sp>
    </p:spTree>
    <p:extLst>
      <p:ext uri="{BB962C8B-B14F-4D97-AF65-F5344CB8AC3E}">
        <p14:creationId xmlns:p14="http://schemas.microsoft.com/office/powerpoint/2010/main" val="23245007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211AD-AC42-6331-9C4D-58AACCAA8D1C}"/>
              </a:ext>
            </a:extLst>
          </p:cNvPr>
          <p:cNvSpPr>
            <a:spLocks noGrp="1"/>
          </p:cNvSpPr>
          <p:nvPr>
            <p:ph type="title"/>
          </p:nvPr>
        </p:nvSpPr>
        <p:spPr/>
        <p:txBody>
          <a:bodyPr>
            <a:normAutofit/>
          </a:bodyPr>
          <a:lstStyle/>
          <a:p>
            <a:r>
              <a:rPr lang="en-GB" sz="2400" dirty="0">
                <a:ea typeface="+mj-lt"/>
                <a:cs typeface="+mj-lt"/>
              </a:rPr>
              <a:t>8. Write a query to create a table named deliveries_v03 with all the columns of deliveries_v02 table and two additional column (named venue and </a:t>
            </a:r>
            <a:r>
              <a:rPr lang="en-GB" sz="2400" err="1">
                <a:ea typeface="+mj-lt"/>
                <a:cs typeface="+mj-lt"/>
              </a:rPr>
              <a:t>match_date</a:t>
            </a:r>
            <a:r>
              <a:rPr lang="en-GB" sz="2400" dirty="0">
                <a:ea typeface="+mj-lt"/>
                <a:cs typeface="+mj-lt"/>
              </a:rPr>
              <a:t>) of venue and date from table </a:t>
            </a:r>
            <a:r>
              <a:rPr lang="en-GB" sz="2400" err="1">
                <a:ea typeface="+mj-lt"/>
                <a:cs typeface="+mj-lt"/>
              </a:rPr>
              <a:t>matche</a:t>
            </a:r>
            <a:endParaRPr lang="en-US" sz="2400" err="1"/>
          </a:p>
        </p:txBody>
      </p:sp>
      <p:pic>
        <p:nvPicPr>
          <p:cNvPr id="4" name="Picture 3" descr="A screenshot of a computer&#10;&#10;Description automatically generated">
            <a:extLst>
              <a:ext uri="{FF2B5EF4-FFF2-40B4-BE49-F238E27FC236}">
                <a16:creationId xmlns:a16="http://schemas.microsoft.com/office/drawing/2014/main" id="{8694EFA9-9739-DD65-1280-F39C1BAE0676}"/>
              </a:ext>
            </a:extLst>
          </p:cNvPr>
          <p:cNvPicPr>
            <a:picLocks noChangeAspect="1"/>
          </p:cNvPicPr>
          <p:nvPr/>
        </p:nvPicPr>
        <p:blipFill>
          <a:blip r:embed="rId2"/>
          <a:stretch>
            <a:fillRect/>
          </a:stretch>
        </p:blipFill>
        <p:spPr>
          <a:xfrm>
            <a:off x="685891" y="2599247"/>
            <a:ext cx="5054899" cy="3010978"/>
          </a:xfrm>
          <a:prstGeom prst="rect">
            <a:avLst/>
          </a:prstGeom>
        </p:spPr>
      </p:pic>
      <p:sp>
        <p:nvSpPr>
          <p:cNvPr id="3" name="TextBox 2">
            <a:extLst>
              <a:ext uri="{FF2B5EF4-FFF2-40B4-BE49-F238E27FC236}">
                <a16:creationId xmlns:a16="http://schemas.microsoft.com/office/drawing/2014/main" id="{D2AE18AF-0CAC-1C36-2EDF-DF20EDACA49C}"/>
              </a:ext>
            </a:extLst>
          </p:cNvPr>
          <p:cNvSpPr txBox="1"/>
          <p:nvPr/>
        </p:nvSpPr>
        <p:spPr>
          <a:xfrm>
            <a:off x="6406551" y="2596551"/>
            <a:ext cx="4482860" cy="1754326"/>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CREATE TABLE DELIVERIES_V03 AS</a:t>
            </a:r>
          </a:p>
          <a:p>
            <a:r>
              <a:rPr lang="en-US" dirty="0">
                <a:solidFill>
                  <a:schemeClr val="bg1"/>
                </a:solidFill>
              </a:rPr>
              <a:t>SELECT d.*, m.venue, </a:t>
            </a:r>
            <a:r>
              <a:rPr lang="en-US" err="1">
                <a:solidFill>
                  <a:schemeClr val="bg1"/>
                </a:solidFill>
              </a:rPr>
              <a:t>m.date</a:t>
            </a:r>
            <a:r>
              <a:rPr lang="en-US" dirty="0">
                <a:solidFill>
                  <a:schemeClr val="bg1"/>
                </a:solidFill>
              </a:rPr>
              <a:t> AS </a:t>
            </a:r>
            <a:r>
              <a:rPr lang="en-US" err="1">
                <a:solidFill>
                  <a:schemeClr val="bg1"/>
                </a:solidFill>
              </a:rPr>
              <a:t>match_date</a:t>
            </a:r>
            <a:endParaRPr lang="en-US">
              <a:solidFill>
                <a:schemeClr val="bg1"/>
              </a:solidFill>
            </a:endParaRPr>
          </a:p>
          <a:p>
            <a:r>
              <a:rPr lang="en-US" dirty="0">
                <a:solidFill>
                  <a:schemeClr val="bg1"/>
                </a:solidFill>
              </a:rPr>
              <a:t>FROM DELIVERIES_V02 d</a:t>
            </a:r>
          </a:p>
          <a:p>
            <a:r>
              <a:rPr lang="en-US" dirty="0">
                <a:solidFill>
                  <a:schemeClr val="bg1"/>
                </a:solidFill>
              </a:rPr>
              <a:t>JOIN MATCHES m</a:t>
            </a:r>
          </a:p>
          <a:p>
            <a:r>
              <a:rPr lang="en-US" dirty="0">
                <a:solidFill>
                  <a:schemeClr val="bg1"/>
                </a:solidFill>
              </a:rPr>
              <a:t>ON d.id = m.id;</a:t>
            </a:r>
          </a:p>
        </p:txBody>
      </p:sp>
    </p:spTree>
    <p:extLst>
      <p:ext uri="{BB962C8B-B14F-4D97-AF65-F5344CB8AC3E}">
        <p14:creationId xmlns:p14="http://schemas.microsoft.com/office/powerpoint/2010/main" val="35661448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table&#10;&#10;Description automatically generated">
            <a:extLst>
              <a:ext uri="{FF2B5EF4-FFF2-40B4-BE49-F238E27FC236}">
                <a16:creationId xmlns:a16="http://schemas.microsoft.com/office/drawing/2014/main" id="{FFAFF70F-F0F9-5DB5-A3D5-9C0BEC844751}"/>
              </a:ext>
            </a:extLst>
          </p:cNvPr>
          <p:cNvPicPr>
            <a:picLocks noChangeAspect="1"/>
          </p:cNvPicPr>
          <p:nvPr/>
        </p:nvPicPr>
        <p:blipFill>
          <a:blip r:embed="rId2"/>
          <a:stretch>
            <a:fillRect/>
          </a:stretch>
        </p:blipFill>
        <p:spPr>
          <a:xfrm>
            <a:off x="176213" y="1477813"/>
            <a:ext cx="11839575" cy="4592487"/>
          </a:xfrm>
          <a:prstGeom prst="rect">
            <a:avLst/>
          </a:prstGeom>
        </p:spPr>
      </p:pic>
    </p:spTree>
    <p:extLst>
      <p:ext uri="{BB962C8B-B14F-4D97-AF65-F5344CB8AC3E}">
        <p14:creationId xmlns:p14="http://schemas.microsoft.com/office/powerpoint/2010/main" val="14632739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0B51F-BF08-5BE4-BD52-AB1A6ECB5F48}"/>
              </a:ext>
            </a:extLst>
          </p:cNvPr>
          <p:cNvSpPr>
            <a:spLocks noGrp="1"/>
          </p:cNvSpPr>
          <p:nvPr>
            <p:ph type="title"/>
          </p:nvPr>
        </p:nvSpPr>
        <p:spPr/>
        <p:txBody>
          <a:bodyPr>
            <a:noAutofit/>
          </a:bodyPr>
          <a:lstStyle/>
          <a:p>
            <a:r>
              <a:rPr lang="en-GB" sz="2800" dirty="0">
                <a:ea typeface="+mj-lt"/>
                <a:cs typeface="+mj-lt"/>
              </a:rPr>
              <a:t>9 Write a query to fetch the total runs scored for each venue and order it in the descending order of total runs scored</a:t>
            </a:r>
            <a:endParaRPr lang="en-US" sz="2800" dirty="0"/>
          </a:p>
        </p:txBody>
      </p:sp>
      <p:pic>
        <p:nvPicPr>
          <p:cNvPr id="4" name="Picture 3" descr="A screenshot of a computer code&#10;&#10;Description automatically generated">
            <a:extLst>
              <a:ext uri="{FF2B5EF4-FFF2-40B4-BE49-F238E27FC236}">
                <a16:creationId xmlns:a16="http://schemas.microsoft.com/office/drawing/2014/main" id="{AF357779-027A-2072-96B5-224FD0588188}"/>
              </a:ext>
            </a:extLst>
          </p:cNvPr>
          <p:cNvPicPr>
            <a:picLocks noChangeAspect="1"/>
          </p:cNvPicPr>
          <p:nvPr/>
        </p:nvPicPr>
        <p:blipFill>
          <a:blip r:embed="rId2"/>
          <a:stretch>
            <a:fillRect/>
          </a:stretch>
        </p:blipFill>
        <p:spPr>
          <a:xfrm>
            <a:off x="-719" y="1908864"/>
            <a:ext cx="5263550" cy="3054649"/>
          </a:xfrm>
          <a:prstGeom prst="rect">
            <a:avLst/>
          </a:prstGeom>
        </p:spPr>
      </p:pic>
      <p:sp>
        <p:nvSpPr>
          <p:cNvPr id="5" name="TextBox 4">
            <a:extLst>
              <a:ext uri="{FF2B5EF4-FFF2-40B4-BE49-F238E27FC236}">
                <a16:creationId xmlns:a16="http://schemas.microsoft.com/office/drawing/2014/main" id="{D64C2869-EAAB-D7FB-9194-1AA014365CB4}"/>
              </a:ext>
            </a:extLst>
          </p:cNvPr>
          <p:cNvSpPr txBox="1"/>
          <p:nvPr/>
        </p:nvSpPr>
        <p:spPr>
          <a:xfrm>
            <a:off x="5687683" y="2625306"/>
            <a:ext cx="6366293" cy="1477328"/>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SELECT VENUE, SUM(TOTAL_RUNS) AS </a:t>
            </a:r>
            <a:r>
              <a:rPr lang="en-US" err="1">
                <a:solidFill>
                  <a:schemeClr val="bg1"/>
                </a:solidFill>
              </a:rPr>
              <a:t>total_runs_scored</a:t>
            </a:r>
            <a:endParaRPr lang="en-US" dirty="0">
              <a:solidFill>
                <a:schemeClr val="bg1"/>
              </a:solidFill>
            </a:endParaRPr>
          </a:p>
          <a:p>
            <a:r>
              <a:rPr lang="en-US" dirty="0">
                <a:solidFill>
                  <a:schemeClr val="bg1"/>
                </a:solidFill>
              </a:rPr>
              <a:t>FROM DELIVERIES_V03</a:t>
            </a:r>
          </a:p>
          <a:p>
            <a:r>
              <a:rPr lang="en-US" dirty="0">
                <a:solidFill>
                  <a:schemeClr val="bg1"/>
                </a:solidFill>
              </a:rPr>
              <a:t>GROUP BY VENUE</a:t>
            </a:r>
          </a:p>
          <a:p>
            <a:r>
              <a:rPr lang="en-US" dirty="0">
                <a:solidFill>
                  <a:schemeClr val="bg1"/>
                </a:solidFill>
              </a:rPr>
              <a:t>ORDER BY </a:t>
            </a:r>
            <a:r>
              <a:rPr lang="en-US" err="1">
                <a:solidFill>
                  <a:schemeClr val="bg1"/>
                </a:solidFill>
              </a:rPr>
              <a:t>total_runs_scored</a:t>
            </a:r>
            <a:r>
              <a:rPr lang="en-US" dirty="0">
                <a:solidFill>
                  <a:schemeClr val="bg1"/>
                </a:solidFill>
              </a:rPr>
              <a:t> DESC;</a:t>
            </a:r>
          </a:p>
          <a:p>
            <a:endParaRPr lang="en-US"/>
          </a:p>
        </p:txBody>
      </p:sp>
    </p:spTree>
    <p:extLst>
      <p:ext uri="{BB962C8B-B14F-4D97-AF65-F5344CB8AC3E}">
        <p14:creationId xmlns:p14="http://schemas.microsoft.com/office/powerpoint/2010/main" val="21217587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3043CC2-E060-443E-BBC4-197CCD7FE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454BC00-0C10-4B2D-89D5-6405C87B8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52538"/>
            <a:ext cx="5538554" cy="5925402"/>
          </a:xfrm>
          <a:prstGeom prst="rect">
            <a:avLst/>
          </a:prstGeom>
          <a:ln w="22225">
            <a:solidFill>
              <a:srgbClr val="FFB7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FCD6BFF0-ABAD-4639-8BBC-4F900322F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2021" y="453280"/>
            <a:ext cx="5538554" cy="5925402"/>
          </a:xfrm>
          <a:prstGeom prst="rect">
            <a:avLst/>
          </a:prstGeom>
          <a:ln w="22225">
            <a:solidFill>
              <a:srgbClr val="FFB7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sports report&#10;&#10;Description automatically generated">
            <a:extLst>
              <a:ext uri="{FF2B5EF4-FFF2-40B4-BE49-F238E27FC236}">
                <a16:creationId xmlns:a16="http://schemas.microsoft.com/office/drawing/2014/main" id="{BDE9983C-B5B1-EA1C-C502-1417CAB03FC3}"/>
              </a:ext>
            </a:extLst>
          </p:cNvPr>
          <p:cNvPicPr>
            <a:picLocks noChangeAspect="1"/>
          </p:cNvPicPr>
          <p:nvPr/>
        </p:nvPicPr>
        <p:blipFill>
          <a:blip r:embed="rId2"/>
          <a:stretch>
            <a:fillRect/>
          </a:stretch>
        </p:blipFill>
        <p:spPr>
          <a:xfrm>
            <a:off x="477958" y="447046"/>
            <a:ext cx="5600160" cy="5935153"/>
          </a:xfrm>
          <a:prstGeom prst="rect">
            <a:avLst/>
          </a:prstGeom>
        </p:spPr>
      </p:pic>
      <p:pic>
        <p:nvPicPr>
          <p:cNvPr id="5" name="Picture 4" descr="A screenshot of a sports report&#10;&#10;Description automatically generated">
            <a:extLst>
              <a:ext uri="{FF2B5EF4-FFF2-40B4-BE49-F238E27FC236}">
                <a16:creationId xmlns:a16="http://schemas.microsoft.com/office/drawing/2014/main" id="{A66230F0-9995-C559-589C-3B4815E84CB4}"/>
              </a:ext>
            </a:extLst>
          </p:cNvPr>
          <p:cNvPicPr>
            <a:picLocks noChangeAspect="1"/>
          </p:cNvPicPr>
          <p:nvPr/>
        </p:nvPicPr>
        <p:blipFill>
          <a:blip r:embed="rId3"/>
          <a:stretch>
            <a:fillRect/>
          </a:stretch>
        </p:blipFill>
        <p:spPr>
          <a:xfrm>
            <a:off x="6185769" y="441206"/>
            <a:ext cx="5528274" cy="5946834"/>
          </a:xfrm>
          <a:prstGeom prst="rect">
            <a:avLst/>
          </a:prstGeom>
        </p:spPr>
      </p:pic>
    </p:spTree>
    <p:extLst>
      <p:ext uri="{BB962C8B-B14F-4D97-AF65-F5344CB8AC3E}">
        <p14:creationId xmlns:p14="http://schemas.microsoft.com/office/powerpoint/2010/main" val="2381077119"/>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14F93-73A6-F365-7FFE-3DA8BCB1C7DD}"/>
              </a:ext>
            </a:extLst>
          </p:cNvPr>
          <p:cNvSpPr>
            <a:spLocks noGrp="1"/>
          </p:cNvSpPr>
          <p:nvPr>
            <p:ph type="title"/>
          </p:nvPr>
        </p:nvSpPr>
        <p:spPr/>
        <p:txBody>
          <a:bodyPr>
            <a:normAutofit fontScale="90000"/>
          </a:bodyPr>
          <a:lstStyle/>
          <a:p>
            <a:r>
              <a:rPr lang="en-GB" dirty="0">
                <a:ea typeface="+mj-lt"/>
                <a:cs typeface="+mj-lt"/>
              </a:rPr>
              <a:t>10 Write a query to fetch the year-wise total runs scored at Eden Gardens and order it in the descending order of total runs scored.</a:t>
            </a:r>
            <a:endParaRPr lang="en-US" dirty="0"/>
          </a:p>
        </p:txBody>
      </p:sp>
      <p:pic>
        <p:nvPicPr>
          <p:cNvPr id="4" name="Picture 3" descr="A screenshot of a computer&#10;&#10;Description automatically generated">
            <a:extLst>
              <a:ext uri="{FF2B5EF4-FFF2-40B4-BE49-F238E27FC236}">
                <a16:creationId xmlns:a16="http://schemas.microsoft.com/office/drawing/2014/main" id="{6479A14E-17CD-04BF-2EA3-FA2FD898B465}"/>
              </a:ext>
            </a:extLst>
          </p:cNvPr>
          <p:cNvPicPr>
            <a:picLocks noChangeAspect="1"/>
          </p:cNvPicPr>
          <p:nvPr/>
        </p:nvPicPr>
        <p:blipFill>
          <a:blip r:embed="rId2"/>
          <a:stretch>
            <a:fillRect/>
          </a:stretch>
        </p:blipFill>
        <p:spPr>
          <a:xfrm>
            <a:off x="6746576" y="2031072"/>
            <a:ext cx="4722961" cy="4391743"/>
          </a:xfrm>
          <a:prstGeom prst="rect">
            <a:avLst/>
          </a:prstGeom>
        </p:spPr>
      </p:pic>
      <p:pic>
        <p:nvPicPr>
          <p:cNvPr id="5" name="Picture 4" descr="A white background with black text&#10;&#10;Description automatically generated">
            <a:extLst>
              <a:ext uri="{FF2B5EF4-FFF2-40B4-BE49-F238E27FC236}">
                <a16:creationId xmlns:a16="http://schemas.microsoft.com/office/drawing/2014/main" id="{AC13340C-36C6-9598-F66A-F6D7CE4FE466}"/>
              </a:ext>
            </a:extLst>
          </p:cNvPr>
          <p:cNvPicPr>
            <a:picLocks noChangeAspect="1"/>
          </p:cNvPicPr>
          <p:nvPr/>
        </p:nvPicPr>
        <p:blipFill>
          <a:blip r:embed="rId3"/>
          <a:stretch>
            <a:fillRect/>
          </a:stretch>
        </p:blipFill>
        <p:spPr>
          <a:xfrm>
            <a:off x="-1347" y="2157053"/>
            <a:ext cx="6113073" cy="1753139"/>
          </a:xfrm>
          <a:prstGeom prst="rect">
            <a:avLst/>
          </a:prstGeom>
        </p:spPr>
      </p:pic>
      <p:sp>
        <p:nvSpPr>
          <p:cNvPr id="6" name="TextBox 5">
            <a:extLst>
              <a:ext uri="{FF2B5EF4-FFF2-40B4-BE49-F238E27FC236}">
                <a16:creationId xmlns:a16="http://schemas.microsoft.com/office/drawing/2014/main" id="{B4EB799A-8315-A26D-8BC9-1D256690FD60}"/>
              </a:ext>
            </a:extLst>
          </p:cNvPr>
          <p:cNvSpPr txBox="1"/>
          <p:nvPr/>
        </p:nvSpPr>
        <p:spPr>
          <a:xfrm>
            <a:off x="152400" y="4192438"/>
            <a:ext cx="5345501" cy="2031325"/>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SELECT EXTRACT(YEAR FROM MATCH_DATE) AS year, SUM(TOTAL_RUNS) AS </a:t>
            </a:r>
            <a:r>
              <a:rPr lang="en-US" err="1">
                <a:solidFill>
                  <a:schemeClr val="bg1"/>
                </a:solidFill>
              </a:rPr>
              <a:t>total_runs</a:t>
            </a:r>
            <a:endParaRPr lang="en-US">
              <a:solidFill>
                <a:schemeClr val="bg1"/>
              </a:solidFill>
            </a:endParaRPr>
          </a:p>
          <a:p>
            <a:r>
              <a:rPr lang="en-US" dirty="0">
                <a:solidFill>
                  <a:schemeClr val="bg1"/>
                </a:solidFill>
              </a:rPr>
              <a:t>FROM DELIVERIES_V03</a:t>
            </a:r>
          </a:p>
          <a:p>
            <a:r>
              <a:rPr lang="en-US" dirty="0">
                <a:solidFill>
                  <a:schemeClr val="bg1"/>
                </a:solidFill>
              </a:rPr>
              <a:t>WHERE VENUE = 'Eden Gardens'</a:t>
            </a:r>
          </a:p>
          <a:p>
            <a:r>
              <a:rPr lang="en-US" dirty="0">
                <a:solidFill>
                  <a:schemeClr val="bg1"/>
                </a:solidFill>
              </a:rPr>
              <a:t>GROUP BY EXTRACT(YEAR FROM MATCH_DATE) </a:t>
            </a:r>
          </a:p>
          <a:p>
            <a:r>
              <a:rPr lang="en-US" dirty="0">
                <a:solidFill>
                  <a:schemeClr val="bg1"/>
                </a:solidFill>
              </a:rPr>
              <a:t>ORDER BY </a:t>
            </a:r>
            <a:r>
              <a:rPr lang="en-US" err="1">
                <a:solidFill>
                  <a:schemeClr val="bg1"/>
                </a:solidFill>
              </a:rPr>
              <a:t>total_runs</a:t>
            </a:r>
            <a:r>
              <a:rPr lang="en-US" dirty="0">
                <a:solidFill>
                  <a:schemeClr val="bg1"/>
                </a:solidFill>
              </a:rPr>
              <a:t> DESC;</a:t>
            </a:r>
          </a:p>
          <a:p>
            <a:endParaRPr lang="en-US"/>
          </a:p>
        </p:txBody>
      </p:sp>
    </p:spTree>
    <p:extLst>
      <p:ext uri="{BB962C8B-B14F-4D97-AF65-F5344CB8AC3E}">
        <p14:creationId xmlns:p14="http://schemas.microsoft.com/office/powerpoint/2010/main" val="17233407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DE7E5-F228-AB18-6613-BA83A85F5F6C}"/>
              </a:ext>
            </a:extLst>
          </p:cNvPr>
          <p:cNvSpPr>
            <a:spLocks noGrp="1"/>
          </p:cNvSpPr>
          <p:nvPr>
            <p:ph type="title"/>
          </p:nvPr>
        </p:nvSpPr>
        <p:spPr>
          <a:xfrm>
            <a:off x="680321" y="753228"/>
            <a:ext cx="9613861" cy="951542"/>
          </a:xfrm>
        </p:spPr>
        <p:txBody>
          <a:bodyPr/>
          <a:lstStyle/>
          <a:p>
            <a:r>
              <a:rPr lang="en-GB" dirty="0"/>
              <a:t>CREATING TABLE FOR DATABASES</a:t>
            </a:r>
          </a:p>
        </p:txBody>
      </p:sp>
      <p:pic>
        <p:nvPicPr>
          <p:cNvPr id="4" name="Picture 3" descr="A screenshot of a computer code&#10;&#10;Description automatically generated">
            <a:extLst>
              <a:ext uri="{FF2B5EF4-FFF2-40B4-BE49-F238E27FC236}">
                <a16:creationId xmlns:a16="http://schemas.microsoft.com/office/drawing/2014/main" id="{4706E4E3-7629-788F-C6E8-0C6F6932B572}"/>
              </a:ext>
            </a:extLst>
          </p:cNvPr>
          <p:cNvPicPr>
            <a:picLocks noChangeAspect="1"/>
          </p:cNvPicPr>
          <p:nvPr/>
        </p:nvPicPr>
        <p:blipFill>
          <a:blip r:embed="rId2"/>
          <a:stretch>
            <a:fillRect/>
          </a:stretch>
        </p:blipFill>
        <p:spPr>
          <a:xfrm>
            <a:off x="353234" y="2185359"/>
            <a:ext cx="4958211" cy="4270075"/>
          </a:xfrm>
          <a:prstGeom prst="rect">
            <a:avLst/>
          </a:prstGeom>
        </p:spPr>
      </p:pic>
      <p:pic>
        <p:nvPicPr>
          <p:cNvPr id="6" name="Picture 5" descr="A white background with black text&#10;&#10;Description automatically generated">
            <a:extLst>
              <a:ext uri="{FF2B5EF4-FFF2-40B4-BE49-F238E27FC236}">
                <a16:creationId xmlns:a16="http://schemas.microsoft.com/office/drawing/2014/main" id="{F5746638-3F03-643D-49A1-53FCEAF2C18A}"/>
              </a:ext>
            </a:extLst>
          </p:cNvPr>
          <p:cNvPicPr>
            <a:picLocks noChangeAspect="1"/>
          </p:cNvPicPr>
          <p:nvPr/>
        </p:nvPicPr>
        <p:blipFill>
          <a:blip r:embed="rId3"/>
          <a:stretch>
            <a:fillRect/>
          </a:stretch>
        </p:blipFill>
        <p:spPr>
          <a:xfrm>
            <a:off x="6859977" y="2189403"/>
            <a:ext cx="4079216" cy="4261988"/>
          </a:xfrm>
          <a:prstGeom prst="rect">
            <a:avLst/>
          </a:prstGeom>
        </p:spPr>
      </p:pic>
    </p:spTree>
    <p:extLst>
      <p:ext uri="{BB962C8B-B14F-4D97-AF65-F5344CB8AC3E}">
        <p14:creationId xmlns:p14="http://schemas.microsoft.com/office/powerpoint/2010/main" val="9262523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79821-20B7-9B92-4723-BA32AD6E5C16}"/>
              </a:ext>
            </a:extLst>
          </p:cNvPr>
          <p:cNvSpPr>
            <a:spLocks noGrp="1"/>
          </p:cNvSpPr>
          <p:nvPr>
            <p:ph type="title"/>
          </p:nvPr>
        </p:nvSpPr>
        <p:spPr/>
        <p:txBody>
          <a:bodyPr/>
          <a:lstStyle/>
          <a:p>
            <a:r>
              <a:rPr lang="en-GB" dirty="0"/>
              <a:t>IMPORTING DATA FROM FILE</a:t>
            </a:r>
          </a:p>
        </p:txBody>
      </p:sp>
      <p:pic>
        <p:nvPicPr>
          <p:cNvPr id="4" name="Picture 3" descr="A close-up of a computer code&#10;&#10;Description automatically generated">
            <a:extLst>
              <a:ext uri="{FF2B5EF4-FFF2-40B4-BE49-F238E27FC236}">
                <a16:creationId xmlns:a16="http://schemas.microsoft.com/office/drawing/2014/main" id="{BCBCC258-3D38-6379-C725-9254CFD19B05}"/>
              </a:ext>
            </a:extLst>
          </p:cNvPr>
          <p:cNvPicPr>
            <a:picLocks noChangeAspect="1"/>
          </p:cNvPicPr>
          <p:nvPr/>
        </p:nvPicPr>
        <p:blipFill>
          <a:blip r:embed="rId2"/>
          <a:stretch>
            <a:fillRect/>
          </a:stretch>
        </p:blipFill>
        <p:spPr>
          <a:xfrm>
            <a:off x="492964" y="2472546"/>
            <a:ext cx="11206072" cy="1222795"/>
          </a:xfrm>
          <a:prstGeom prst="rect">
            <a:avLst/>
          </a:prstGeom>
        </p:spPr>
      </p:pic>
      <p:pic>
        <p:nvPicPr>
          <p:cNvPr id="5" name="Picture 4" descr="A close-up of a computer code&#10;&#10;Description automatically generated">
            <a:extLst>
              <a:ext uri="{FF2B5EF4-FFF2-40B4-BE49-F238E27FC236}">
                <a16:creationId xmlns:a16="http://schemas.microsoft.com/office/drawing/2014/main" id="{AAC14512-BF98-4FBC-6EDC-78EA6EF25905}"/>
              </a:ext>
            </a:extLst>
          </p:cNvPr>
          <p:cNvPicPr>
            <a:picLocks noChangeAspect="1"/>
          </p:cNvPicPr>
          <p:nvPr/>
        </p:nvPicPr>
        <p:blipFill>
          <a:blip r:embed="rId3"/>
          <a:stretch>
            <a:fillRect/>
          </a:stretch>
        </p:blipFill>
        <p:spPr>
          <a:xfrm>
            <a:off x="494132" y="4203670"/>
            <a:ext cx="11203736" cy="1872471"/>
          </a:xfrm>
          <a:prstGeom prst="rect">
            <a:avLst/>
          </a:prstGeom>
        </p:spPr>
      </p:pic>
    </p:spTree>
    <p:extLst>
      <p:ext uri="{BB962C8B-B14F-4D97-AF65-F5344CB8AC3E}">
        <p14:creationId xmlns:p14="http://schemas.microsoft.com/office/powerpoint/2010/main" val="20868426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1A796D-2255-97CB-EF8B-8D91A3956BDA}"/>
              </a:ext>
            </a:extLst>
          </p:cNvPr>
          <p:cNvSpPr txBox="1"/>
          <p:nvPr/>
        </p:nvSpPr>
        <p:spPr>
          <a:xfrm>
            <a:off x="2520829" y="1085650"/>
            <a:ext cx="6620933" cy="830997"/>
          </a:xfrm>
          <a:prstGeom prst="rect">
            <a:avLst/>
          </a:prstGeom>
          <a:solidFill>
            <a:schemeClr val="tx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800">
                <a:solidFill>
                  <a:schemeClr val="bg1"/>
                </a:solidFill>
              </a:rPr>
              <a:t>THE END</a:t>
            </a:r>
            <a:endParaRPr lang="en-GB" sz="4800" dirty="0">
              <a:solidFill>
                <a:schemeClr val="bg1"/>
              </a:solidFill>
            </a:endParaRPr>
          </a:p>
        </p:txBody>
      </p:sp>
      <p:sp>
        <p:nvSpPr>
          <p:cNvPr id="3" name="TextBox 2">
            <a:extLst>
              <a:ext uri="{FF2B5EF4-FFF2-40B4-BE49-F238E27FC236}">
                <a16:creationId xmlns:a16="http://schemas.microsoft.com/office/drawing/2014/main" id="{79DF618B-766B-C939-CADD-032E370F3DFA}"/>
              </a:ext>
            </a:extLst>
          </p:cNvPr>
          <p:cNvSpPr txBox="1"/>
          <p:nvPr/>
        </p:nvSpPr>
        <p:spPr>
          <a:xfrm>
            <a:off x="3448969" y="4887983"/>
            <a:ext cx="7717764" cy="769441"/>
          </a:xfrm>
          <a:prstGeom prst="rect">
            <a:avLst/>
          </a:prstGeom>
          <a:solidFill>
            <a:srgbClr val="FF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a:solidFill>
                  <a:schemeClr val="bg1"/>
                </a:solidFill>
              </a:rPr>
              <a:t>CREATED BY : SHIVAM GANDHI</a:t>
            </a:r>
            <a:endParaRPr lang="en-GB" sz="4400" dirty="0">
              <a:solidFill>
                <a:schemeClr val="bg1"/>
              </a:solidFill>
            </a:endParaRPr>
          </a:p>
        </p:txBody>
      </p:sp>
    </p:spTree>
    <p:extLst>
      <p:ext uri="{BB962C8B-B14F-4D97-AF65-F5344CB8AC3E}">
        <p14:creationId xmlns:p14="http://schemas.microsoft.com/office/powerpoint/2010/main" val="1682816145"/>
      </p:ext>
    </p:extLst>
  </p:cSld>
  <p:clrMapOvr>
    <a:masterClrMapping/>
  </p:clrMapOvr>
</p:sld>
</file>

<file path=ppt/theme/theme1.xml><?xml version="1.0" encoding="utf-8"?>
<a:theme xmlns:a="http://schemas.openxmlformats.org/drawingml/2006/main" name="TM04033917[[fn=Berlin]]_novariants">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TM04033917[[fn=Berlin]]_novariants" id="{309C13C0-3BE0-4E8F-8916-1D5516B3B5DD}" vid="{18E1BE87-7240-45DF-8788-3CAEB7F17A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TM00001032</Template>
  <TotalTime>2</TotalTime>
  <Words>1</Words>
  <Application>Microsoft Office PowerPoint</Application>
  <PresentationFormat>Widescreen</PresentationFormat>
  <Paragraphs>1</Paragraphs>
  <Slides>46</Slides>
  <Notes>1</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TM04033917[[fn=Berlin]]_novariants</vt:lpstr>
      <vt:lpstr>SQL FINAL PROJECT</vt:lpstr>
      <vt:lpstr>PowerPoint Presentation</vt:lpstr>
      <vt:lpstr>Bidding on batters </vt:lpstr>
      <vt:lpstr>Your first priority is to get 2-3 players with high S.R who have faced at least 500 balls.And to do that you have to make a list of 10 players you want to bid in the auction so that when you try to grab them in auction you should not pay the amount greater than you have in the purse for a particular player</vt:lpstr>
      <vt:lpstr>PowerPoint Presentation</vt:lpstr>
      <vt:lpstr>PowerPoint Presentation</vt:lpstr>
      <vt:lpstr>Now you need to get 2-3 players with good Average who have played more than 2 ipl seasons. And to do that you have to make a list of 10 players you want to bid in the auction so that when you try to grab them in auction you should not pay the amount greater than you have in the purse for a particular player.</vt:lpstr>
      <vt:lpstr>PowerPoint Presentation</vt:lpstr>
      <vt:lpstr>PowerPoint Presentation</vt:lpstr>
      <vt:lpstr>Now you need to get 2-3 Hard-hitting players who have scored most runs in boundaries and have played more the 2 ipl season. To do that you have to make a list of 10 players you want to bid in the auction so that when you try to grab them in auction you should not pay the amount greater than you have in the purse for a particular player.</vt:lpstr>
      <vt:lpstr>PowerPoint Presentation</vt:lpstr>
      <vt:lpstr>PowerPoint Presentation</vt:lpstr>
      <vt:lpstr>BIDDING ON BOWLERS</vt:lpstr>
      <vt:lpstr>Your first priority is to get 2-3 bowlers with good economy who have bowled at least 500 balls in IPL so far.To do that you have to make a list of 10 players you want to bid in the auction so that when you try to grab them in auction you should not pay the amount greater than you have in the purse for a particular player.</vt:lpstr>
      <vt:lpstr>PowerPoint Presentation</vt:lpstr>
      <vt:lpstr>PowerPoint Presentation</vt:lpstr>
      <vt:lpstr>Now you need to get 2-3 bowlers with the best strike rate and who have bowled at least 500 balls in IPL so far.To do that you have to make a list of 10 players you want to bid in the auction so that when you try to grab them in auction you should not pay the amount greater than you have in the purse for a particular player.</vt:lpstr>
      <vt:lpstr>PowerPoint Presentation</vt:lpstr>
      <vt:lpstr>PowerPoint Presentation</vt:lpstr>
      <vt:lpstr>BIDDING ON ALL - ROUNDERS</vt:lpstr>
      <vt:lpstr>Now you need to get 2-3 All_rounders with the best batting as well as bowling strike rate and who have faced at least 500 balls in IPL so far and have bowled minimum 300 balls.To do that you have to make a list of 10 players you want to bid in the auction so that when you try to grab them in auction you should not pay the amount greater than you have in the purse for a particular player. </vt:lpstr>
      <vt:lpstr>PowerPoint Presentation</vt:lpstr>
      <vt:lpstr>PowerPoint Presentation</vt:lpstr>
      <vt:lpstr>PowerPoint Presentation</vt:lpstr>
      <vt:lpstr>BIDDING ON WICKETKEEPER </vt:lpstr>
      <vt:lpstr>PowerPoint Presentation</vt:lpstr>
      <vt:lpstr>ADDITIONAL QUESTIONS</vt:lpstr>
      <vt:lpstr>CREATING DELIVERIES AND MATCHES TABLE</vt:lpstr>
      <vt:lpstr>1. Get the count of cities that have hosted an IPL match </vt:lpstr>
      <vt:lpstr>2. Create table deliveries_v02 with all the columns of the table ‘deliveries’ and an additional column ball_result containing values boundary, dot or other depending on the total_run </vt:lpstr>
      <vt:lpstr>PowerPoint Presentation</vt:lpstr>
      <vt:lpstr>3 Write a query to fetch the total number of boundaries and dot balls from the deliveries_v02 table.</vt:lpstr>
      <vt:lpstr>4 Write a query to fetch the total number of boundaries scored by each team from the deliveries_v02 table and order it in descending order of the number of boundaries scored. </vt:lpstr>
      <vt:lpstr>PowerPoint Presentation</vt:lpstr>
      <vt:lpstr>5 Write a query to fetch the total number of dot balls bowled by each team and order it in descending order of the total number of dot balls bowled.</vt:lpstr>
      <vt:lpstr>PowerPoint Presentation</vt:lpstr>
      <vt:lpstr>6 Write a query to fetch the total number of dismissals by dismissal kinds where dismissal kind is not NA</vt:lpstr>
      <vt:lpstr>7 Write a query to get the top 5 bowlers who conceded maximum extra runs from the deliveries table</vt:lpstr>
      <vt:lpstr>8. Write a query to create a table named deliveries_v03 with all the columns of deliveries_v02 table and two additional column (named venue and match_date) of venue and date from table matche</vt:lpstr>
      <vt:lpstr>PowerPoint Presentation</vt:lpstr>
      <vt:lpstr>9 Write a query to fetch the total runs scored for each venue and order it in the descending order of total runs scored</vt:lpstr>
      <vt:lpstr>PowerPoint Presentation</vt:lpstr>
      <vt:lpstr>10 Write a query to fetch the year-wise total runs scored at Eden Gardens and order it in the descending order of total runs scored.</vt:lpstr>
      <vt:lpstr>CREATING TABLE FOR DATABASES</vt:lpstr>
      <vt:lpstr>IMPORTING DATA FROM FILE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dc:creator>
  <cp:revision>1029</cp:revision>
  <dcterms:created xsi:type="dcterms:W3CDTF">2015-09-21T23:12:49Z</dcterms:created>
  <dcterms:modified xsi:type="dcterms:W3CDTF">2024-07-10T14:50:10Z</dcterms:modified>
</cp:coreProperties>
</file>