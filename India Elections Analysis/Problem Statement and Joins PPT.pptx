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0" r:id="rId2"/>
    <p:sldId id="256" r:id="rId3"/>
    <p:sldId id="258" r:id="rId4"/>
    <p:sldId id="259"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110" d="100"/>
          <a:sy n="110" d="100"/>
        </p:scale>
        <p:origin x="57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57F40C-233D-41F2-8837-913D2FE299D9}" type="datetimeFigureOut">
              <a:rPr lang="en-IN" smtClean="0"/>
              <a:t>09-09-2024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F0A69-B4AF-48A5-8FB2-6454D0E1319C}" type="slidenum">
              <a:rPr lang="en-IN" smtClean="0"/>
              <a:t>‹#›</a:t>
            </a:fld>
            <a:endParaRPr lang="en-IN"/>
          </a:p>
        </p:txBody>
      </p:sp>
    </p:spTree>
    <p:extLst>
      <p:ext uri="{BB962C8B-B14F-4D97-AF65-F5344CB8AC3E}">
        <p14:creationId xmlns:p14="http://schemas.microsoft.com/office/powerpoint/2010/main" val="65261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AF0A69-B4AF-48A5-8FB2-6454D0E1319C}" type="slidenum">
              <a:rPr lang="en-IN" smtClean="0"/>
              <a:t>3</a:t>
            </a:fld>
            <a:endParaRPr lang="en-IN"/>
          </a:p>
        </p:txBody>
      </p:sp>
    </p:spTree>
    <p:extLst>
      <p:ext uri="{BB962C8B-B14F-4D97-AF65-F5344CB8AC3E}">
        <p14:creationId xmlns:p14="http://schemas.microsoft.com/office/powerpoint/2010/main" val="4085055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52F6A-5264-72F3-187D-077B24AD93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1FC2213-35AE-432F-9E99-3035BD9E29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9CC07D4-99E2-57AB-6078-460F51614126}"/>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5" name="Footer Placeholder 4">
            <a:extLst>
              <a:ext uri="{FF2B5EF4-FFF2-40B4-BE49-F238E27FC236}">
                <a16:creationId xmlns:a16="http://schemas.microsoft.com/office/drawing/2014/main" id="{B27CB33C-E2E6-9B42-6ECB-6DFE606C20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51B419-1E10-A946-1426-52DD78F35CBE}"/>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150854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B20A6-784E-8189-1B67-CE77E0FC48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D39646-097D-4479-C7C6-8E05B01AE7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33225E-4113-4C7D-4209-1C59E68E2404}"/>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5" name="Footer Placeholder 4">
            <a:extLst>
              <a:ext uri="{FF2B5EF4-FFF2-40B4-BE49-F238E27FC236}">
                <a16:creationId xmlns:a16="http://schemas.microsoft.com/office/drawing/2014/main" id="{C9A16D78-DFF7-D3BD-F4A3-2AAD271662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75A985-475F-0AC6-7C13-AAEF310EE75A}"/>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3419816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0CFAD-DC87-2579-1BF3-3BCD40207A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58CFDF-9BC9-BE9C-C000-1C8B3BA859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52C886-DF74-8450-BCCE-D172C7C1A01F}"/>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5" name="Footer Placeholder 4">
            <a:extLst>
              <a:ext uri="{FF2B5EF4-FFF2-40B4-BE49-F238E27FC236}">
                <a16:creationId xmlns:a16="http://schemas.microsoft.com/office/drawing/2014/main" id="{5E53E0C1-BB7C-9E36-824B-A95B43E115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6E47FF-2BC6-7183-EDB2-7F937B8F952E}"/>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1492545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B3992-F058-A716-E8BD-6A6DE744DD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4D2D33-F27A-0F5D-38AD-477E4117E5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D1D69F-2817-3182-3A4D-E622DEC305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F9F8DA-35FA-9431-B7EC-C279601216A6}"/>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6" name="Footer Placeholder 5">
            <a:extLst>
              <a:ext uri="{FF2B5EF4-FFF2-40B4-BE49-F238E27FC236}">
                <a16:creationId xmlns:a16="http://schemas.microsoft.com/office/drawing/2014/main" id="{F872DB51-E0BC-7657-D83C-41A79329EE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789C92-D527-204E-C8A8-4D3032EA829D}"/>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266731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EAEBF-EB58-991F-6EBB-BD64483B7C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3CD87B-248A-CAAF-6330-B87C22292F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71ADAB-0553-2A3A-F66C-0C037DF721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58EDF3-073A-DBE3-9876-57229E9A7C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436AFC-4D3C-4479-6059-5545AF1A3D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68723F-6FD0-44B5-0F5C-B647CBC73E18}"/>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8" name="Footer Placeholder 7">
            <a:extLst>
              <a:ext uri="{FF2B5EF4-FFF2-40B4-BE49-F238E27FC236}">
                <a16:creationId xmlns:a16="http://schemas.microsoft.com/office/drawing/2014/main" id="{A68738CE-312B-32AB-D560-50C0753789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3B0A1C-FF84-C60D-66E7-1891F935B02D}"/>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1251503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7D1E0-CB6C-FE96-0AA0-9168EB5B020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48A417-4DFD-16FF-A515-BDB934690B86}"/>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4" name="Footer Placeholder 3">
            <a:extLst>
              <a:ext uri="{FF2B5EF4-FFF2-40B4-BE49-F238E27FC236}">
                <a16:creationId xmlns:a16="http://schemas.microsoft.com/office/drawing/2014/main" id="{7811DBD1-458D-1558-9EC7-2B0AED72DA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F9A5B6-409A-6192-4294-F20E5E0FB2AC}"/>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560322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F75AB6-81AC-F589-9BBA-885404AEAA7A}"/>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3" name="Footer Placeholder 2">
            <a:extLst>
              <a:ext uri="{FF2B5EF4-FFF2-40B4-BE49-F238E27FC236}">
                <a16:creationId xmlns:a16="http://schemas.microsoft.com/office/drawing/2014/main" id="{87D22893-1946-3336-8D3E-E07965CD43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C75B2C-DC15-CB17-AD76-6367EB276083}"/>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3731797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7E4EB-CAC7-2CC0-6B5F-AF6F83F99F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96D1CF-C5AD-510A-EF42-C3161038B9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16F91DF-84B1-5AB8-400E-A81BC1F43F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91C98F-64BC-4216-2F58-0FB5E206BD93}"/>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6" name="Footer Placeholder 5">
            <a:extLst>
              <a:ext uri="{FF2B5EF4-FFF2-40B4-BE49-F238E27FC236}">
                <a16:creationId xmlns:a16="http://schemas.microsoft.com/office/drawing/2014/main" id="{6F8EE2CA-9996-EB54-7A06-9B7D19DF11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2F9C83-29A6-E075-99D1-BCA2DF0DA1A6}"/>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4028325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338A-068B-9490-A576-06FB10703E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221BF0-8D13-D488-713F-D45C337439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2B4A85-37C4-954F-EE82-3454ED3828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E56FF6-1535-5977-041C-2778F2A58E14}"/>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6" name="Footer Placeholder 5">
            <a:extLst>
              <a:ext uri="{FF2B5EF4-FFF2-40B4-BE49-F238E27FC236}">
                <a16:creationId xmlns:a16="http://schemas.microsoft.com/office/drawing/2014/main" id="{9D0DE7D3-E7D6-D652-3D60-E553019549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D9DF2B-D6E5-B981-21EF-02E9D6D0D179}"/>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2714197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E7813-9061-566A-88C0-E3380696CC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405A44-A0D2-C23E-C9E8-663A3C7119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71D01E-C85D-27DE-4305-4E8A2FFAD2A6}"/>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5" name="Footer Placeholder 4">
            <a:extLst>
              <a:ext uri="{FF2B5EF4-FFF2-40B4-BE49-F238E27FC236}">
                <a16:creationId xmlns:a16="http://schemas.microsoft.com/office/drawing/2014/main" id="{B1C9D51D-5E88-516C-F0B4-1CF8DC2E38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4A4F0-29E4-2C81-C060-78C0728798D6}"/>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2646360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6971CA-B61D-DDA9-8693-FAFFC42D48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05FAC1-2829-2B31-49F0-5D44CF4417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0ADB0-8C30-E8FF-0317-90123601D8F9}"/>
              </a:ext>
            </a:extLst>
          </p:cNvPr>
          <p:cNvSpPr>
            <a:spLocks noGrp="1"/>
          </p:cNvSpPr>
          <p:nvPr>
            <p:ph type="dt" sz="half" idx="10"/>
          </p:nvPr>
        </p:nvSpPr>
        <p:spPr/>
        <p:txBody>
          <a:bodyPr/>
          <a:lstStyle/>
          <a:p>
            <a:fld id="{ACB9FC2B-7976-46EE-BC6A-1A36A475BAEC}" type="datetimeFigureOut">
              <a:rPr lang="en-IN" smtClean="0"/>
              <a:t>08-09-2024</a:t>
            </a:fld>
            <a:endParaRPr lang="en-IN"/>
          </a:p>
        </p:txBody>
      </p:sp>
      <p:sp>
        <p:nvSpPr>
          <p:cNvPr id="5" name="Footer Placeholder 4">
            <a:extLst>
              <a:ext uri="{FF2B5EF4-FFF2-40B4-BE49-F238E27FC236}">
                <a16:creationId xmlns:a16="http://schemas.microsoft.com/office/drawing/2014/main" id="{A9AC7A31-5DD1-3729-320A-0D6251C700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4A7BB-9352-2A4C-FF54-CB5481F97584}"/>
              </a:ext>
            </a:extLst>
          </p:cNvPr>
          <p:cNvSpPr>
            <a:spLocks noGrp="1"/>
          </p:cNvSpPr>
          <p:nvPr>
            <p:ph type="sldNum" sz="quarter" idx="12"/>
          </p:nvPr>
        </p:nvSpPr>
        <p:spPr/>
        <p:txBody>
          <a:bodyPr/>
          <a:lstStyle/>
          <a:p>
            <a:fld id="{0B7E8BF6-FA1B-4E67-B854-6A89E82FCF8E}" type="slidenum">
              <a:rPr lang="en-IN" smtClean="0"/>
              <a:t>‹#›</a:t>
            </a:fld>
            <a:endParaRPr lang="en-IN"/>
          </a:p>
        </p:txBody>
      </p:sp>
    </p:spTree>
    <p:extLst>
      <p:ext uri="{BB962C8B-B14F-4D97-AF65-F5344CB8AC3E}">
        <p14:creationId xmlns:p14="http://schemas.microsoft.com/office/powerpoint/2010/main" val="261740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66EEF-06D0-3008-BEA1-F58E03A71D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1628F-26FB-FF94-B25C-A3B237A7BE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6FC9CA-19DC-B48E-DD44-466252D5C8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B9FC2B-7976-46EE-BC6A-1A36A475BAEC}" type="datetimeFigureOut">
              <a:rPr lang="en-IN" smtClean="0"/>
              <a:t>08-09-2024</a:t>
            </a:fld>
            <a:endParaRPr lang="en-IN"/>
          </a:p>
        </p:txBody>
      </p:sp>
      <p:sp>
        <p:nvSpPr>
          <p:cNvPr id="5" name="Footer Placeholder 4">
            <a:extLst>
              <a:ext uri="{FF2B5EF4-FFF2-40B4-BE49-F238E27FC236}">
                <a16:creationId xmlns:a16="http://schemas.microsoft.com/office/drawing/2014/main" id="{C025AE5A-A7CA-2E3A-93E1-F18BE4D48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508971-2678-DE40-4404-7F7AEC2DE3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7E8BF6-FA1B-4E67-B854-6A89E82FCF8E}" type="slidenum">
              <a:rPr lang="en-IN" smtClean="0"/>
              <a:t>‹#›</a:t>
            </a:fld>
            <a:endParaRPr lang="en-IN"/>
          </a:p>
        </p:txBody>
      </p:sp>
    </p:spTree>
    <p:extLst>
      <p:ext uri="{BB962C8B-B14F-4D97-AF65-F5344CB8AC3E}">
        <p14:creationId xmlns:p14="http://schemas.microsoft.com/office/powerpoint/2010/main" val="963900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E0E6CA-4C83-C0C8-87FD-1402ACF54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2545046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40FD9E43-5A4F-75F3-0772-11CD4F8CF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8950" y="-426979"/>
            <a:ext cx="2164031" cy="2164031"/>
          </a:xfrm>
          <a:prstGeom prst="rect">
            <a:avLst/>
          </a:prstGeom>
        </p:spPr>
      </p:pic>
      <p:sp>
        <p:nvSpPr>
          <p:cNvPr id="28" name="TextBox 27">
            <a:extLst>
              <a:ext uri="{FF2B5EF4-FFF2-40B4-BE49-F238E27FC236}">
                <a16:creationId xmlns:a16="http://schemas.microsoft.com/office/drawing/2014/main" id="{6069B7D1-4D75-4F62-801B-066A5A2E03C2}"/>
              </a:ext>
            </a:extLst>
          </p:cNvPr>
          <p:cNvSpPr txBox="1"/>
          <p:nvPr/>
        </p:nvSpPr>
        <p:spPr>
          <a:xfrm>
            <a:off x="258608" y="1952631"/>
            <a:ext cx="3710324" cy="461665"/>
          </a:xfrm>
          <a:prstGeom prst="rect">
            <a:avLst/>
          </a:prstGeom>
          <a:noFill/>
          <a:ln w="28575">
            <a:solidFill>
              <a:schemeClr val="accent6">
                <a:lumMod val="50000"/>
              </a:schemeClr>
            </a:solidFill>
          </a:ln>
        </p:spPr>
        <p:txBody>
          <a:bodyPr wrap="square" rtlCol="0">
            <a:spAutoFit/>
          </a:bodyPr>
          <a:lstStyle/>
          <a:p>
            <a:pPr algn="ctr"/>
            <a:r>
              <a:rPr lang="en-US" sz="2400" b="1" dirty="0">
                <a:solidFill>
                  <a:schemeClr val="accent6">
                    <a:lumMod val="50000"/>
                  </a:schemeClr>
                </a:solidFill>
                <a:latin typeface="Arial Rounded MT Bold" panose="020F0704030504030204" pitchFamily="34" charset="0"/>
              </a:rPr>
              <a:t>PROBLEM STATEMENT</a:t>
            </a:r>
            <a:endParaRPr lang="en-IN" sz="2400" b="1" dirty="0">
              <a:solidFill>
                <a:schemeClr val="accent6">
                  <a:lumMod val="50000"/>
                </a:schemeClr>
              </a:solidFill>
              <a:latin typeface="Arial Rounded MT Bold" panose="020F0704030504030204" pitchFamily="34" charset="0"/>
            </a:endParaRPr>
          </a:p>
        </p:txBody>
      </p:sp>
      <p:sp>
        <p:nvSpPr>
          <p:cNvPr id="29" name="TextBox 28">
            <a:extLst>
              <a:ext uri="{FF2B5EF4-FFF2-40B4-BE49-F238E27FC236}">
                <a16:creationId xmlns:a16="http://schemas.microsoft.com/office/drawing/2014/main" id="{B3A79FE5-2F60-F838-0480-ED1492719E10}"/>
              </a:ext>
            </a:extLst>
          </p:cNvPr>
          <p:cNvSpPr txBox="1"/>
          <p:nvPr/>
        </p:nvSpPr>
        <p:spPr>
          <a:xfrm>
            <a:off x="138866" y="124400"/>
            <a:ext cx="6479648" cy="923330"/>
          </a:xfrm>
          <a:prstGeom prst="rect">
            <a:avLst/>
          </a:prstGeom>
          <a:noFill/>
        </p:spPr>
        <p:txBody>
          <a:bodyPr wrap="square" rtlCol="0">
            <a:spAutoFit/>
          </a:bodyPr>
          <a:lstStyle/>
          <a:p>
            <a:r>
              <a:rPr lang="en-US" sz="5400" dirty="0">
                <a:solidFill>
                  <a:schemeClr val="accent1">
                    <a:lumMod val="50000"/>
                  </a:schemeClr>
                </a:solidFill>
                <a:latin typeface="Arial Black" panose="020B0A04020102020204" pitchFamily="34" charset="0"/>
              </a:rPr>
              <a:t>SQL PROJECT</a:t>
            </a:r>
            <a:endParaRPr lang="en-IN" sz="5400" dirty="0">
              <a:solidFill>
                <a:schemeClr val="accent1">
                  <a:lumMod val="50000"/>
                </a:schemeClr>
              </a:solidFill>
              <a:latin typeface="Arial Black" panose="020B0A04020102020204" pitchFamily="34" charset="0"/>
            </a:endParaRPr>
          </a:p>
        </p:txBody>
      </p:sp>
      <p:sp>
        <p:nvSpPr>
          <p:cNvPr id="30" name="TextBox 29">
            <a:extLst>
              <a:ext uri="{FF2B5EF4-FFF2-40B4-BE49-F238E27FC236}">
                <a16:creationId xmlns:a16="http://schemas.microsoft.com/office/drawing/2014/main" id="{EB99B39A-9366-E0F6-F1B9-DE5C7034FEAB}"/>
              </a:ext>
            </a:extLst>
          </p:cNvPr>
          <p:cNvSpPr txBox="1"/>
          <p:nvPr/>
        </p:nvSpPr>
        <p:spPr>
          <a:xfrm>
            <a:off x="705395" y="2590799"/>
            <a:ext cx="9840686" cy="378885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Total Seats</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What are the total number of seats available for elections in each state</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Total Seats Won by NDA Alliance</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Seats Won by NDA Alliance Parties</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Total Seats Won by I.N.D.I.A. Alliance</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Seats Won by I.N.D.I.A. Alliance Parties</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Add new column field in table partywise_results to get the Party Allianz as NDA, I.N.D.I.A and OTHER</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Which party alliance (NDA, I.N.D.I.A, or OTHER) won the most seats across all states?</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3270CCB-D55F-20B3-42FB-500E592E9F83}"/>
              </a:ext>
            </a:extLst>
          </p:cNvPr>
          <p:cNvSpPr txBox="1"/>
          <p:nvPr/>
        </p:nvSpPr>
        <p:spPr>
          <a:xfrm>
            <a:off x="182410" y="1090436"/>
            <a:ext cx="10460556" cy="523220"/>
          </a:xfrm>
          <a:prstGeom prst="rect">
            <a:avLst/>
          </a:prstGeom>
          <a:noFill/>
        </p:spPr>
        <p:txBody>
          <a:bodyPr wrap="none" rtlCol="0">
            <a:spAutoFit/>
          </a:bodyPr>
          <a:lstStyle/>
          <a:p>
            <a:r>
              <a:rPr lang="en-IN" sz="2800" b="1" dirty="0">
                <a:solidFill>
                  <a:schemeClr val="accent2">
                    <a:lumMod val="75000"/>
                  </a:schemeClr>
                </a:solidFill>
                <a:latin typeface="Copperplate Gothic Bold" panose="020E0705020206020404" pitchFamily="34" charset="0"/>
              </a:rPr>
              <a:t>INDIA </a:t>
            </a:r>
            <a:r>
              <a:rPr lang="en-IN" sz="2800" b="1" dirty="0">
                <a:solidFill>
                  <a:schemeClr val="accent1">
                    <a:lumMod val="75000"/>
                  </a:schemeClr>
                </a:solidFill>
                <a:latin typeface="Copperplate Gothic Bold" panose="020E0705020206020404" pitchFamily="34" charset="0"/>
              </a:rPr>
              <a:t>GENERAL ELECTION </a:t>
            </a:r>
            <a:r>
              <a:rPr lang="en-IN" sz="2800" b="1" dirty="0">
                <a:solidFill>
                  <a:schemeClr val="accent6">
                    <a:lumMod val="75000"/>
                  </a:schemeClr>
                </a:solidFill>
                <a:latin typeface="Copperplate Gothic Bold" panose="020E0705020206020404" pitchFamily="34" charset="0"/>
              </a:rPr>
              <a:t>RESULT ANALYSIS </a:t>
            </a:r>
            <a:r>
              <a:rPr lang="en-IN" sz="2800" b="1" dirty="0">
                <a:solidFill>
                  <a:schemeClr val="tx2">
                    <a:lumMod val="50000"/>
                  </a:schemeClr>
                </a:solidFill>
                <a:latin typeface="Copperplate Gothic Bold" panose="020E0705020206020404" pitchFamily="34" charset="0"/>
              </a:rPr>
              <a:t>2024</a:t>
            </a:r>
          </a:p>
        </p:txBody>
      </p:sp>
    </p:spTree>
    <p:extLst>
      <p:ext uri="{BB962C8B-B14F-4D97-AF65-F5344CB8AC3E}">
        <p14:creationId xmlns:p14="http://schemas.microsoft.com/office/powerpoint/2010/main" val="2841677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40FD9E43-5A4F-75F3-0772-11CD4F8CF4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8950" y="-426979"/>
            <a:ext cx="2164031" cy="2164031"/>
          </a:xfrm>
          <a:prstGeom prst="rect">
            <a:avLst/>
          </a:prstGeom>
        </p:spPr>
      </p:pic>
      <p:sp>
        <p:nvSpPr>
          <p:cNvPr id="28" name="TextBox 27">
            <a:extLst>
              <a:ext uri="{FF2B5EF4-FFF2-40B4-BE49-F238E27FC236}">
                <a16:creationId xmlns:a16="http://schemas.microsoft.com/office/drawing/2014/main" id="{6069B7D1-4D75-4F62-801B-066A5A2E03C2}"/>
              </a:ext>
            </a:extLst>
          </p:cNvPr>
          <p:cNvSpPr txBox="1"/>
          <p:nvPr/>
        </p:nvSpPr>
        <p:spPr>
          <a:xfrm>
            <a:off x="215065" y="1595734"/>
            <a:ext cx="3710324" cy="461665"/>
          </a:xfrm>
          <a:prstGeom prst="rect">
            <a:avLst/>
          </a:prstGeom>
          <a:noFill/>
          <a:ln w="28575">
            <a:solidFill>
              <a:schemeClr val="accent6">
                <a:lumMod val="50000"/>
              </a:schemeClr>
            </a:solidFill>
          </a:ln>
        </p:spPr>
        <p:txBody>
          <a:bodyPr wrap="square" rtlCol="0">
            <a:spAutoFit/>
          </a:bodyPr>
          <a:lstStyle/>
          <a:p>
            <a:pPr algn="ctr"/>
            <a:r>
              <a:rPr lang="en-US" sz="2400" b="1" dirty="0">
                <a:solidFill>
                  <a:schemeClr val="accent6">
                    <a:lumMod val="50000"/>
                  </a:schemeClr>
                </a:solidFill>
                <a:latin typeface="Arial Rounded MT Bold" panose="020F0704030504030204" pitchFamily="34" charset="0"/>
              </a:rPr>
              <a:t>PROBLEM STATEMENT</a:t>
            </a:r>
            <a:endParaRPr lang="en-IN" sz="2400" b="1" dirty="0">
              <a:solidFill>
                <a:schemeClr val="accent6">
                  <a:lumMod val="50000"/>
                </a:schemeClr>
              </a:solidFill>
              <a:latin typeface="Arial Rounded MT Bold" panose="020F0704030504030204" pitchFamily="34" charset="0"/>
            </a:endParaRPr>
          </a:p>
        </p:txBody>
      </p:sp>
      <p:sp>
        <p:nvSpPr>
          <p:cNvPr id="29" name="TextBox 28">
            <a:extLst>
              <a:ext uri="{FF2B5EF4-FFF2-40B4-BE49-F238E27FC236}">
                <a16:creationId xmlns:a16="http://schemas.microsoft.com/office/drawing/2014/main" id="{B3A79FE5-2F60-F838-0480-ED1492719E10}"/>
              </a:ext>
            </a:extLst>
          </p:cNvPr>
          <p:cNvSpPr txBox="1"/>
          <p:nvPr/>
        </p:nvSpPr>
        <p:spPr>
          <a:xfrm>
            <a:off x="117095" y="0"/>
            <a:ext cx="6642934" cy="923330"/>
          </a:xfrm>
          <a:prstGeom prst="rect">
            <a:avLst/>
          </a:prstGeom>
          <a:noFill/>
        </p:spPr>
        <p:txBody>
          <a:bodyPr wrap="square" rtlCol="0">
            <a:spAutoFit/>
          </a:bodyPr>
          <a:lstStyle/>
          <a:p>
            <a:r>
              <a:rPr lang="en-US" sz="5400" dirty="0">
                <a:solidFill>
                  <a:schemeClr val="accent1">
                    <a:lumMod val="50000"/>
                  </a:schemeClr>
                </a:solidFill>
                <a:latin typeface="Arial Black" panose="020B0A04020102020204" pitchFamily="34" charset="0"/>
              </a:rPr>
              <a:t>SQL PROJECT</a:t>
            </a:r>
            <a:endParaRPr lang="en-IN" sz="5400" dirty="0">
              <a:solidFill>
                <a:schemeClr val="accent1">
                  <a:lumMod val="50000"/>
                </a:schemeClr>
              </a:solidFill>
              <a:latin typeface="Arial Black" panose="020B0A04020102020204" pitchFamily="34" charset="0"/>
            </a:endParaRPr>
          </a:p>
        </p:txBody>
      </p:sp>
      <p:sp>
        <p:nvSpPr>
          <p:cNvPr id="30" name="TextBox 29">
            <a:extLst>
              <a:ext uri="{FF2B5EF4-FFF2-40B4-BE49-F238E27FC236}">
                <a16:creationId xmlns:a16="http://schemas.microsoft.com/office/drawing/2014/main" id="{EB99B39A-9366-E0F6-F1B9-DE5C7034FEAB}"/>
              </a:ext>
            </a:extLst>
          </p:cNvPr>
          <p:cNvSpPr txBox="1"/>
          <p:nvPr/>
        </p:nvSpPr>
        <p:spPr>
          <a:xfrm>
            <a:off x="548639" y="2155372"/>
            <a:ext cx="11094721" cy="461985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Winning candidate's name, their party name, total votes, and the margin of victory for a specific state and constituency?</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What is the distribution of EVM votes versus postal votes for candidates in a specific constituency?</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Which parties won the most seats in a State, and how many seats did each party win?</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What is the total number of seats won by each party alliance (NDA, I.N.D.I.A, and OTHER) in each state for the India Elections 2024</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Which candidate received the highest number of EVM votes in each constituency (Top 10)?</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Which candidate won and which candidate was the runner-up in each constituency of State for the 2024 elections?</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1800" b="1"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For the state of Maharashtra, what are the total number of seats, total number of candidates, total number of parties, total votes (including EVM and postal), and the breakdown of EVM and postal votes?</a:t>
            </a:r>
            <a:endParaRPr lang="en-IN" sz="1800" kern="1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E1FB31-8952-47A6-4794-EB1D5A628BCB}"/>
              </a:ext>
            </a:extLst>
          </p:cNvPr>
          <p:cNvSpPr txBox="1"/>
          <p:nvPr/>
        </p:nvSpPr>
        <p:spPr>
          <a:xfrm>
            <a:off x="138867" y="939655"/>
            <a:ext cx="10460556" cy="523220"/>
          </a:xfrm>
          <a:prstGeom prst="rect">
            <a:avLst/>
          </a:prstGeom>
          <a:noFill/>
        </p:spPr>
        <p:txBody>
          <a:bodyPr wrap="none" rtlCol="0">
            <a:spAutoFit/>
          </a:bodyPr>
          <a:lstStyle/>
          <a:p>
            <a:r>
              <a:rPr lang="en-IN" sz="2800" b="1" dirty="0">
                <a:solidFill>
                  <a:schemeClr val="accent2">
                    <a:lumMod val="75000"/>
                  </a:schemeClr>
                </a:solidFill>
                <a:latin typeface="Copperplate Gothic Bold" panose="020E0705020206020404" pitchFamily="34" charset="0"/>
              </a:rPr>
              <a:t>INDIA </a:t>
            </a:r>
            <a:r>
              <a:rPr lang="en-IN" sz="2800" b="1" dirty="0">
                <a:solidFill>
                  <a:schemeClr val="accent1">
                    <a:lumMod val="75000"/>
                  </a:schemeClr>
                </a:solidFill>
                <a:latin typeface="Copperplate Gothic Bold" panose="020E0705020206020404" pitchFamily="34" charset="0"/>
              </a:rPr>
              <a:t>GENERAL ELECTION </a:t>
            </a:r>
            <a:r>
              <a:rPr lang="en-IN" sz="2800" b="1" dirty="0">
                <a:solidFill>
                  <a:schemeClr val="accent6">
                    <a:lumMod val="75000"/>
                  </a:schemeClr>
                </a:solidFill>
                <a:latin typeface="Copperplate Gothic Bold" panose="020E0705020206020404" pitchFamily="34" charset="0"/>
              </a:rPr>
              <a:t>RESULT ANALYSIS </a:t>
            </a:r>
            <a:r>
              <a:rPr lang="en-IN" sz="2800" b="1" dirty="0">
                <a:solidFill>
                  <a:schemeClr val="tx2">
                    <a:lumMod val="50000"/>
                  </a:schemeClr>
                </a:solidFill>
                <a:latin typeface="Copperplate Gothic Bold" panose="020E0705020206020404" pitchFamily="34" charset="0"/>
              </a:rPr>
              <a:t>2024</a:t>
            </a:r>
          </a:p>
        </p:txBody>
      </p:sp>
    </p:spTree>
    <p:extLst>
      <p:ext uri="{BB962C8B-B14F-4D97-AF65-F5344CB8AC3E}">
        <p14:creationId xmlns:p14="http://schemas.microsoft.com/office/powerpoint/2010/main" val="2994119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40FD9E43-5A4F-75F3-0772-11CD4F8CF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8950" y="-426979"/>
            <a:ext cx="2164031" cy="2164031"/>
          </a:xfrm>
          <a:prstGeom prst="rect">
            <a:avLst/>
          </a:prstGeom>
        </p:spPr>
      </p:pic>
      <p:sp>
        <p:nvSpPr>
          <p:cNvPr id="28" name="TextBox 27">
            <a:extLst>
              <a:ext uri="{FF2B5EF4-FFF2-40B4-BE49-F238E27FC236}">
                <a16:creationId xmlns:a16="http://schemas.microsoft.com/office/drawing/2014/main" id="{6069B7D1-4D75-4F62-801B-066A5A2E03C2}"/>
              </a:ext>
            </a:extLst>
          </p:cNvPr>
          <p:cNvSpPr txBox="1"/>
          <p:nvPr/>
        </p:nvSpPr>
        <p:spPr>
          <a:xfrm>
            <a:off x="225949" y="1547666"/>
            <a:ext cx="5791673" cy="461665"/>
          </a:xfrm>
          <a:prstGeom prst="rect">
            <a:avLst/>
          </a:prstGeom>
          <a:noFill/>
          <a:ln w="28575">
            <a:solidFill>
              <a:schemeClr val="accent6">
                <a:lumMod val="50000"/>
              </a:schemeClr>
            </a:solidFill>
          </a:ln>
        </p:spPr>
        <p:txBody>
          <a:bodyPr wrap="square" rtlCol="0">
            <a:spAutoFit/>
          </a:bodyPr>
          <a:lstStyle/>
          <a:p>
            <a:pPr algn="ctr"/>
            <a:r>
              <a:rPr lang="en-US" sz="2400" b="1" dirty="0">
                <a:solidFill>
                  <a:schemeClr val="accent6">
                    <a:lumMod val="50000"/>
                  </a:schemeClr>
                </a:solidFill>
                <a:latin typeface="Arial Rounded MT Bold" panose="020F0704030504030204" pitchFamily="34" charset="0"/>
              </a:rPr>
              <a:t>FUNCTIONALITIES YOU WILL LEARN</a:t>
            </a:r>
            <a:endParaRPr lang="en-IN" sz="2400" b="1" dirty="0">
              <a:solidFill>
                <a:schemeClr val="accent6">
                  <a:lumMod val="50000"/>
                </a:schemeClr>
              </a:solidFill>
              <a:latin typeface="Arial Rounded MT Bold" panose="020F0704030504030204" pitchFamily="34" charset="0"/>
            </a:endParaRPr>
          </a:p>
        </p:txBody>
      </p:sp>
      <p:sp>
        <p:nvSpPr>
          <p:cNvPr id="29" name="TextBox 28">
            <a:extLst>
              <a:ext uri="{FF2B5EF4-FFF2-40B4-BE49-F238E27FC236}">
                <a16:creationId xmlns:a16="http://schemas.microsoft.com/office/drawing/2014/main" id="{B3A79FE5-2F60-F838-0480-ED1492719E10}"/>
              </a:ext>
            </a:extLst>
          </p:cNvPr>
          <p:cNvSpPr txBox="1"/>
          <p:nvPr/>
        </p:nvSpPr>
        <p:spPr>
          <a:xfrm>
            <a:off x="149149" y="36872"/>
            <a:ext cx="6196620" cy="923330"/>
          </a:xfrm>
          <a:prstGeom prst="rect">
            <a:avLst/>
          </a:prstGeom>
          <a:noFill/>
        </p:spPr>
        <p:txBody>
          <a:bodyPr wrap="square" rtlCol="0">
            <a:spAutoFit/>
          </a:bodyPr>
          <a:lstStyle/>
          <a:p>
            <a:r>
              <a:rPr lang="en-US" sz="5400" dirty="0">
                <a:solidFill>
                  <a:schemeClr val="accent1">
                    <a:lumMod val="50000"/>
                  </a:schemeClr>
                </a:solidFill>
                <a:latin typeface="Arial Black" panose="020B0A04020102020204" pitchFamily="34" charset="0"/>
              </a:rPr>
              <a:t>SQL PROJECT</a:t>
            </a:r>
            <a:endParaRPr lang="en-IN" sz="5400" dirty="0">
              <a:solidFill>
                <a:schemeClr val="accent1">
                  <a:lumMod val="50000"/>
                </a:schemeClr>
              </a:solidFill>
              <a:latin typeface="Arial Black" panose="020B0A04020102020204" pitchFamily="34" charset="0"/>
            </a:endParaRPr>
          </a:p>
        </p:txBody>
      </p:sp>
      <p:sp>
        <p:nvSpPr>
          <p:cNvPr id="30" name="TextBox 29">
            <a:extLst>
              <a:ext uri="{FF2B5EF4-FFF2-40B4-BE49-F238E27FC236}">
                <a16:creationId xmlns:a16="http://schemas.microsoft.com/office/drawing/2014/main" id="{EB99B39A-9366-E0F6-F1B9-DE5C7034FEAB}"/>
              </a:ext>
            </a:extLst>
          </p:cNvPr>
          <p:cNvSpPr txBox="1"/>
          <p:nvPr/>
        </p:nvSpPr>
        <p:spPr>
          <a:xfrm>
            <a:off x="792479" y="2564673"/>
            <a:ext cx="2708367" cy="4107535"/>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DISTINCT</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COUNT()</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SUM()</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CASE</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JOIN</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ON</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ORDER BY</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GROUP BY</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MAX()</a:t>
            </a:r>
            <a:endParaRPr kumimoji="0" lang="en-US" altLang="en-US" sz="1200" b="1" i="0" u="none" strike="noStrike" cap="none" normalizeH="0" baseline="0" dirty="0">
              <a:ln>
                <a:noFill/>
              </a:ln>
              <a:solidFill>
                <a:srgbClr val="7030A0"/>
              </a:solidFill>
              <a:effectLst/>
              <a:latin typeface="Aptos Display" panose="020B00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rgbClr val="7030A0"/>
                </a:solidFill>
                <a:effectLst/>
                <a:latin typeface="Aptos Display" panose="020B0004020202020204" pitchFamily="34" charset="0"/>
              </a:rPr>
              <a:t>ROW_NUMBER</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sz="1600" b="1" kern="100" dirty="0">
                <a:solidFill>
                  <a:srgbClr val="7030A0"/>
                </a:solidFill>
                <a:latin typeface="Aptos Display" panose="020B0004020202020204" pitchFamily="34" charset="0"/>
                <a:ea typeface="Calibri" panose="020F0502020204030204" pitchFamily="34" charset="0"/>
                <a:cs typeface="Times New Roman" panose="02020603050405020304" pitchFamily="18" charset="0"/>
              </a:rPr>
              <a:t>SELECT</a:t>
            </a:r>
            <a:endParaRPr lang="en-IN" sz="1600" b="1" kern="100" dirty="0">
              <a:solidFill>
                <a:srgbClr val="7030A0"/>
              </a:solidFill>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65BFDD7D-C1A1-E224-EE97-51D2F9A74B90}"/>
              </a:ext>
            </a:extLst>
          </p:cNvPr>
          <p:cNvSpPr txBox="1"/>
          <p:nvPr/>
        </p:nvSpPr>
        <p:spPr>
          <a:xfrm>
            <a:off x="4528457" y="2564673"/>
            <a:ext cx="1701941" cy="4158703"/>
          </a:xfrm>
          <a:prstGeom prst="rect">
            <a:avLst/>
          </a:prstGeom>
          <a:noFill/>
        </p:spPr>
        <p:txBody>
          <a:bodyPr wrap="square" rtlCol="0">
            <a:spAutoFit/>
          </a:bodyPr>
          <a:lstStyle>
            <a:defPPr>
              <a:defRPr lang="en-US"/>
            </a:defPPr>
            <a:lvl1pPr marL="285750" marR="0" lvl="0" indent="-285750" eaLnBrk="0" fontAlgn="base" hangingPunct="0">
              <a:lnSpc>
                <a:spcPct val="150000"/>
              </a:lnSpc>
              <a:spcBef>
                <a:spcPct val="0"/>
              </a:spcBef>
              <a:spcAft>
                <a:spcPct val="0"/>
              </a:spcAft>
              <a:buClrTx/>
              <a:buSzTx/>
              <a:buFont typeface="Wingdings" panose="05000000000000000000" pitchFamily="2" charset="2"/>
              <a:buChar char="ü"/>
              <a:tabLst/>
              <a:defRPr kumimoji="0" sz="1600" b="1" i="0" u="none" strike="noStrike" cap="none" normalizeH="0" baseline="0">
                <a:ln>
                  <a:noFill/>
                </a:ln>
                <a:solidFill>
                  <a:srgbClr val="7030A0"/>
                </a:solidFill>
                <a:effectLst/>
                <a:latin typeface="Aptos Display" panose="020B0004020202020204" pitchFamily="34" charset="0"/>
              </a:defRPr>
            </a:lvl1pPr>
          </a:lstStyle>
          <a:p>
            <a:r>
              <a:rPr lang="en-US" altLang="en-US" dirty="0"/>
              <a:t>PARTITION BY</a:t>
            </a:r>
          </a:p>
          <a:p>
            <a:r>
              <a:rPr lang="en-US" altLang="en-US" dirty="0"/>
              <a:t>OVER()</a:t>
            </a:r>
          </a:p>
          <a:p>
            <a:r>
              <a:rPr lang="en-US" altLang="en-US" dirty="0"/>
              <a:t>WITH</a:t>
            </a:r>
          </a:p>
          <a:p>
            <a:r>
              <a:rPr lang="en-US" altLang="en-US" dirty="0"/>
              <a:t>UPDATE</a:t>
            </a:r>
          </a:p>
          <a:p>
            <a:r>
              <a:rPr lang="en-US" altLang="en-US" dirty="0"/>
              <a:t>ALTER TABLE</a:t>
            </a:r>
          </a:p>
          <a:p>
            <a:r>
              <a:rPr lang="en-US" altLang="en-US" dirty="0"/>
              <a:t>ADD</a:t>
            </a:r>
          </a:p>
          <a:p>
            <a:r>
              <a:rPr lang="en-US" altLang="en-US" dirty="0"/>
              <a:t>SET</a:t>
            </a:r>
          </a:p>
          <a:p>
            <a:r>
              <a:rPr lang="en-US" altLang="en-US" dirty="0"/>
              <a:t>WHERE</a:t>
            </a:r>
          </a:p>
          <a:p>
            <a:r>
              <a:rPr lang="en-US" altLang="en-US" dirty="0"/>
              <a:t>THEN</a:t>
            </a:r>
          </a:p>
          <a:p>
            <a:r>
              <a:rPr lang="en-US" altLang="en-US" dirty="0"/>
              <a:t>ELSE</a:t>
            </a:r>
          </a:p>
          <a:p>
            <a:r>
              <a:rPr lang="en-US" dirty="0"/>
              <a:t>HAVING</a:t>
            </a:r>
            <a:endParaRPr lang="en-IN" dirty="0"/>
          </a:p>
        </p:txBody>
      </p:sp>
      <p:sp>
        <p:nvSpPr>
          <p:cNvPr id="7" name="TextBox 6">
            <a:extLst>
              <a:ext uri="{FF2B5EF4-FFF2-40B4-BE49-F238E27FC236}">
                <a16:creationId xmlns:a16="http://schemas.microsoft.com/office/drawing/2014/main" id="{ED070B39-C110-CD54-74B3-5AD05FE44831}"/>
              </a:ext>
            </a:extLst>
          </p:cNvPr>
          <p:cNvSpPr txBox="1"/>
          <p:nvPr/>
        </p:nvSpPr>
        <p:spPr>
          <a:xfrm>
            <a:off x="7972697" y="2564673"/>
            <a:ext cx="2294709" cy="4119526"/>
          </a:xfrm>
          <a:prstGeom prst="rect">
            <a:avLst/>
          </a:prstGeom>
          <a:noFill/>
        </p:spPr>
        <p:txBody>
          <a:bodyPr wrap="square" rtlCol="0">
            <a:spAutoFit/>
          </a:bodyPr>
          <a:lstStyle>
            <a:defPPr>
              <a:defRPr lang="en-US"/>
            </a:defPPr>
            <a:lvl1pPr marL="285750" marR="0" lvl="0" indent="-285750" eaLnBrk="0" fontAlgn="base" hangingPunct="0">
              <a:lnSpc>
                <a:spcPct val="150000"/>
              </a:lnSpc>
              <a:spcBef>
                <a:spcPct val="0"/>
              </a:spcBef>
              <a:spcAft>
                <a:spcPct val="0"/>
              </a:spcAft>
              <a:buClrTx/>
              <a:buSzTx/>
              <a:buFont typeface="Wingdings" panose="05000000000000000000" pitchFamily="2" charset="2"/>
              <a:buChar char="ü"/>
              <a:tabLst/>
              <a:defRPr kumimoji="0" sz="1600" b="1" i="0" u="none" strike="noStrike" cap="none" normalizeH="0" baseline="0">
                <a:ln>
                  <a:noFill/>
                </a:ln>
                <a:solidFill>
                  <a:srgbClr val="7030A0"/>
                </a:solidFill>
                <a:effectLst/>
                <a:latin typeface="Aptos Display" panose="020B0004020202020204" pitchFamily="34" charset="0"/>
              </a:defRPr>
            </a:lvl1pPr>
          </a:lstStyle>
          <a:p>
            <a:r>
              <a:rPr lang="en-US" altLang="en-US" dirty="0"/>
              <a:t>WINDOW()</a:t>
            </a:r>
          </a:p>
          <a:p>
            <a:r>
              <a:rPr lang="en-US" dirty="0"/>
              <a:t>CTE</a:t>
            </a:r>
          </a:p>
          <a:p>
            <a:r>
              <a:rPr lang="en-US" dirty="0"/>
              <a:t>AVG()</a:t>
            </a:r>
          </a:p>
          <a:p>
            <a:r>
              <a:rPr lang="en-US" dirty="0"/>
              <a:t>RANK</a:t>
            </a:r>
          </a:p>
          <a:p>
            <a:r>
              <a:rPr lang="en-IN" dirty="0"/>
              <a:t>DATE FUNCTIONS</a:t>
            </a:r>
          </a:p>
          <a:p>
            <a:r>
              <a:rPr lang="en-IN" dirty="0"/>
              <a:t>INNER JOIN</a:t>
            </a:r>
          </a:p>
          <a:p>
            <a:r>
              <a:rPr lang="en-IN" dirty="0"/>
              <a:t>LEFT JOIN</a:t>
            </a:r>
          </a:p>
          <a:p>
            <a:r>
              <a:rPr lang="en-IN" dirty="0"/>
              <a:t>MULTI TABLE JOINS</a:t>
            </a:r>
          </a:p>
          <a:p>
            <a:r>
              <a:rPr lang="en-IN" dirty="0"/>
              <a:t>SCHEMAS</a:t>
            </a:r>
          </a:p>
          <a:p>
            <a:r>
              <a:rPr lang="en-IN" dirty="0"/>
              <a:t>IIF()</a:t>
            </a:r>
          </a:p>
          <a:p>
            <a:r>
              <a:rPr lang="en-IN" dirty="0"/>
              <a:t>CAST()</a:t>
            </a:r>
          </a:p>
        </p:txBody>
      </p:sp>
      <p:sp>
        <p:nvSpPr>
          <p:cNvPr id="2" name="TextBox 1">
            <a:extLst>
              <a:ext uri="{FF2B5EF4-FFF2-40B4-BE49-F238E27FC236}">
                <a16:creationId xmlns:a16="http://schemas.microsoft.com/office/drawing/2014/main" id="{1E086EBD-7950-15E1-0FB7-421326C270ED}"/>
              </a:ext>
            </a:extLst>
          </p:cNvPr>
          <p:cNvSpPr txBox="1"/>
          <p:nvPr/>
        </p:nvSpPr>
        <p:spPr>
          <a:xfrm>
            <a:off x="149149" y="872582"/>
            <a:ext cx="10460556" cy="523220"/>
          </a:xfrm>
          <a:prstGeom prst="rect">
            <a:avLst/>
          </a:prstGeom>
          <a:noFill/>
        </p:spPr>
        <p:txBody>
          <a:bodyPr wrap="none" rtlCol="0">
            <a:spAutoFit/>
          </a:bodyPr>
          <a:lstStyle/>
          <a:p>
            <a:r>
              <a:rPr lang="en-IN" sz="2800" b="1" dirty="0">
                <a:solidFill>
                  <a:schemeClr val="accent2">
                    <a:lumMod val="75000"/>
                  </a:schemeClr>
                </a:solidFill>
                <a:latin typeface="Copperplate Gothic Bold" panose="020E0705020206020404" pitchFamily="34" charset="0"/>
              </a:rPr>
              <a:t>INDIA </a:t>
            </a:r>
            <a:r>
              <a:rPr lang="en-IN" sz="2800" b="1" dirty="0">
                <a:solidFill>
                  <a:schemeClr val="accent1">
                    <a:lumMod val="75000"/>
                  </a:schemeClr>
                </a:solidFill>
                <a:latin typeface="Copperplate Gothic Bold" panose="020E0705020206020404" pitchFamily="34" charset="0"/>
              </a:rPr>
              <a:t>GENERAL ELECTION </a:t>
            </a:r>
            <a:r>
              <a:rPr lang="en-IN" sz="2800" b="1" dirty="0">
                <a:solidFill>
                  <a:schemeClr val="accent6">
                    <a:lumMod val="75000"/>
                  </a:schemeClr>
                </a:solidFill>
                <a:latin typeface="Copperplate Gothic Bold" panose="020E0705020206020404" pitchFamily="34" charset="0"/>
              </a:rPr>
              <a:t>RESULT ANALYSIS </a:t>
            </a:r>
            <a:r>
              <a:rPr lang="en-IN" sz="2800" b="1" dirty="0">
                <a:solidFill>
                  <a:schemeClr val="tx2">
                    <a:lumMod val="50000"/>
                  </a:schemeClr>
                </a:solidFill>
                <a:latin typeface="Copperplate Gothic Bold" panose="020E0705020206020404" pitchFamily="34" charset="0"/>
              </a:rPr>
              <a:t>2024</a:t>
            </a:r>
          </a:p>
        </p:txBody>
      </p:sp>
    </p:spTree>
    <p:extLst>
      <p:ext uri="{BB962C8B-B14F-4D97-AF65-F5344CB8AC3E}">
        <p14:creationId xmlns:p14="http://schemas.microsoft.com/office/powerpoint/2010/main" val="3083330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31100FC-41AE-15FF-3AA2-DADA5AC4D835}"/>
              </a:ext>
            </a:extLst>
          </p:cNvPr>
          <p:cNvGraphicFramePr>
            <a:graphicFrameLocks noGrp="1"/>
          </p:cNvGraphicFramePr>
          <p:nvPr>
            <p:extLst>
              <p:ext uri="{D42A27DB-BD31-4B8C-83A1-F6EECF244321}">
                <p14:modId xmlns:p14="http://schemas.microsoft.com/office/powerpoint/2010/main" val="2692795494"/>
              </p:ext>
            </p:extLst>
          </p:nvPr>
        </p:nvGraphicFramePr>
        <p:xfrm>
          <a:off x="564550" y="4030967"/>
          <a:ext cx="1997493" cy="1658625"/>
        </p:xfrm>
        <a:graphic>
          <a:graphicData uri="http://schemas.openxmlformats.org/drawingml/2006/table">
            <a:tbl>
              <a:tblPr>
                <a:tableStyleId>{69CF1AB2-1976-4502-BF36-3FF5EA218861}</a:tableStyleId>
              </a:tblPr>
              <a:tblGrid>
                <a:gridCol w="1997493">
                  <a:extLst>
                    <a:ext uri="{9D8B030D-6E8A-4147-A177-3AD203B41FA5}">
                      <a16:colId xmlns:a16="http://schemas.microsoft.com/office/drawing/2014/main" val="3700960344"/>
                    </a:ext>
                  </a:extLst>
                </a:gridCol>
              </a:tblGrid>
              <a:tr h="209460">
                <a:tc>
                  <a:txBody>
                    <a:bodyPr/>
                    <a:lstStyle/>
                    <a:p>
                      <a:pPr algn="l" fontAlgn="b"/>
                      <a:r>
                        <a:rPr lang="en-IN" sz="1200" b="1" i="1" u="none" strike="noStrike" dirty="0" err="1">
                          <a:solidFill>
                            <a:schemeClr val="bg1"/>
                          </a:solidFill>
                          <a:effectLst/>
                        </a:rPr>
                        <a:t>constituencywise_details</a:t>
                      </a:r>
                      <a:r>
                        <a:rPr lang="en-IN" sz="1200" b="1" i="1" u="none" strike="noStrike" dirty="0">
                          <a:solidFill>
                            <a:schemeClr val="bg1"/>
                          </a:solidFill>
                          <a:effectLst/>
                        </a:rPr>
                        <a:t> (cd)</a:t>
                      </a:r>
                      <a:endParaRPr lang="en-IN" sz="1200" b="1" i="1" u="none" strike="noStrike" dirty="0">
                        <a:solidFill>
                          <a:schemeClr val="bg1"/>
                        </a:solidFill>
                        <a:effectLst/>
                        <a:latin typeface="Calibri" panose="020F0502020204030204" pitchFamily="34" charset="0"/>
                      </a:endParaRPr>
                    </a:p>
                  </a:txBody>
                  <a:tcPr marL="9525" marR="9525" marT="9525" marB="0" anchor="ctr">
                    <a:solidFill>
                      <a:schemeClr val="accent1">
                        <a:lumMod val="75000"/>
                      </a:schemeClr>
                    </a:solidFill>
                  </a:tcPr>
                </a:tc>
                <a:extLst>
                  <a:ext uri="{0D108BD9-81ED-4DB2-BD59-A6C34878D82A}">
                    <a16:rowId xmlns:a16="http://schemas.microsoft.com/office/drawing/2014/main" val="4030429769"/>
                  </a:ext>
                </a:extLst>
              </a:tr>
              <a:tr h="209460">
                <a:tc>
                  <a:txBody>
                    <a:bodyPr/>
                    <a:lstStyle/>
                    <a:p>
                      <a:pPr algn="l" fontAlgn="b"/>
                      <a:r>
                        <a:rPr lang="en-IN" sz="1200" u="none" strike="noStrike" dirty="0">
                          <a:effectLst/>
                        </a:rPr>
                        <a:t>Candidate</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15792806"/>
                  </a:ext>
                </a:extLst>
              </a:tr>
              <a:tr h="209460">
                <a:tc>
                  <a:txBody>
                    <a:bodyPr/>
                    <a:lstStyle/>
                    <a:p>
                      <a:pPr algn="l" fontAlgn="b"/>
                      <a:r>
                        <a:rPr lang="en-IN" sz="1200" u="none" strike="noStrike" dirty="0">
                          <a:effectLst/>
                        </a:rPr>
                        <a:t>Party</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95237406"/>
                  </a:ext>
                </a:extLst>
              </a:tr>
              <a:tr h="209460">
                <a:tc>
                  <a:txBody>
                    <a:bodyPr/>
                    <a:lstStyle/>
                    <a:p>
                      <a:pPr algn="l" fontAlgn="b"/>
                      <a:r>
                        <a:rPr lang="en-IN" sz="1200" u="none" strike="noStrike" dirty="0">
                          <a:effectLst/>
                        </a:rPr>
                        <a:t>EVM Votes</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22315658"/>
                  </a:ext>
                </a:extLst>
              </a:tr>
              <a:tr h="209460">
                <a:tc>
                  <a:txBody>
                    <a:bodyPr/>
                    <a:lstStyle/>
                    <a:p>
                      <a:pPr algn="l" fontAlgn="b"/>
                      <a:r>
                        <a:rPr lang="en-IN" sz="1200" u="none" strike="noStrike" dirty="0">
                          <a:effectLst/>
                        </a:rPr>
                        <a:t>Postal Votes</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78684106"/>
                  </a:ext>
                </a:extLst>
              </a:tr>
              <a:tr h="209460">
                <a:tc>
                  <a:txBody>
                    <a:bodyPr/>
                    <a:lstStyle/>
                    <a:p>
                      <a:pPr algn="l" fontAlgn="b"/>
                      <a:r>
                        <a:rPr lang="en-IN" sz="1200" u="none" strike="noStrike" dirty="0">
                          <a:effectLst/>
                        </a:rPr>
                        <a:t>Total Votes</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40078327"/>
                  </a:ext>
                </a:extLst>
              </a:tr>
              <a:tr h="209460">
                <a:tc>
                  <a:txBody>
                    <a:bodyPr/>
                    <a:lstStyle/>
                    <a:p>
                      <a:pPr algn="l" fontAlgn="b"/>
                      <a:r>
                        <a:rPr lang="en-IN" sz="1200" u="none" strike="noStrike">
                          <a:effectLst/>
                        </a:rPr>
                        <a:t>% of Votes</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18003511"/>
                  </a:ext>
                </a:extLst>
              </a:tr>
              <a:tr h="189510">
                <a:tc>
                  <a:txBody>
                    <a:bodyPr/>
                    <a:lstStyle/>
                    <a:p>
                      <a:pPr algn="l" fontAlgn="b"/>
                      <a:r>
                        <a:rPr lang="en-IN" sz="1200" u="none" strike="noStrike" dirty="0">
                          <a:effectLst/>
                        </a:rPr>
                        <a:t>Constituency ID</a:t>
                      </a:r>
                      <a:endParaRPr lang="en-IN" sz="1200" b="0" i="0" u="none" strike="noStrike" dirty="0">
                        <a:solidFill>
                          <a:srgbClr val="000000"/>
                        </a:solidFill>
                        <a:effectLst/>
                        <a:latin typeface="Calibri" panose="020F0502020204030204" pitchFamily="34" charset="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3407975816"/>
                  </a:ext>
                </a:extLst>
              </a:tr>
            </a:tbl>
          </a:graphicData>
        </a:graphic>
      </p:graphicFrame>
      <p:graphicFrame>
        <p:nvGraphicFramePr>
          <p:cNvPr id="5" name="Table 4">
            <a:extLst>
              <a:ext uri="{FF2B5EF4-FFF2-40B4-BE49-F238E27FC236}">
                <a16:creationId xmlns:a16="http://schemas.microsoft.com/office/drawing/2014/main" id="{28BA5C23-54A4-1DE8-E7EF-CB20F2241AF3}"/>
              </a:ext>
            </a:extLst>
          </p:cNvPr>
          <p:cNvGraphicFramePr>
            <a:graphicFrameLocks noGrp="1"/>
          </p:cNvGraphicFramePr>
          <p:nvPr>
            <p:extLst>
              <p:ext uri="{D42A27DB-BD31-4B8C-83A1-F6EECF244321}">
                <p14:modId xmlns:p14="http://schemas.microsoft.com/office/powerpoint/2010/main" val="3107459566"/>
              </p:ext>
            </p:extLst>
          </p:nvPr>
        </p:nvGraphicFramePr>
        <p:xfrm>
          <a:off x="4368800" y="4019912"/>
          <a:ext cx="1997494" cy="1662744"/>
        </p:xfrm>
        <a:graphic>
          <a:graphicData uri="http://schemas.openxmlformats.org/drawingml/2006/table">
            <a:tbl>
              <a:tblPr>
                <a:tableStyleId>{22838BEF-8BB2-4498-84A7-C5851F593DF1}</a:tableStyleId>
              </a:tblPr>
              <a:tblGrid>
                <a:gridCol w="1997494">
                  <a:extLst>
                    <a:ext uri="{9D8B030D-6E8A-4147-A177-3AD203B41FA5}">
                      <a16:colId xmlns:a16="http://schemas.microsoft.com/office/drawing/2014/main" val="3007124961"/>
                    </a:ext>
                  </a:extLst>
                </a:gridCol>
              </a:tblGrid>
              <a:tr h="207843">
                <a:tc>
                  <a:txBody>
                    <a:bodyPr/>
                    <a:lstStyle/>
                    <a:p>
                      <a:pPr algn="l" fontAlgn="b"/>
                      <a:r>
                        <a:rPr lang="en-IN" sz="1200" b="1" i="1" u="none" strike="noStrike" kern="1200" dirty="0" err="1">
                          <a:solidFill>
                            <a:schemeClr val="bg1"/>
                          </a:solidFill>
                          <a:effectLst/>
                          <a:latin typeface="+mn-lt"/>
                          <a:ea typeface="+mn-ea"/>
                          <a:cs typeface="+mn-cs"/>
                        </a:rPr>
                        <a:t>constituencywise</a:t>
                      </a:r>
                      <a:r>
                        <a:rPr lang="en-IN" sz="1200" b="1" i="1" u="none" strike="noStrike" dirty="0" err="1">
                          <a:solidFill>
                            <a:schemeClr val="bg1"/>
                          </a:solidFill>
                          <a:effectLst/>
                        </a:rPr>
                        <a:t>_results</a:t>
                      </a:r>
                      <a:r>
                        <a:rPr lang="en-IN" sz="1200" b="1" i="1" u="none" strike="noStrike" dirty="0">
                          <a:solidFill>
                            <a:schemeClr val="bg1"/>
                          </a:solidFill>
                          <a:effectLst/>
                        </a:rPr>
                        <a:t> (</a:t>
                      </a:r>
                      <a:r>
                        <a:rPr lang="en-IN" sz="1200" b="1" i="1" u="none" strike="noStrike" dirty="0" err="1">
                          <a:solidFill>
                            <a:schemeClr val="bg1"/>
                          </a:solidFill>
                          <a:effectLst/>
                        </a:rPr>
                        <a:t>cr</a:t>
                      </a:r>
                      <a:r>
                        <a:rPr lang="en-IN" sz="1200" b="1" i="1" u="none" strike="noStrike" dirty="0">
                          <a:solidFill>
                            <a:schemeClr val="bg1"/>
                          </a:solidFill>
                          <a:effectLst/>
                        </a:rPr>
                        <a:t>)</a:t>
                      </a:r>
                      <a:endParaRPr lang="en-IN" sz="1200" b="1" i="1" u="none" strike="noStrike" dirty="0">
                        <a:solidFill>
                          <a:schemeClr val="bg1"/>
                        </a:solidFill>
                        <a:effectLst/>
                        <a:latin typeface="Calibri" panose="020F0502020204030204" pitchFamily="34" charset="0"/>
                      </a:endParaRPr>
                    </a:p>
                  </a:txBody>
                  <a:tcPr marL="9525" marR="9525" marT="9525" marB="0" anchor="ctr">
                    <a:solidFill>
                      <a:schemeClr val="accent1">
                        <a:lumMod val="75000"/>
                      </a:schemeClr>
                    </a:solidFill>
                  </a:tcPr>
                </a:tc>
                <a:extLst>
                  <a:ext uri="{0D108BD9-81ED-4DB2-BD59-A6C34878D82A}">
                    <a16:rowId xmlns:a16="http://schemas.microsoft.com/office/drawing/2014/main" val="932810802"/>
                  </a:ext>
                </a:extLst>
              </a:tr>
              <a:tr h="207843">
                <a:tc>
                  <a:txBody>
                    <a:bodyPr/>
                    <a:lstStyle/>
                    <a:p>
                      <a:pPr algn="l" fontAlgn="b"/>
                      <a:r>
                        <a:rPr lang="en-IN" sz="1200" u="none" strike="noStrike" dirty="0">
                          <a:effectLst/>
                        </a:rPr>
                        <a:t>Parliament Constituency</a:t>
                      </a:r>
                      <a:endParaRPr lang="en-IN" sz="1200" b="0" i="0" u="none" strike="noStrike" dirty="0">
                        <a:solidFill>
                          <a:srgbClr val="000000"/>
                        </a:solidFill>
                        <a:effectLst/>
                        <a:latin typeface="Calibri" panose="020F0502020204030204" pitchFamily="34" charset="0"/>
                      </a:endParaRPr>
                    </a:p>
                  </a:txBody>
                  <a:tcPr marL="9525" marR="9525" marT="9525" marB="0" anchor="ctr">
                    <a:solidFill>
                      <a:schemeClr val="accent4">
                        <a:lumMod val="60000"/>
                        <a:lumOff val="40000"/>
                      </a:schemeClr>
                    </a:solidFill>
                  </a:tcPr>
                </a:tc>
                <a:extLst>
                  <a:ext uri="{0D108BD9-81ED-4DB2-BD59-A6C34878D82A}">
                    <a16:rowId xmlns:a16="http://schemas.microsoft.com/office/drawing/2014/main" val="1574333462"/>
                  </a:ext>
                </a:extLst>
              </a:tr>
              <a:tr h="207843">
                <a:tc>
                  <a:txBody>
                    <a:bodyPr/>
                    <a:lstStyle/>
                    <a:p>
                      <a:pPr algn="l" fontAlgn="b"/>
                      <a:r>
                        <a:rPr lang="en-IN" sz="1200" u="none" strike="noStrike" dirty="0">
                          <a:effectLst/>
                        </a:rPr>
                        <a:t>Constituency Name</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95199771"/>
                  </a:ext>
                </a:extLst>
              </a:tr>
              <a:tr h="207843">
                <a:tc>
                  <a:txBody>
                    <a:bodyPr/>
                    <a:lstStyle/>
                    <a:p>
                      <a:pPr algn="l" fontAlgn="b"/>
                      <a:r>
                        <a:rPr lang="en-IN" sz="1200" u="none" strike="noStrike" dirty="0">
                          <a:effectLst/>
                        </a:rPr>
                        <a:t>Winning Candidate</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41621470"/>
                  </a:ext>
                </a:extLst>
              </a:tr>
              <a:tr h="207843">
                <a:tc>
                  <a:txBody>
                    <a:bodyPr/>
                    <a:lstStyle/>
                    <a:p>
                      <a:pPr algn="l" fontAlgn="b"/>
                      <a:r>
                        <a:rPr lang="en-IN" sz="1200" u="none" strike="noStrike" dirty="0">
                          <a:effectLst/>
                        </a:rPr>
                        <a:t>Total Votes</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3349065"/>
                  </a:ext>
                </a:extLst>
              </a:tr>
              <a:tr h="207843">
                <a:tc>
                  <a:txBody>
                    <a:bodyPr/>
                    <a:lstStyle/>
                    <a:p>
                      <a:pPr algn="l" fontAlgn="b"/>
                      <a:r>
                        <a:rPr lang="en-IN" sz="1200" u="none" strike="noStrike" dirty="0">
                          <a:effectLst/>
                        </a:rPr>
                        <a:t>Margin</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37360296"/>
                  </a:ext>
                </a:extLst>
              </a:tr>
              <a:tr h="207843">
                <a:tc>
                  <a:txBody>
                    <a:bodyPr/>
                    <a:lstStyle/>
                    <a:p>
                      <a:pPr algn="l" fontAlgn="b"/>
                      <a:r>
                        <a:rPr lang="en-IN" sz="1200" u="none" strike="noStrike" dirty="0">
                          <a:effectLst/>
                        </a:rPr>
                        <a:t>Constituency ID</a:t>
                      </a:r>
                      <a:endParaRPr lang="en-IN" sz="1200" b="0" i="0" u="none" strike="noStrike" dirty="0">
                        <a:solidFill>
                          <a:srgbClr val="000000"/>
                        </a:solidFill>
                        <a:effectLst/>
                        <a:latin typeface="Calibri" panose="020F0502020204030204" pitchFamily="34" charset="0"/>
                      </a:endParaRPr>
                    </a:p>
                  </a:txBody>
                  <a:tcPr marL="9525" marR="9525" marT="9525" marB="0" anchor="ctr">
                    <a:solidFill>
                      <a:schemeClr val="accent2">
                        <a:lumMod val="60000"/>
                        <a:lumOff val="40000"/>
                      </a:schemeClr>
                    </a:solidFill>
                  </a:tcPr>
                </a:tc>
                <a:extLst>
                  <a:ext uri="{0D108BD9-81ED-4DB2-BD59-A6C34878D82A}">
                    <a16:rowId xmlns:a16="http://schemas.microsoft.com/office/drawing/2014/main" val="3054451873"/>
                  </a:ext>
                </a:extLst>
              </a:tr>
              <a:tr h="207843">
                <a:tc>
                  <a:txBody>
                    <a:bodyPr/>
                    <a:lstStyle/>
                    <a:p>
                      <a:pPr algn="l" fontAlgn="b"/>
                      <a:r>
                        <a:rPr lang="en-IN" sz="1200" u="none" strike="noStrike" dirty="0">
                          <a:effectLst/>
                        </a:rPr>
                        <a:t>Party ID</a:t>
                      </a:r>
                      <a:endParaRPr lang="en-IN" sz="12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extLst>
                  <a:ext uri="{0D108BD9-81ED-4DB2-BD59-A6C34878D82A}">
                    <a16:rowId xmlns:a16="http://schemas.microsoft.com/office/drawing/2014/main" val="926861593"/>
                  </a:ext>
                </a:extLst>
              </a:tr>
            </a:tbl>
          </a:graphicData>
        </a:graphic>
      </p:graphicFrame>
      <p:graphicFrame>
        <p:nvGraphicFramePr>
          <p:cNvPr id="6" name="Table 5">
            <a:extLst>
              <a:ext uri="{FF2B5EF4-FFF2-40B4-BE49-F238E27FC236}">
                <a16:creationId xmlns:a16="http://schemas.microsoft.com/office/drawing/2014/main" id="{40013526-A28C-4C7A-D511-3128861040F6}"/>
              </a:ext>
            </a:extLst>
          </p:cNvPr>
          <p:cNvGraphicFramePr>
            <a:graphicFrameLocks noGrp="1"/>
          </p:cNvGraphicFramePr>
          <p:nvPr>
            <p:extLst>
              <p:ext uri="{D42A27DB-BD31-4B8C-83A1-F6EECF244321}">
                <p14:modId xmlns:p14="http://schemas.microsoft.com/office/powerpoint/2010/main" val="4215269328"/>
              </p:ext>
            </p:extLst>
          </p:nvPr>
        </p:nvGraphicFramePr>
        <p:xfrm>
          <a:off x="4580626" y="2104847"/>
          <a:ext cx="1440612" cy="847544"/>
        </p:xfrm>
        <a:graphic>
          <a:graphicData uri="http://schemas.openxmlformats.org/drawingml/2006/table">
            <a:tbl>
              <a:tblPr>
                <a:tableStyleId>{22838BEF-8BB2-4498-84A7-C5851F593DF1}</a:tableStyleId>
              </a:tblPr>
              <a:tblGrid>
                <a:gridCol w="1440612">
                  <a:extLst>
                    <a:ext uri="{9D8B030D-6E8A-4147-A177-3AD203B41FA5}">
                      <a16:colId xmlns:a16="http://schemas.microsoft.com/office/drawing/2014/main" val="1798366723"/>
                    </a:ext>
                  </a:extLst>
                </a:gridCol>
              </a:tblGrid>
              <a:tr h="211886">
                <a:tc>
                  <a:txBody>
                    <a:bodyPr/>
                    <a:lstStyle/>
                    <a:p>
                      <a:pPr algn="l" fontAlgn="b"/>
                      <a:r>
                        <a:rPr lang="en-IN" sz="1200" b="1" i="1" u="none" strike="noStrike" dirty="0" err="1">
                          <a:solidFill>
                            <a:schemeClr val="bg1"/>
                          </a:solidFill>
                          <a:effectLst/>
                        </a:rPr>
                        <a:t>partywise_results</a:t>
                      </a:r>
                      <a:r>
                        <a:rPr lang="en-IN" sz="1200" b="1" i="1" u="none" strike="noStrike" dirty="0">
                          <a:solidFill>
                            <a:schemeClr val="bg1"/>
                          </a:solidFill>
                          <a:effectLst/>
                        </a:rPr>
                        <a:t> (pr)</a:t>
                      </a:r>
                      <a:endParaRPr lang="en-IN" sz="1200" b="1" i="1" u="none" strike="noStrike" dirty="0">
                        <a:solidFill>
                          <a:schemeClr val="bg1"/>
                        </a:solidFill>
                        <a:effectLst/>
                        <a:latin typeface="Calibri" panose="020F0502020204030204" pitchFamily="34" charset="0"/>
                      </a:endParaRPr>
                    </a:p>
                  </a:txBody>
                  <a:tcPr marL="9525" marR="9525" marT="9525" marB="0" anchor="ctr">
                    <a:solidFill>
                      <a:schemeClr val="accent1">
                        <a:lumMod val="75000"/>
                      </a:schemeClr>
                    </a:solidFill>
                  </a:tcPr>
                </a:tc>
                <a:extLst>
                  <a:ext uri="{0D108BD9-81ED-4DB2-BD59-A6C34878D82A}">
                    <a16:rowId xmlns:a16="http://schemas.microsoft.com/office/drawing/2014/main" val="3023382202"/>
                  </a:ext>
                </a:extLst>
              </a:tr>
              <a:tr h="211886">
                <a:tc>
                  <a:txBody>
                    <a:bodyPr/>
                    <a:lstStyle/>
                    <a:p>
                      <a:pPr algn="l" fontAlgn="b"/>
                      <a:r>
                        <a:rPr lang="en-IN" sz="1200" u="none" strike="noStrike" dirty="0">
                          <a:effectLst/>
                        </a:rPr>
                        <a:t>Party</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04992842"/>
                  </a:ext>
                </a:extLst>
              </a:tr>
              <a:tr h="211886">
                <a:tc>
                  <a:txBody>
                    <a:bodyPr/>
                    <a:lstStyle/>
                    <a:p>
                      <a:pPr algn="l" fontAlgn="b"/>
                      <a:r>
                        <a:rPr lang="en-IN" sz="1200" u="none" strike="noStrike" dirty="0">
                          <a:effectLst/>
                        </a:rPr>
                        <a:t>Won</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16904002"/>
                  </a:ext>
                </a:extLst>
              </a:tr>
              <a:tr h="211886">
                <a:tc>
                  <a:txBody>
                    <a:bodyPr/>
                    <a:lstStyle/>
                    <a:p>
                      <a:pPr algn="l" fontAlgn="b"/>
                      <a:r>
                        <a:rPr lang="en-IN" sz="1200" u="none" strike="noStrike" dirty="0">
                          <a:effectLst/>
                        </a:rPr>
                        <a:t>Party ID</a:t>
                      </a:r>
                      <a:endParaRPr lang="en-IN" sz="12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extLst>
                  <a:ext uri="{0D108BD9-81ED-4DB2-BD59-A6C34878D82A}">
                    <a16:rowId xmlns:a16="http://schemas.microsoft.com/office/drawing/2014/main" val="1307319941"/>
                  </a:ext>
                </a:extLst>
              </a:tr>
            </a:tbl>
          </a:graphicData>
        </a:graphic>
      </p:graphicFrame>
      <p:graphicFrame>
        <p:nvGraphicFramePr>
          <p:cNvPr id="7" name="Table 6">
            <a:extLst>
              <a:ext uri="{FF2B5EF4-FFF2-40B4-BE49-F238E27FC236}">
                <a16:creationId xmlns:a16="http://schemas.microsoft.com/office/drawing/2014/main" id="{E2E83A1F-B549-96B3-6D0C-65B02B114669}"/>
              </a:ext>
            </a:extLst>
          </p:cNvPr>
          <p:cNvGraphicFramePr>
            <a:graphicFrameLocks noGrp="1"/>
          </p:cNvGraphicFramePr>
          <p:nvPr>
            <p:extLst>
              <p:ext uri="{D42A27DB-BD31-4B8C-83A1-F6EECF244321}">
                <p14:modId xmlns:p14="http://schemas.microsoft.com/office/powerpoint/2010/main" val="3863638449"/>
              </p:ext>
            </p:extLst>
          </p:nvPr>
        </p:nvGraphicFramePr>
        <p:xfrm>
          <a:off x="10007719" y="3133219"/>
          <a:ext cx="860485" cy="664231"/>
        </p:xfrm>
        <a:graphic>
          <a:graphicData uri="http://schemas.openxmlformats.org/drawingml/2006/table">
            <a:tbl>
              <a:tblPr>
                <a:tableStyleId>{22838BEF-8BB2-4498-84A7-C5851F593DF1}</a:tableStyleId>
              </a:tblPr>
              <a:tblGrid>
                <a:gridCol w="860485">
                  <a:extLst>
                    <a:ext uri="{9D8B030D-6E8A-4147-A177-3AD203B41FA5}">
                      <a16:colId xmlns:a16="http://schemas.microsoft.com/office/drawing/2014/main" val="1662601645"/>
                    </a:ext>
                  </a:extLst>
                </a:gridCol>
              </a:tblGrid>
              <a:tr h="219345">
                <a:tc>
                  <a:txBody>
                    <a:bodyPr/>
                    <a:lstStyle/>
                    <a:p>
                      <a:pPr algn="l" fontAlgn="b"/>
                      <a:r>
                        <a:rPr lang="en-IN" sz="1200" b="1" i="1" u="none" strike="noStrike" dirty="0">
                          <a:solidFill>
                            <a:schemeClr val="bg1"/>
                          </a:solidFill>
                          <a:effectLst/>
                        </a:rPr>
                        <a:t>States (s)</a:t>
                      </a:r>
                      <a:endParaRPr lang="en-IN" sz="1200" b="1" i="1" u="none" strike="noStrike" dirty="0">
                        <a:solidFill>
                          <a:schemeClr val="bg1"/>
                        </a:solidFill>
                        <a:effectLst/>
                        <a:latin typeface="Calibri" panose="020F0502020204030204" pitchFamily="34" charset="0"/>
                      </a:endParaRPr>
                    </a:p>
                  </a:txBody>
                  <a:tcPr marL="9525" marR="9525" marT="9525" marB="0" anchor="ctr">
                    <a:solidFill>
                      <a:schemeClr val="accent1">
                        <a:lumMod val="75000"/>
                      </a:schemeClr>
                    </a:solidFill>
                  </a:tcPr>
                </a:tc>
                <a:extLst>
                  <a:ext uri="{0D108BD9-81ED-4DB2-BD59-A6C34878D82A}">
                    <a16:rowId xmlns:a16="http://schemas.microsoft.com/office/drawing/2014/main" val="90609953"/>
                  </a:ext>
                </a:extLst>
              </a:tr>
              <a:tr h="219345">
                <a:tc>
                  <a:txBody>
                    <a:bodyPr/>
                    <a:lstStyle/>
                    <a:p>
                      <a:pPr algn="l" fontAlgn="b"/>
                      <a:r>
                        <a:rPr lang="en-IN" sz="1200" u="none" strike="noStrike" dirty="0">
                          <a:effectLst/>
                        </a:rPr>
                        <a:t>State ID</a:t>
                      </a:r>
                      <a:endParaRPr lang="en-IN" sz="1200" b="0" i="0" u="none" strike="noStrike" dirty="0">
                        <a:solidFill>
                          <a:srgbClr val="000000"/>
                        </a:solidFill>
                        <a:effectLst/>
                        <a:latin typeface="Calibri" panose="020F0502020204030204" pitchFamily="34" charset="0"/>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835131492"/>
                  </a:ext>
                </a:extLst>
              </a:tr>
              <a:tr h="225541">
                <a:tc>
                  <a:txBody>
                    <a:bodyPr/>
                    <a:lstStyle/>
                    <a:p>
                      <a:pPr algn="l" fontAlgn="b"/>
                      <a:r>
                        <a:rPr lang="en-IN" sz="1200" u="none" strike="noStrike" dirty="0">
                          <a:effectLst/>
                        </a:rPr>
                        <a:t>State</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89302202"/>
                  </a:ext>
                </a:extLst>
              </a:tr>
            </a:tbl>
          </a:graphicData>
        </a:graphic>
      </p:graphicFrame>
      <p:graphicFrame>
        <p:nvGraphicFramePr>
          <p:cNvPr id="8" name="Table 7">
            <a:extLst>
              <a:ext uri="{FF2B5EF4-FFF2-40B4-BE49-F238E27FC236}">
                <a16:creationId xmlns:a16="http://schemas.microsoft.com/office/drawing/2014/main" id="{05482AE6-0392-144C-803A-A09CC1012521}"/>
              </a:ext>
            </a:extLst>
          </p:cNvPr>
          <p:cNvGraphicFramePr>
            <a:graphicFrameLocks noGrp="1"/>
          </p:cNvGraphicFramePr>
          <p:nvPr>
            <p:extLst>
              <p:ext uri="{D42A27DB-BD31-4B8C-83A1-F6EECF244321}">
                <p14:modId xmlns:p14="http://schemas.microsoft.com/office/powerpoint/2010/main" val="1891390965"/>
              </p:ext>
            </p:extLst>
          </p:nvPr>
        </p:nvGraphicFramePr>
        <p:xfrm>
          <a:off x="7674513" y="4030967"/>
          <a:ext cx="1702400" cy="2078430"/>
        </p:xfrm>
        <a:graphic>
          <a:graphicData uri="http://schemas.openxmlformats.org/drawingml/2006/table">
            <a:tbl>
              <a:tblPr>
                <a:tableStyleId>{22838BEF-8BB2-4498-84A7-C5851F593DF1}</a:tableStyleId>
              </a:tblPr>
              <a:tblGrid>
                <a:gridCol w="1702400">
                  <a:extLst>
                    <a:ext uri="{9D8B030D-6E8A-4147-A177-3AD203B41FA5}">
                      <a16:colId xmlns:a16="http://schemas.microsoft.com/office/drawing/2014/main" val="3562918650"/>
                    </a:ext>
                  </a:extLst>
                </a:gridCol>
              </a:tblGrid>
              <a:tr h="207843">
                <a:tc>
                  <a:txBody>
                    <a:bodyPr/>
                    <a:lstStyle/>
                    <a:p>
                      <a:pPr algn="l" fontAlgn="b"/>
                      <a:r>
                        <a:rPr lang="en-IN" sz="1200" b="1" i="1" u="none" strike="noStrike" dirty="0" err="1">
                          <a:solidFill>
                            <a:schemeClr val="bg1"/>
                          </a:solidFill>
                          <a:effectLst/>
                        </a:rPr>
                        <a:t>statewise_results</a:t>
                      </a:r>
                      <a:r>
                        <a:rPr lang="en-IN" sz="1200" b="1" i="1" u="none" strike="noStrike" dirty="0">
                          <a:solidFill>
                            <a:schemeClr val="bg1"/>
                          </a:solidFill>
                          <a:effectLst/>
                        </a:rPr>
                        <a:t> (</a:t>
                      </a:r>
                      <a:r>
                        <a:rPr lang="en-IN" sz="1200" b="1" i="1" u="none" strike="noStrike" dirty="0" err="1">
                          <a:solidFill>
                            <a:schemeClr val="bg1"/>
                          </a:solidFill>
                          <a:effectLst/>
                        </a:rPr>
                        <a:t>sr</a:t>
                      </a:r>
                      <a:r>
                        <a:rPr lang="en-IN" sz="1200" b="1" i="1" u="none" strike="noStrike" dirty="0">
                          <a:solidFill>
                            <a:schemeClr val="bg1"/>
                          </a:solidFill>
                          <a:effectLst/>
                        </a:rPr>
                        <a:t>)</a:t>
                      </a:r>
                      <a:endParaRPr lang="en-IN" sz="1200" b="1" i="1" u="none" strike="noStrike" dirty="0">
                        <a:solidFill>
                          <a:schemeClr val="bg1"/>
                        </a:solidFill>
                        <a:effectLst/>
                        <a:latin typeface="Calibri" panose="020F0502020204030204" pitchFamily="34" charset="0"/>
                      </a:endParaRPr>
                    </a:p>
                  </a:txBody>
                  <a:tcPr marL="9525" marR="9525" marT="9525" marB="0" anchor="ctr">
                    <a:solidFill>
                      <a:schemeClr val="accent1">
                        <a:lumMod val="75000"/>
                      </a:schemeClr>
                    </a:solidFill>
                  </a:tcPr>
                </a:tc>
                <a:extLst>
                  <a:ext uri="{0D108BD9-81ED-4DB2-BD59-A6C34878D82A}">
                    <a16:rowId xmlns:a16="http://schemas.microsoft.com/office/drawing/2014/main" val="865649652"/>
                  </a:ext>
                </a:extLst>
              </a:tr>
              <a:tr h="207843">
                <a:tc>
                  <a:txBody>
                    <a:bodyPr/>
                    <a:lstStyle/>
                    <a:p>
                      <a:pPr algn="l" fontAlgn="b"/>
                      <a:r>
                        <a:rPr lang="en-IN" sz="1200" u="none" strike="noStrike" dirty="0">
                          <a:effectLst/>
                        </a:rPr>
                        <a:t>Constituency</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80399147"/>
                  </a:ext>
                </a:extLst>
              </a:tr>
              <a:tr h="207843">
                <a:tc>
                  <a:txBody>
                    <a:bodyPr/>
                    <a:lstStyle/>
                    <a:p>
                      <a:pPr algn="l" fontAlgn="b"/>
                      <a:r>
                        <a:rPr lang="en-IN" sz="1200" u="none" strike="noStrike">
                          <a:effectLst/>
                        </a:rPr>
                        <a:t>Const. No.</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83166327"/>
                  </a:ext>
                </a:extLst>
              </a:tr>
              <a:tr h="207843">
                <a:tc>
                  <a:txBody>
                    <a:bodyPr/>
                    <a:lstStyle/>
                    <a:p>
                      <a:pPr algn="l" fontAlgn="b"/>
                      <a:r>
                        <a:rPr lang="en-IN" sz="1200" u="none" strike="noStrike" dirty="0">
                          <a:effectLst/>
                        </a:rPr>
                        <a:t>Parliament Constituency</a:t>
                      </a:r>
                      <a:endParaRPr lang="en-IN" sz="1200" b="0" i="0" u="none" strike="noStrike" dirty="0">
                        <a:solidFill>
                          <a:srgbClr val="000000"/>
                        </a:solidFill>
                        <a:effectLst/>
                        <a:latin typeface="Calibri" panose="020F0502020204030204" pitchFamily="34" charset="0"/>
                      </a:endParaRPr>
                    </a:p>
                  </a:txBody>
                  <a:tcPr marL="9525" marR="9525" marT="9525" marB="0" anchor="ctr">
                    <a:solidFill>
                      <a:schemeClr val="accent4">
                        <a:lumMod val="60000"/>
                        <a:lumOff val="40000"/>
                      </a:schemeClr>
                    </a:solidFill>
                  </a:tcPr>
                </a:tc>
                <a:extLst>
                  <a:ext uri="{0D108BD9-81ED-4DB2-BD59-A6C34878D82A}">
                    <a16:rowId xmlns:a16="http://schemas.microsoft.com/office/drawing/2014/main" val="1510528841"/>
                  </a:ext>
                </a:extLst>
              </a:tr>
              <a:tr h="207843">
                <a:tc>
                  <a:txBody>
                    <a:bodyPr/>
                    <a:lstStyle/>
                    <a:p>
                      <a:pPr algn="l" fontAlgn="b"/>
                      <a:r>
                        <a:rPr lang="en-IN" sz="1200" u="none" strike="noStrike">
                          <a:effectLst/>
                        </a:rPr>
                        <a:t>Leading Candidate</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93712411"/>
                  </a:ext>
                </a:extLst>
              </a:tr>
              <a:tr h="207843">
                <a:tc>
                  <a:txBody>
                    <a:bodyPr/>
                    <a:lstStyle/>
                    <a:p>
                      <a:pPr algn="l" fontAlgn="b"/>
                      <a:r>
                        <a:rPr lang="en-IN" sz="1200" u="none" strike="noStrike" dirty="0">
                          <a:effectLst/>
                        </a:rPr>
                        <a:t>Trailing Candidate</a:t>
                      </a:r>
                      <a:endParaRPr lang="en-IN"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84604180"/>
                  </a:ext>
                </a:extLst>
              </a:tr>
              <a:tr h="207843">
                <a:tc>
                  <a:txBody>
                    <a:bodyPr/>
                    <a:lstStyle/>
                    <a:p>
                      <a:pPr algn="l" fontAlgn="b"/>
                      <a:r>
                        <a:rPr lang="en-IN" sz="1200" u="none" strike="noStrike">
                          <a:effectLst/>
                        </a:rPr>
                        <a:t>Margin</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33010785"/>
                  </a:ext>
                </a:extLst>
              </a:tr>
              <a:tr h="207843">
                <a:tc>
                  <a:txBody>
                    <a:bodyPr/>
                    <a:lstStyle/>
                    <a:p>
                      <a:pPr algn="l" fontAlgn="b"/>
                      <a:r>
                        <a:rPr lang="en-IN" sz="1200" u="none" strike="noStrike">
                          <a:effectLst/>
                        </a:rPr>
                        <a:t>Status</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68495430"/>
                  </a:ext>
                </a:extLst>
              </a:tr>
              <a:tr h="207843">
                <a:tc>
                  <a:txBody>
                    <a:bodyPr/>
                    <a:lstStyle/>
                    <a:p>
                      <a:pPr algn="l" fontAlgn="b"/>
                      <a:r>
                        <a:rPr lang="en-IN" sz="1200" u="none" strike="noStrike" dirty="0">
                          <a:effectLst/>
                        </a:rPr>
                        <a:t>State ID</a:t>
                      </a:r>
                    </a:p>
                  </a:txBody>
                  <a:tcPr marL="9525" marR="9525" marT="9525" marB="0" anchor="ctr">
                    <a:solidFill>
                      <a:schemeClr val="accent1">
                        <a:lumMod val="60000"/>
                        <a:lumOff val="40000"/>
                      </a:schemeClr>
                    </a:solidFill>
                  </a:tcPr>
                </a:tc>
                <a:extLst>
                  <a:ext uri="{0D108BD9-81ED-4DB2-BD59-A6C34878D82A}">
                    <a16:rowId xmlns:a16="http://schemas.microsoft.com/office/drawing/2014/main" val="1094339285"/>
                  </a:ext>
                </a:extLst>
              </a:tr>
              <a:tr h="207843">
                <a:tc>
                  <a:txBody>
                    <a:bodyPr/>
                    <a:lstStyle/>
                    <a:p>
                      <a:pPr algn="l" fontAlgn="b"/>
                      <a:r>
                        <a:rPr lang="en-US" sz="1200" u="none" strike="noStrike" dirty="0">
                          <a:effectLst/>
                        </a:rPr>
                        <a:t>State</a:t>
                      </a:r>
                      <a:endParaRPr lang="en-IN" sz="1200" u="none" strike="noStrike" dirty="0">
                        <a:effectLst/>
                      </a:endParaRPr>
                    </a:p>
                  </a:txBody>
                  <a:tcPr marL="9525" marR="9525" marT="9525" marB="0" anchor="ctr"/>
                </a:tc>
                <a:extLst>
                  <a:ext uri="{0D108BD9-81ED-4DB2-BD59-A6C34878D82A}">
                    <a16:rowId xmlns:a16="http://schemas.microsoft.com/office/drawing/2014/main" val="1937196275"/>
                  </a:ext>
                </a:extLst>
              </a:tr>
            </a:tbl>
          </a:graphicData>
        </a:graphic>
      </p:graphicFrame>
      <p:cxnSp>
        <p:nvCxnSpPr>
          <p:cNvPr id="3" name="Straight Connector 2">
            <a:extLst>
              <a:ext uri="{FF2B5EF4-FFF2-40B4-BE49-F238E27FC236}">
                <a16:creationId xmlns:a16="http://schemas.microsoft.com/office/drawing/2014/main" id="{31F16BA0-B435-434E-4533-AC12B29B20B2}"/>
              </a:ext>
            </a:extLst>
          </p:cNvPr>
          <p:cNvCxnSpPr/>
          <p:nvPr/>
        </p:nvCxnSpPr>
        <p:spPr>
          <a:xfrm>
            <a:off x="5300932" y="2952391"/>
            <a:ext cx="0" cy="1067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Straight Connector 8">
            <a:extLst>
              <a:ext uri="{FF2B5EF4-FFF2-40B4-BE49-F238E27FC236}">
                <a16:creationId xmlns:a16="http://schemas.microsoft.com/office/drawing/2014/main" id="{71824DFB-D01E-F062-0C45-86097A97AC9B}"/>
              </a:ext>
            </a:extLst>
          </p:cNvPr>
          <p:cNvCxnSpPr>
            <a:cxnSpLocks/>
          </p:cNvCxnSpPr>
          <p:nvPr/>
        </p:nvCxnSpPr>
        <p:spPr>
          <a:xfrm>
            <a:off x="2562044" y="4855952"/>
            <a:ext cx="180675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22A6C98C-ECB4-0720-8F89-161501802FC8}"/>
              </a:ext>
            </a:extLst>
          </p:cNvPr>
          <p:cNvCxnSpPr>
            <a:cxnSpLocks/>
          </p:cNvCxnSpPr>
          <p:nvPr/>
        </p:nvCxnSpPr>
        <p:spPr>
          <a:xfrm>
            <a:off x="6366294" y="4930722"/>
            <a:ext cx="130821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6963575A-9F66-31CC-610A-CCEB32947950}"/>
              </a:ext>
            </a:extLst>
          </p:cNvPr>
          <p:cNvCxnSpPr>
            <a:cxnSpLocks/>
          </p:cNvCxnSpPr>
          <p:nvPr/>
        </p:nvCxnSpPr>
        <p:spPr>
          <a:xfrm>
            <a:off x="9376913" y="5191665"/>
            <a:ext cx="106104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6" name="Straight Connector 15">
            <a:extLst>
              <a:ext uri="{FF2B5EF4-FFF2-40B4-BE49-F238E27FC236}">
                <a16:creationId xmlns:a16="http://schemas.microsoft.com/office/drawing/2014/main" id="{C5D9B085-7D97-2511-FDC4-3FDF3BD2F6B1}"/>
              </a:ext>
            </a:extLst>
          </p:cNvPr>
          <p:cNvCxnSpPr>
            <a:cxnSpLocks/>
          </p:cNvCxnSpPr>
          <p:nvPr/>
        </p:nvCxnSpPr>
        <p:spPr>
          <a:xfrm>
            <a:off x="10437962" y="3806679"/>
            <a:ext cx="0" cy="1391456"/>
          </a:xfrm>
          <a:prstGeom prst="line">
            <a:avLst/>
          </a:prstGeom>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E13AB42A-D42E-4E0B-F968-4FA2EC8ACDE6}"/>
              </a:ext>
            </a:extLst>
          </p:cNvPr>
          <p:cNvSpPr txBox="1"/>
          <p:nvPr/>
        </p:nvSpPr>
        <p:spPr>
          <a:xfrm>
            <a:off x="2900391" y="4588667"/>
            <a:ext cx="1130060" cy="261610"/>
          </a:xfrm>
          <a:prstGeom prst="rect">
            <a:avLst/>
          </a:prstGeom>
          <a:noFill/>
        </p:spPr>
        <p:txBody>
          <a:bodyPr wrap="square" rtlCol="0">
            <a:spAutoFit/>
          </a:bodyPr>
          <a:lstStyle/>
          <a:p>
            <a:r>
              <a:rPr lang="en-IN" sz="1050" b="1" u="none" strike="noStrike" dirty="0">
                <a:effectLst/>
              </a:rPr>
              <a:t>Constituency ID</a:t>
            </a:r>
            <a:endParaRPr lang="en-IN" sz="1050" b="1" i="0" u="none" strike="noStrike" dirty="0">
              <a:solidFill>
                <a:srgbClr val="000000"/>
              </a:solidFill>
              <a:effectLst/>
              <a:latin typeface="Calibri" panose="020F0502020204030204" pitchFamily="34" charset="0"/>
            </a:endParaRPr>
          </a:p>
        </p:txBody>
      </p:sp>
      <p:sp>
        <p:nvSpPr>
          <p:cNvPr id="19" name="TextBox 18">
            <a:extLst>
              <a:ext uri="{FF2B5EF4-FFF2-40B4-BE49-F238E27FC236}">
                <a16:creationId xmlns:a16="http://schemas.microsoft.com/office/drawing/2014/main" id="{D4064F27-5BCB-D7B4-EA36-D902790FE89C}"/>
              </a:ext>
            </a:extLst>
          </p:cNvPr>
          <p:cNvSpPr txBox="1"/>
          <p:nvPr/>
        </p:nvSpPr>
        <p:spPr>
          <a:xfrm>
            <a:off x="9633430" y="4912862"/>
            <a:ext cx="651534" cy="261610"/>
          </a:xfrm>
          <a:prstGeom prst="rect">
            <a:avLst/>
          </a:prstGeom>
          <a:noFill/>
        </p:spPr>
        <p:txBody>
          <a:bodyPr wrap="square" rtlCol="0">
            <a:spAutoFit/>
          </a:bodyPr>
          <a:lstStyle>
            <a:defPPr>
              <a:defRPr lang="en-US"/>
            </a:defPPr>
            <a:lvl1pPr>
              <a:defRPr sz="1050" b="1" u="none" strike="noStrike">
                <a:effectLst/>
              </a:defRPr>
            </a:lvl1pPr>
          </a:lstStyle>
          <a:p>
            <a:r>
              <a:rPr lang="en-IN" dirty="0"/>
              <a:t>State ID</a:t>
            </a:r>
          </a:p>
        </p:txBody>
      </p:sp>
      <p:sp>
        <p:nvSpPr>
          <p:cNvPr id="20" name="TextBox 19">
            <a:extLst>
              <a:ext uri="{FF2B5EF4-FFF2-40B4-BE49-F238E27FC236}">
                <a16:creationId xmlns:a16="http://schemas.microsoft.com/office/drawing/2014/main" id="{48BFD8A5-E30B-31EB-7614-45AC70682565}"/>
              </a:ext>
            </a:extLst>
          </p:cNvPr>
          <p:cNvSpPr txBox="1"/>
          <p:nvPr/>
        </p:nvSpPr>
        <p:spPr>
          <a:xfrm>
            <a:off x="6455373" y="4507751"/>
            <a:ext cx="1130060" cy="415498"/>
          </a:xfrm>
          <a:prstGeom prst="rect">
            <a:avLst/>
          </a:prstGeom>
          <a:noFill/>
        </p:spPr>
        <p:txBody>
          <a:bodyPr wrap="square" rtlCol="0">
            <a:spAutoFit/>
          </a:bodyPr>
          <a:lstStyle/>
          <a:p>
            <a:pPr algn="ctr"/>
            <a:r>
              <a:rPr lang="en-IN" sz="1050" b="1" u="none" strike="noStrike" dirty="0">
                <a:effectLst/>
              </a:rPr>
              <a:t>Parliament Constituency</a:t>
            </a:r>
            <a:endParaRPr lang="en-IN" sz="1050" b="1" i="0" u="none" strike="noStrike" dirty="0">
              <a:solidFill>
                <a:srgbClr val="000000"/>
              </a:solidFill>
              <a:effectLst/>
              <a:latin typeface="Calibri" panose="020F0502020204030204" pitchFamily="34" charset="0"/>
            </a:endParaRPr>
          </a:p>
        </p:txBody>
      </p:sp>
      <p:sp>
        <p:nvSpPr>
          <p:cNvPr id="21" name="TextBox 20">
            <a:extLst>
              <a:ext uri="{FF2B5EF4-FFF2-40B4-BE49-F238E27FC236}">
                <a16:creationId xmlns:a16="http://schemas.microsoft.com/office/drawing/2014/main" id="{C60A4DAE-EDE0-EAF7-AFC2-6EFACCEA7161}"/>
              </a:ext>
            </a:extLst>
          </p:cNvPr>
          <p:cNvSpPr txBox="1"/>
          <p:nvPr/>
        </p:nvSpPr>
        <p:spPr>
          <a:xfrm>
            <a:off x="5285956" y="3334530"/>
            <a:ext cx="651534" cy="261610"/>
          </a:xfrm>
          <a:prstGeom prst="rect">
            <a:avLst/>
          </a:prstGeom>
          <a:noFill/>
        </p:spPr>
        <p:txBody>
          <a:bodyPr wrap="square" rtlCol="0">
            <a:spAutoFit/>
          </a:bodyPr>
          <a:lstStyle>
            <a:defPPr>
              <a:defRPr lang="en-US"/>
            </a:defPPr>
            <a:lvl1pPr>
              <a:defRPr sz="1050" b="1" u="none" strike="noStrike">
                <a:effectLst/>
              </a:defRPr>
            </a:lvl1pPr>
          </a:lstStyle>
          <a:p>
            <a:r>
              <a:rPr lang="en-IN" dirty="0"/>
              <a:t>Party ID</a:t>
            </a:r>
          </a:p>
        </p:txBody>
      </p:sp>
      <p:sp>
        <p:nvSpPr>
          <p:cNvPr id="22" name="TextBox 21">
            <a:extLst>
              <a:ext uri="{FF2B5EF4-FFF2-40B4-BE49-F238E27FC236}">
                <a16:creationId xmlns:a16="http://schemas.microsoft.com/office/drawing/2014/main" id="{EDCD4D04-EEDD-4743-053C-3B35EF14CEDF}"/>
              </a:ext>
            </a:extLst>
          </p:cNvPr>
          <p:cNvSpPr txBox="1"/>
          <p:nvPr/>
        </p:nvSpPr>
        <p:spPr>
          <a:xfrm>
            <a:off x="347870" y="1337032"/>
            <a:ext cx="7786838" cy="461665"/>
          </a:xfrm>
          <a:prstGeom prst="rect">
            <a:avLst/>
          </a:prstGeom>
          <a:noFill/>
          <a:ln w="28575">
            <a:solidFill>
              <a:schemeClr val="accent6">
                <a:lumMod val="50000"/>
              </a:schemeClr>
            </a:solidFill>
          </a:ln>
        </p:spPr>
        <p:txBody>
          <a:bodyPr wrap="square" rtlCol="0">
            <a:spAutoFit/>
          </a:bodyPr>
          <a:lstStyle/>
          <a:p>
            <a:pPr algn="ctr"/>
            <a:r>
              <a:rPr lang="en-US" sz="2400" b="1" dirty="0">
                <a:solidFill>
                  <a:schemeClr val="accent6">
                    <a:lumMod val="50000"/>
                  </a:schemeClr>
                </a:solidFill>
                <a:latin typeface="Arial Rounded MT Bold" panose="020F0704030504030204" pitchFamily="34" charset="0"/>
              </a:rPr>
              <a:t>ENTITY RELATIONSHIP DIAGRAM (ERD) / SCHEMA</a:t>
            </a:r>
            <a:endParaRPr lang="en-IN" sz="2400" b="1" dirty="0">
              <a:solidFill>
                <a:schemeClr val="accent6">
                  <a:lumMod val="50000"/>
                </a:schemeClr>
              </a:solidFill>
              <a:latin typeface="Arial Rounded MT Bold" panose="020F0704030504030204" pitchFamily="34" charset="0"/>
            </a:endParaRPr>
          </a:p>
        </p:txBody>
      </p:sp>
      <p:sp>
        <p:nvSpPr>
          <p:cNvPr id="23" name="TextBox 22">
            <a:extLst>
              <a:ext uri="{FF2B5EF4-FFF2-40B4-BE49-F238E27FC236}">
                <a16:creationId xmlns:a16="http://schemas.microsoft.com/office/drawing/2014/main" id="{C349A462-F683-FF9E-2884-322C8E54AF6A}"/>
              </a:ext>
            </a:extLst>
          </p:cNvPr>
          <p:cNvSpPr txBox="1"/>
          <p:nvPr/>
        </p:nvSpPr>
        <p:spPr>
          <a:xfrm>
            <a:off x="225931" y="-1714"/>
            <a:ext cx="4577812" cy="707886"/>
          </a:xfrm>
          <a:prstGeom prst="rect">
            <a:avLst/>
          </a:prstGeom>
          <a:noFill/>
        </p:spPr>
        <p:txBody>
          <a:bodyPr wrap="square" rtlCol="0">
            <a:spAutoFit/>
          </a:bodyPr>
          <a:lstStyle/>
          <a:p>
            <a:r>
              <a:rPr lang="en-US" sz="4000" dirty="0">
                <a:solidFill>
                  <a:schemeClr val="accent1">
                    <a:lumMod val="50000"/>
                  </a:schemeClr>
                </a:solidFill>
                <a:latin typeface="Arial Black" panose="020B0A04020102020204" pitchFamily="34" charset="0"/>
              </a:rPr>
              <a:t>SQL PROJECT</a:t>
            </a:r>
            <a:endParaRPr lang="en-IN" sz="4000" dirty="0">
              <a:solidFill>
                <a:schemeClr val="accent1">
                  <a:lumMod val="50000"/>
                </a:schemeClr>
              </a:solidFill>
              <a:latin typeface="Arial Black" panose="020B0A04020102020204" pitchFamily="34" charset="0"/>
            </a:endParaRPr>
          </a:p>
        </p:txBody>
      </p:sp>
      <p:pic>
        <p:nvPicPr>
          <p:cNvPr id="25" name="Picture 24">
            <a:extLst>
              <a:ext uri="{FF2B5EF4-FFF2-40B4-BE49-F238E27FC236}">
                <a16:creationId xmlns:a16="http://schemas.microsoft.com/office/drawing/2014/main" id="{40FD9E43-5A4F-75F3-0772-11CD4F8CF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8950" y="-426979"/>
            <a:ext cx="2164031" cy="2164031"/>
          </a:xfrm>
          <a:prstGeom prst="rect">
            <a:avLst/>
          </a:prstGeom>
        </p:spPr>
      </p:pic>
      <p:sp>
        <p:nvSpPr>
          <p:cNvPr id="26" name="TextBox 25">
            <a:extLst>
              <a:ext uri="{FF2B5EF4-FFF2-40B4-BE49-F238E27FC236}">
                <a16:creationId xmlns:a16="http://schemas.microsoft.com/office/drawing/2014/main" id="{BB6FA16B-62E9-1BC6-58F1-59C770CA1FA9}"/>
              </a:ext>
            </a:extLst>
          </p:cNvPr>
          <p:cNvSpPr txBox="1"/>
          <p:nvPr/>
        </p:nvSpPr>
        <p:spPr>
          <a:xfrm>
            <a:off x="225931" y="6423748"/>
            <a:ext cx="6110968" cy="338554"/>
          </a:xfrm>
          <a:prstGeom prst="rect">
            <a:avLst/>
          </a:prstGeom>
          <a:noFill/>
        </p:spPr>
        <p:txBody>
          <a:bodyPr wrap="none" rtlCol="0">
            <a:spAutoFit/>
          </a:bodyPr>
          <a:lstStyle/>
          <a:p>
            <a:r>
              <a:rPr lang="en-US" sz="1600" b="1" dirty="0">
                <a:latin typeface="Bahnschrift SemiBold" panose="020B0502040204020203" pitchFamily="34" charset="0"/>
              </a:rPr>
              <a:t>DESIGNED &amp; DEVELOPED BY </a:t>
            </a:r>
            <a:r>
              <a:rPr lang="en-US" sz="1600" b="1" dirty="0">
                <a:solidFill>
                  <a:srgbClr val="C00000"/>
                </a:solidFill>
                <a:latin typeface="Bahnschrift SemiBold" panose="020B0502040204020203" pitchFamily="34" charset="0"/>
              </a:rPr>
              <a:t>– SWAPNJEET S (DATA TUTORIALS)</a:t>
            </a:r>
            <a:endParaRPr lang="en-IN" sz="1600" b="1" dirty="0">
              <a:solidFill>
                <a:srgbClr val="C00000"/>
              </a:solidFill>
              <a:latin typeface="Bahnschrift SemiBold" panose="020B0502040204020203" pitchFamily="34" charset="0"/>
            </a:endParaRPr>
          </a:p>
        </p:txBody>
      </p:sp>
      <p:sp>
        <p:nvSpPr>
          <p:cNvPr id="27" name="Rectangle 26">
            <a:extLst>
              <a:ext uri="{FF2B5EF4-FFF2-40B4-BE49-F238E27FC236}">
                <a16:creationId xmlns:a16="http://schemas.microsoft.com/office/drawing/2014/main" id="{656ED3E7-5D75-8B13-5431-49CF2DE9437F}"/>
              </a:ext>
            </a:extLst>
          </p:cNvPr>
          <p:cNvSpPr/>
          <p:nvPr/>
        </p:nvSpPr>
        <p:spPr>
          <a:xfrm>
            <a:off x="347870" y="1930448"/>
            <a:ext cx="10875095" cy="4323703"/>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D066B2E6-A2B6-C6DA-9CEF-BE3B04956DDA}"/>
              </a:ext>
            </a:extLst>
          </p:cNvPr>
          <p:cNvSpPr txBox="1"/>
          <p:nvPr/>
        </p:nvSpPr>
        <p:spPr>
          <a:xfrm>
            <a:off x="225931" y="674938"/>
            <a:ext cx="10460556" cy="523220"/>
          </a:xfrm>
          <a:prstGeom prst="rect">
            <a:avLst/>
          </a:prstGeom>
          <a:noFill/>
        </p:spPr>
        <p:txBody>
          <a:bodyPr wrap="none" rtlCol="0">
            <a:spAutoFit/>
          </a:bodyPr>
          <a:lstStyle/>
          <a:p>
            <a:r>
              <a:rPr lang="en-IN" sz="2800" b="1" dirty="0">
                <a:solidFill>
                  <a:schemeClr val="accent2">
                    <a:lumMod val="75000"/>
                  </a:schemeClr>
                </a:solidFill>
                <a:latin typeface="Copperplate Gothic Bold" panose="020E0705020206020404" pitchFamily="34" charset="0"/>
              </a:rPr>
              <a:t>INDIA </a:t>
            </a:r>
            <a:r>
              <a:rPr lang="en-IN" sz="2800" b="1" dirty="0">
                <a:solidFill>
                  <a:schemeClr val="accent1">
                    <a:lumMod val="75000"/>
                  </a:schemeClr>
                </a:solidFill>
                <a:latin typeface="Copperplate Gothic Bold" panose="020E0705020206020404" pitchFamily="34" charset="0"/>
              </a:rPr>
              <a:t>GENERAL ELECTION </a:t>
            </a:r>
            <a:r>
              <a:rPr lang="en-IN" sz="2800" b="1" dirty="0">
                <a:solidFill>
                  <a:schemeClr val="accent6">
                    <a:lumMod val="75000"/>
                  </a:schemeClr>
                </a:solidFill>
                <a:latin typeface="Copperplate Gothic Bold" panose="020E0705020206020404" pitchFamily="34" charset="0"/>
              </a:rPr>
              <a:t>RESULT ANALYSIS </a:t>
            </a:r>
            <a:r>
              <a:rPr lang="en-IN" sz="2800" b="1" dirty="0">
                <a:solidFill>
                  <a:schemeClr val="tx2">
                    <a:lumMod val="50000"/>
                  </a:schemeClr>
                </a:solidFill>
                <a:latin typeface="Copperplate Gothic Bold" panose="020E0705020206020404" pitchFamily="34" charset="0"/>
              </a:rPr>
              <a:t>2024</a:t>
            </a:r>
          </a:p>
        </p:txBody>
      </p:sp>
    </p:spTree>
    <p:extLst>
      <p:ext uri="{BB962C8B-B14F-4D97-AF65-F5344CB8AC3E}">
        <p14:creationId xmlns:p14="http://schemas.microsoft.com/office/powerpoint/2010/main" val="3953662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480</Words>
  <Application>Microsoft Office PowerPoint</Application>
  <PresentationFormat>Widescreen</PresentationFormat>
  <Paragraphs>99</Paragraphs>
  <Slides>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Aptos Display</vt:lpstr>
      <vt:lpstr>Arial</vt:lpstr>
      <vt:lpstr>Arial Black</vt:lpstr>
      <vt:lpstr>Arial Rounded MT Bold</vt:lpstr>
      <vt:lpstr>Bahnschrift SemiBold</vt:lpstr>
      <vt:lpstr>Calibri</vt:lpstr>
      <vt:lpstr>Calibri Light</vt:lpstr>
      <vt:lpstr>Copperplate Gothic Bold</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Swapnajeet A</cp:lastModifiedBy>
  <cp:revision>25</cp:revision>
  <dcterms:created xsi:type="dcterms:W3CDTF">2024-08-26T16:35:30Z</dcterms:created>
  <dcterms:modified xsi:type="dcterms:W3CDTF">2024-09-08T19:31:18Z</dcterms:modified>
</cp:coreProperties>
</file>